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1.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charts/chart5.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e99302c5-83b7-c263-b257-5edcd9d75e10}">
          <p14:sldIdLst>
            <p14:sldId id="256"/>
            <p14:sldId id="257"/>
          </p14:sldIdLst>
        </p14:section>
        <p14:section name="Setup" id="{24c1d65a-6058-c906-c994-a1f3cb75a704}">
          <p14:sldIdLst>
            <p14:sldId id="258"/>
            <p14:sldId id="259"/>
            <p14:sldId id="260"/>
          </p14:sldIdLst>
        </p14:section>
        <p14:section name="Method" id="{60f0d943-ede9-f4df-c98b-2da620a29e14}">
          <p14:sldIdLst>
            <p14:sldId id="261"/>
            <p14:sldId id="262"/>
            <p14:sldId id="263"/>
            <p14:sldId id="264"/>
          </p14:sldIdLst>
        </p14:section>
        <p14:section name="Results" id="{0bf03d58-2f4e-0959-ae0d-0861e943884e}">
          <p14:sldIdLst>
            <p14:sldId id="265"/>
            <p14:sldId id="266"/>
            <p14:sldId id="267"/>
            <p14:sldId id="268"/>
            <p14:sldId id="269"/>
          </p14:sldIdLst>
        </p14:section>
        <p14:section name="Torque" id="{50cedef7-2009-68f4-ca30-86a00f7256f1}">
          <p14:sldIdLst>
            <p14:sldId id="270"/>
            <p14:sldId id="271"/>
            <p14:sldId id="272"/>
          </p14:sldIdLst>
        </p14:section>
        <p14:section name="Next" id="{2c492ff2-6e56-73e5-8fbc-dec0a3e9b4fa}">
          <p14:sldIdLst>
            <p14:sldId id="27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E2226"/>
                </a:solidFill>
                <a:latin typeface="+mn-lt"/>
              </a:defRPr>
            </a:pPr>
            <a:r>
              <a:rPr sz="1400" b="0" i="0" u="none" strike="noStrike">
                <a:solidFill>
                  <a:srgbClr val="1E2226"/>
                </a:solidFill>
                <a:latin typeface="+mn-lt"/>
              </a:rPr>
              <a:t>Success rate, MIT trajectory, one knob at a time (500 runs each)</a:t>
            </a:r>
          </a:p>
        </c:rich>
      </c:tx>
      <c:layout/>
      <c:overlay val="0"/>
    </c:title>
    <c:autoTitleDeleted val="0"/>
    <c:plotArea>
      <c:layout/>
      <c:barChart>
        <c:barDir val="col"/>
        <c:grouping val="clustered"/>
        <c:varyColors val="0"/>
        <c:ser>
          <c:idx val="0"/>
          <c:order val="0"/>
          <c:tx>
            <c:strRef>
              <c:f>Sheet1!$B$1</c:f>
              <c:strCache>
                <c:ptCount val="1"/>
                <c:pt idx="0">
                  <c:v>Success</c:v>
                </c:pt>
              </c:strCache>
            </c:strRef>
          </c:tx>
          <c:spPr>
            <a:solidFill>
              <a:srgbClr val="1B9E77"/>
            </a:solidFill>
            <a:effectLst/>
          </c:spPr>
          <c:invertIfNegative val="0"/>
          <c:dLbls>
            <c:numFmt formatCode="0.0&quot;%&quot;" sourceLinked="0"/>
            <c:txPr>
              <a:bodyPr/>
              <a:lstStyle/>
              <a:p>
                <a:pPr>
                  <a:defRPr b="0" i="0" strike="noStrike" sz="1100" u="none">
                    <a:solidFill>
                      <a:srgbClr val="3A4149"/>
                    </a:solidFill>
                    <a:latin typeface="+mn-lt"/>
                  </a:defRPr>
                </a:pPr>
              </a:p>
            </c:txPr>
            <c:showLegendKey val="0"/>
            <c:showVal val="1"/>
            <c:showCatName val="0"/>
            <c:showSerName val="0"/>
            <c:showPercent val="0"/>
            <c:showBubbleSize val="0"/>
            <c:showLeaderLines val="0"/>
          </c:dLbls>
          <c:dPt>
            <c:idx val="0"/>
            <c:invertIfNegative val="0"/>
            <c:bubble3D val="0"/>
            <c:spPr>
              <a:solidFill>
                <a:srgbClr val="1B9E77"/>
              </a:solidFill>
              <a:effectLst/>
            </c:spPr>
          </c:dPt>
          <c:dPt>
            <c:idx val="1"/>
            <c:invertIfNegative val="0"/>
            <c:bubble3D val="0"/>
            <c:spPr>
              <a:solidFill>
                <a:srgbClr val="1B9E77"/>
              </a:solidFill>
              <a:effectLst/>
            </c:spPr>
          </c:dPt>
          <c:dPt>
            <c:idx val="2"/>
            <c:invertIfNegative val="0"/>
            <c:bubble3D val="0"/>
            <c:spPr>
              <a:solidFill>
                <a:srgbClr val="1B9E77"/>
              </a:solidFill>
              <a:effectLst/>
            </c:spPr>
          </c:dPt>
          <c:dPt>
            <c:idx val="3"/>
            <c:invertIfNegative val="0"/>
            <c:bubble3D val="0"/>
            <c:spPr>
              <a:solidFill>
                <a:srgbClr val="1B9E77"/>
              </a:solidFill>
              <a:effectLst/>
            </c:spPr>
          </c:dPt>
          <c:dPt>
            <c:idx val="4"/>
            <c:invertIfNegative val="0"/>
            <c:bubble3D val="0"/>
            <c:spPr>
              <a:solidFill>
                <a:srgbClr val="1B9E77"/>
              </a:solidFill>
              <a:effectLst/>
            </c:spPr>
          </c:dPt>
          <c:dPt>
            <c:idx val="5"/>
            <c:invertIfNegative val="0"/>
            <c:bubble3D val="0"/>
            <c:spPr>
              <a:solidFill>
                <a:srgbClr val="1B9E77"/>
              </a:solidFill>
              <a:effectLst/>
            </c:spPr>
          </c:dPt>
          <c:dPt>
            <c:idx val="6"/>
            <c:invertIfNegative val="0"/>
            <c:bubble3D val="0"/>
            <c:spPr>
              <a:solidFill>
                <a:srgbClr val="D64545"/>
              </a:solidFill>
              <a:effectLst/>
            </c:spPr>
          </c:dPt>
          <c:cat>
            <c:multiLvlStrRef>
              <c:f>Sheet1!$A$2:$A$8</c:f>
              <c:multiLvlStrCache>
                <c:ptCount val="7"/>
                <c:lvl>
                  <c:pt idx="0">
                    <c:v>Nominal</c:v>
                  </c:pt>
                  <c:pt idx="1">
                    <c:v>Joint friction</c:v>
                  </c:pt>
                  <c:pt idx="2">
                    <c:v>Grav-comp ±20%</c:v>
                  </c:pt>
                  <c:pt idx="3">
                    <c:v>Latency 0–33 ms</c:v>
                  </c:pt>
                  <c:pt idx="4">
                    <c:v>Ball contact</c:v>
                  </c:pt>
                  <c:pt idx="5">
                    <c:v>Robot friction</c:v>
                  </c:pt>
                  <c:pt idx="6">
                    <c:v>Old slip model</c:v>
                  </c:pt>
                </c:lvl>
              </c:multiLvlStrCache>
            </c:multiLvlStrRef>
          </c:cat>
          <c:val>
            <c:numRef>
              <c:f>Sheet1!$B$2:$B$8</c:f>
              <c:numCache>
                <c:formatCode>General</c:formatCode>
                <c:ptCount val="7"/>
                <c:pt idx="0">
                  <c:v>96</c:v>
                </c:pt>
                <c:pt idx="1">
                  <c:v>94.8</c:v>
                </c:pt>
                <c:pt idx="2">
                  <c:v>96.8</c:v>
                </c:pt>
                <c:pt idx="3">
                  <c:v>95.4</c:v>
                </c:pt>
                <c:pt idx="4">
                  <c:v>94.8</c:v>
                </c:pt>
                <c:pt idx="5">
                  <c:v>95</c:v>
                </c:pt>
                <c:pt idx="6">
                  <c:v>43.8</c:v>
                </c:pt>
              </c:numCache>
            </c:numRef>
          </c:val>
        </c:ser>
        <c:dLbls>
          <c:numFmt formatCode="0.0&quot;%&quot;" sourceLinked="0"/>
          <c:txPr>
            <a:bodyPr/>
            <a:lstStyle/>
            <a:p>
              <a:pPr>
                <a:defRPr b="0" i="0" strike="noStrike" sz="1100" u="none">
                  <a:solidFill>
                    <a:srgbClr val="3A4149"/>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3A4149"/>
                </a:solidFill>
                <a:latin typeface="+mn-lt"/>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9525" cap="flat">
              <a:solidFill>
                <a:srgbClr val="E3E6E8"/>
              </a:solidFill>
              <a:prstDash val="solid"/>
              <a:round/>
            </a:ln>
          </c:spPr>
        </c:majorGridlines>
        <c:numFmt formatCode="0&quot;%&quot;"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8A939C"/>
                </a:solidFill>
                <a:latin typeface="+mn-lt"/>
              </a:defRPr>
            </a:pPr>
            <a:endParaRPr lang="en-US"/>
          </a:p>
        </c:txPr>
        <c:crossAx val="2094734554"/>
        <c:crosses val="autoZero"/>
        <c:crossBetween val="between"/>
        <c:majorUnit val="25"/>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E2226"/>
                </a:solidFill>
                <a:latin typeface="+mn-lt"/>
              </a:defRPr>
            </a:pPr>
            <a:r>
              <a:rPr sz="1400" b="0" i="0" u="none" strike="noStrike">
                <a:solidFill>
                  <a:srgbClr val="1E2226"/>
                </a:solidFill>
                <a:latin typeface="+mn-lt"/>
              </a:rPr>
              <a:t>Lateral offset</a:t>
            </a:r>
          </a:p>
        </c:rich>
      </c:tx>
      <c:layout/>
      <c:overlay val="0"/>
    </c:title>
    <c:autoTitleDeleted val="0"/>
    <c:plotArea>
      <c:layout/>
      <c:barChart>
        <c:barDir val="col"/>
        <c:grouping val="clustered"/>
        <c:varyColors val="0"/>
        <c:ser>
          <c:idx val="0"/>
          <c:order val="0"/>
          <c:tx>
            <c:strRef>
              <c:f>Sheet1!$B$1</c:f>
              <c:strCache>
                <c:ptCount val="1"/>
                <c:pt idx="0">
                  <c:v>Lateral offset</c:v>
                </c:pt>
              </c:strCache>
            </c:strRef>
          </c:tx>
          <c:spPr>
            <a:solidFill>
              <a:srgbClr val="1B9E77"/>
            </a:solidFill>
            <a:effectLst/>
          </c:spPr>
          <c:invertIfNegative val="0"/>
          <c:dLbls>
            <c:numFmt formatCode="0&quot;%&quot;" sourceLinked="0"/>
            <c:txPr>
              <a:bodyPr/>
              <a:lstStyle/>
              <a:p>
                <a:pPr>
                  <a:defRPr b="0" i="0" strike="noStrike" sz="1100" u="none">
                    <a:solidFill>
                      <a:srgbClr val="3A4149"/>
                    </a:solidFill>
                    <a:latin typeface="+mn-lt"/>
                  </a:defRPr>
                </a:pPr>
              </a:p>
            </c:txPr>
            <c:showLegendKey val="0"/>
            <c:showVal val="1"/>
            <c:showCatName val="0"/>
            <c:showSerName val="0"/>
            <c:showPercent val="0"/>
            <c:showBubbleSize val="0"/>
            <c:showLeaderLines val="0"/>
          </c:dLbls>
          <c:dPt>
            <c:idx val="0"/>
            <c:invertIfNegative val="0"/>
            <c:bubble3D val="0"/>
            <c:spPr>
              <a:solidFill>
                <a:srgbClr val="1B9E77"/>
              </a:solidFill>
              <a:effectLst/>
            </c:spPr>
          </c:dPt>
          <c:dPt>
            <c:idx val="1"/>
            <c:invertIfNegative val="0"/>
            <c:bubble3D val="0"/>
            <c:spPr>
              <a:solidFill>
                <a:srgbClr val="D64545"/>
              </a:solidFill>
              <a:effectLst/>
            </c:spPr>
          </c:dPt>
          <c:dPt>
            <c:idx val="2"/>
            <c:invertIfNegative val="0"/>
            <c:bubble3D val="0"/>
            <c:spPr>
              <a:solidFill>
                <a:srgbClr val="D64545"/>
              </a:solidFill>
              <a:effectLst/>
            </c:spPr>
          </c:dPt>
          <c:cat>
            <c:multiLvlStrRef>
              <c:f>Sheet1!$A$2:$A$4</c:f>
              <c:multiLvlStrCache>
                <c:ptCount val="3"/>
                <c:lvl>
                  <c:pt idx="0">
                    <c:v>±2 cm</c:v>
                  </c:pt>
                  <c:pt idx="1">
                    <c:v>±3 cm</c:v>
                  </c:pt>
                  <c:pt idx="2">
                    <c:v>±4 cm</c:v>
                  </c:pt>
                </c:lvl>
              </c:multiLvlStrCache>
            </c:multiLvlStrRef>
          </c:cat>
          <c:val>
            <c:numRef>
              <c:f>Sheet1!$B$2:$B$4</c:f>
              <c:numCache>
                <c:formatCode>General</c:formatCode>
                <c:ptCount val="3"/>
                <c:pt idx="0">
                  <c:v>96.5</c:v>
                </c:pt>
                <c:pt idx="1">
                  <c:v>45</c:v>
                </c:pt>
                <c:pt idx="2">
                  <c:v>0</c:v>
                </c:pt>
              </c:numCache>
            </c:numRef>
          </c:val>
        </c:ser>
        <c:dLbls>
          <c:numFmt formatCode="0&quot;%&quot;" sourceLinked="0"/>
          <c:txPr>
            <a:bodyPr/>
            <a:lstStyle/>
            <a:p>
              <a:pPr>
                <a:defRPr b="0" i="0" strike="noStrike" sz="1100" u="none">
                  <a:solidFill>
                    <a:srgbClr val="3A4149"/>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3A4149"/>
                </a:solidFill>
                <a:latin typeface="+mn-lt"/>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9525" cap="flat">
              <a:solidFill>
                <a:srgbClr val="E3E6E8"/>
              </a:solidFill>
              <a:prstDash val="solid"/>
              <a:round/>
            </a:ln>
          </c:spPr>
        </c:majorGridlines>
        <c:numFmt formatCode="0&quot;%&quot;"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8A939C"/>
                </a:solidFill>
                <a:latin typeface="+mn-lt"/>
              </a:defRPr>
            </a:pPr>
            <a:endParaRPr lang="en-US"/>
          </a:p>
        </c:txPr>
        <c:crossAx val="2094734554"/>
        <c:crosses val="autoZero"/>
        <c:crossBetween val="between"/>
        <c:majorUnit val="25"/>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E2226"/>
                </a:solidFill>
                <a:latin typeface="+mn-lt"/>
              </a:defRPr>
            </a:pPr>
            <a:r>
              <a:rPr sz="1400" b="0" i="0" u="none" strike="noStrike">
                <a:solidFill>
                  <a:srgbClr val="1E2226"/>
                </a:solidFill>
                <a:latin typeface="+mn-lt"/>
              </a:rPr>
              <a:t>Heading error</a:t>
            </a:r>
          </a:p>
        </c:rich>
      </c:tx>
      <c:layout/>
      <c:overlay val="0"/>
    </c:title>
    <c:autoTitleDeleted val="0"/>
    <c:plotArea>
      <c:layout/>
      <c:barChart>
        <c:barDir val="col"/>
        <c:grouping val="clustered"/>
        <c:varyColors val="0"/>
        <c:ser>
          <c:idx val="0"/>
          <c:order val="0"/>
          <c:tx>
            <c:strRef>
              <c:f>Sheet1!$B$1</c:f>
              <c:strCache>
                <c:ptCount val="1"/>
                <c:pt idx="0">
                  <c:v>Heading error</c:v>
                </c:pt>
              </c:strCache>
            </c:strRef>
          </c:tx>
          <c:spPr>
            <a:solidFill>
              <a:srgbClr val="1B9E77"/>
            </a:solidFill>
            <a:effectLst/>
          </c:spPr>
          <c:invertIfNegative val="0"/>
          <c:dLbls>
            <c:numFmt formatCode="0&quot;%&quot;" sourceLinked="0"/>
            <c:txPr>
              <a:bodyPr/>
              <a:lstStyle/>
              <a:p>
                <a:pPr>
                  <a:defRPr b="0" i="0" strike="noStrike" sz="1100" u="none">
                    <a:solidFill>
                      <a:srgbClr val="3A4149"/>
                    </a:solidFill>
                    <a:latin typeface="+mn-lt"/>
                  </a:defRPr>
                </a:pPr>
              </a:p>
            </c:txPr>
            <c:showLegendKey val="0"/>
            <c:showVal val="1"/>
            <c:showCatName val="0"/>
            <c:showSerName val="0"/>
            <c:showPercent val="0"/>
            <c:showBubbleSize val="0"/>
            <c:showLeaderLines val="0"/>
          </c:dLbls>
          <c:dPt>
            <c:idx val="0"/>
            <c:invertIfNegative val="0"/>
            <c:bubble3D val="0"/>
            <c:spPr>
              <a:solidFill>
                <a:srgbClr val="1B9E77"/>
              </a:solidFill>
              <a:effectLst/>
            </c:spPr>
          </c:dPt>
          <c:dPt>
            <c:idx val="1"/>
            <c:invertIfNegative val="0"/>
            <c:bubble3D val="0"/>
            <c:spPr>
              <a:solidFill>
                <a:srgbClr val="E6B800"/>
              </a:solidFill>
              <a:effectLst/>
            </c:spPr>
          </c:dPt>
          <c:dPt>
            <c:idx val="2"/>
            <c:invertIfNegative val="0"/>
            <c:bubble3D val="0"/>
            <c:spPr>
              <a:solidFill>
                <a:srgbClr val="D64545"/>
              </a:solidFill>
              <a:effectLst/>
            </c:spPr>
          </c:dPt>
          <c:cat>
            <c:multiLvlStrRef>
              <c:f>Sheet1!$A$2:$A$4</c:f>
              <c:multiLvlStrCache>
                <c:ptCount val="3"/>
                <c:lvl>
                  <c:pt idx="0">
                    <c:v>±1°</c:v>
                  </c:pt>
                  <c:pt idx="1">
                    <c:v>±1.5°</c:v>
                  </c:pt>
                  <c:pt idx="2">
                    <c:v>±2°</c:v>
                  </c:pt>
                </c:lvl>
              </c:multiLvlStrCache>
            </c:multiLvlStrRef>
          </c:cat>
          <c:val>
            <c:numRef>
              <c:f>Sheet1!$B$2:$B$4</c:f>
              <c:numCache>
                <c:formatCode>General</c:formatCode>
                <c:ptCount val="3"/>
                <c:pt idx="0">
                  <c:v>96.5</c:v>
                </c:pt>
                <c:pt idx="1">
                  <c:v>82</c:v>
                </c:pt>
                <c:pt idx="2">
                  <c:v>0</c:v>
                </c:pt>
              </c:numCache>
            </c:numRef>
          </c:val>
        </c:ser>
        <c:dLbls>
          <c:numFmt formatCode="0&quot;%&quot;" sourceLinked="0"/>
          <c:txPr>
            <a:bodyPr/>
            <a:lstStyle/>
            <a:p>
              <a:pPr>
                <a:defRPr b="0" i="0" strike="noStrike" sz="1100" u="none">
                  <a:solidFill>
                    <a:srgbClr val="3A4149"/>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3A4149"/>
                </a:solidFill>
                <a:latin typeface="+mn-lt"/>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9525" cap="flat">
              <a:solidFill>
                <a:srgbClr val="E3E6E8"/>
              </a:solidFill>
              <a:prstDash val="solid"/>
              <a:round/>
            </a:ln>
          </c:spPr>
        </c:majorGridlines>
        <c:numFmt formatCode="0&quot;%&quot;"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8A939C"/>
                </a:solidFill>
                <a:latin typeface="+mn-lt"/>
              </a:defRPr>
            </a:pPr>
            <a:endParaRPr lang="en-US"/>
          </a:p>
        </c:txPr>
        <c:crossAx val="2094734554"/>
        <c:crosses val="autoZero"/>
        <c:crossBetween val="between"/>
        <c:majorUnit val="25"/>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E2226"/>
                </a:solidFill>
                <a:latin typeface="+mn-lt"/>
              </a:defRPr>
            </a:pPr>
            <a:r>
              <a:rPr sz="1400" b="0" i="0" u="none" strike="noStrike">
                <a:solidFill>
                  <a:srgbClr val="1E2226"/>
                </a:solidFill>
                <a:latin typeface="+mn-lt"/>
              </a:rPr>
              <a:t>Ball distance</a:t>
            </a:r>
          </a:p>
        </c:rich>
      </c:tx>
      <c:layout/>
      <c:overlay val="0"/>
    </c:title>
    <c:autoTitleDeleted val="0"/>
    <c:plotArea>
      <c:layout/>
      <c:barChart>
        <c:barDir val="col"/>
        <c:grouping val="clustered"/>
        <c:varyColors val="0"/>
        <c:ser>
          <c:idx val="0"/>
          <c:order val="0"/>
          <c:tx>
            <c:strRef>
              <c:f>Sheet1!$B$1</c:f>
              <c:strCache>
                <c:ptCount val="1"/>
                <c:pt idx="0">
                  <c:v>Ball distance</c:v>
                </c:pt>
              </c:strCache>
            </c:strRef>
          </c:tx>
          <c:spPr>
            <a:solidFill>
              <a:srgbClr val="1B9E77"/>
            </a:solidFill>
            <a:effectLst/>
          </c:spPr>
          <c:invertIfNegative val="0"/>
          <c:dLbls>
            <c:numFmt formatCode="0&quot;%&quot;" sourceLinked="0"/>
            <c:txPr>
              <a:bodyPr/>
              <a:lstStyle/>
              <a:p>
                <a:pPr>
                  <a:defRPr b="0" i="0" strike="noStrike" sz="1100" u="none">
                    <a:solidFill>
                      <a:srgbClr val="3A4149"/>
                    </a:solidFill>
                    <a:latin typeface="+mn-lt"/>
                  </a:defRPr>
                </a:pPr>
              </a:p>
            </c:txPr>
            <c:showLegendKey val="0"/>
            <c:showVal val="1"/>
            <c:showCatName val="0"/>
            <c:showSerName val="0"/>
            <c:showPercent val="0"/>
            <c:showBubbleSize val="0"/>
            <c:showLeaderLines val="0"/>
          </c:dLbls>
          <c:dPt>
            <c:idx val="0"/>
            <c:invertIfNegative val="0"/>
            <c:bubble3D val="0"/>
            <c:spPr>
              <a:solidFill>
                <a:srgbClr val="1B9E77"/>
              </a:solidFill>
              <a:effectLst/>
            </c:spPr>
          </c:dPt>
          <c:dPt>
            <c:idx val="1"/>
            <c:invertIfNegative val="0"/>
            <c:bubble3D val="0"/>
            <c:spPr>
              <a:solidFill>
                <a:srgbClr val="1B9E77"/>
              </a:solidFill>
              <a:effectLst/>
            </c:spPr>
          </c:dPt>
          <c:dPt>
            <c:idx val="2"/>
            <c:invertIfNegative val="0"/>
            <c:bubble3D val="0"/>
            <c:spPr>
              <a:solidFill>
                <a:srgbClr val="D64545"/>
              </a:solidFill>
              <a:effectLst/>
            </c:spPr>
          </c:dPt>
          <c:cat>
            <c:multiLvlStrRef>
              <c:f>Sheet1!$A$2:$A$4</c:f>
              <c:multiLvlStrCache>
                <c:ptCount val="3"/>
                <c:lvl>
                  <c:pt idx="0">
                    <c:v>15 cm closer</c:v>
                  </c:pt>
                  <c:pt idx="1">
                    <c:v>5 cm farther</c:v>
                  </c:pt>
                  <c:pt idx="2">
                    <c:v>10 cm farther</c:v>
                  </c:pt>
                </c:lvl>
              </c:multiLvlStrCache>
            </c:multiLvlStrRef>
          </c:cat>
          <c:val>
            <c:numRef>
              <c:f>Sheet1!$B$2:$B$4</c:f>
              <c:numCache>
                <c:formatCode>General</c:formatCode>
                <c:ptCount val="3"/>
                <c:pt idx="0">
                  <c:v>95</c:v>
                </c:pt>
                <c:pt idx="1">
                  <c:v>92.5</c:v>
                </c:pt>
                <c:pt idx="2">
                  <c:v>35</c:v>
                </c:pt>
              </c:numCache>
            </c:numRef>
          </c:val>
        </c:ser>
        <c:dLbls>
          <c:numFmt formatCode="0&quot;%&quot;" sourceLinked="0"/>
          <c:txPr>
            <a:bodyPr/>
            <a:lstStyle/>
            <a:p>
              <a:pPr>
                <a:defRPr b="0" i="0" strike="noStrike" sz="1100" u="none">
                  <a:solidFill>
                    <a:srgbClr val="3A4149"/>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3A4149"/>
                </a:solidFill>
                <a:latin typeface="+mn-lt"/>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9525" cap="flat">
              <a:solidFill>
                <a:srgbClr val="E3E6E8"/>
              </a:solidFill>
              <a:prstDash val="solid"/>
              <a:round/>
            </a:ln>
          </c:spPr>
        </c:majorGridlines>
        <c:numFmt formatCode="0&quot;%&quot;"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8A939C"/>
                </a:solidFill>
                <a:latin typeface="+mn-lt"/>
              </a:defRPr>
            </a:pPr>
            <a:endParaRPr lang="en-US"/>
          </a:p>
        </c:txPr>
        <c:crossAx val="2094734554"/>
        <c:crosses val="autoZero"/>
        <c:crossBetween val="between"/>
        <c:majorUnit val="25"/>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E2226"/>
                </a:solidFill>
                <a:latin typeface="+mn-lt"/>
              </a:defRPr>
            </a:pPr>
            <a:r>
              <a:rPr sz="1400" b="0" i="0" u="none" strike="noStrike">
                <a:solidFill>
                  <a:srgbClr val="1E2226"/>
                </a:solidFill>
                <a:latin typeface="+mn-lt"/>
              </a:rPr>
              <a:t>Random floor roll/pitch (300 runs each)</a:t>
            </a:r>
          </a:p>
        </c:rich>
      </c:tx>
      <c:layout/>
      <c:overlay val="0"/>
    </c:title>
    <c:autoTitleDeleted val="0"/>
    <c:plotArea>
      <c:layout/>
      <c:barChart>
        <c:barDir val="col"/>
        <c:grouping val="clustered"/>
        <c:varyColors val="0"/>
        <c:ser>
          <c:idx val="0"/>
          <c:order val="0"/>
          <c:tx>
            <c:strRef>
              <c:f>Sheet1!$B$1</c:f>
              <c:strCache>
                <c:ptCount val="1"/>
                <c:pt idx="0">
                  <c:v>Tilt</c:v>
                </c:pt>
              </c:strCache>
            </c:strRef>
          </c:tx>
          <c:spPr>
            <a:solidFill>
              <a:srgbClr val="1B9E77"/>
            </a:solidFill>
            <a:effectLst/>
          </c:spPr>
          <c:invertIfNegative val="0"/>
          <c:dLbls>
            <c:numFmt formatCode="0.0&quot;%&quot;" sourceLinked="0"/>
            <c:txPr>
              <a:bodyPr/>
              <a:lstStyle/>
              <a:p>
                <a:pPr>
                  <a:defRPr b="0" i="0" strike="noStrike" sz="1100" u="none">
                    <a:solidFill>
                      <a:srgbClr val="3A4149"/>
                    </a:solidFill>
                    <a:latin typeface="+mn-lt"/>
                  </a:defRPr>
                </a:pPr>
              </a:p>
            </c:txPr>
            <c:showLegendKey val="0"/>
            <c:showVal val="1"/>
            <c:showCatName val="0"/>
            <c:showSerName val="0"/>
            <c:showPercent val="0"/>
            <c:showBubbleSize val="0"/>
            <c:showLeaderLines val="0"/>
          </c:dLbls>
          <c:dPt>
            <c:idx val="0"/>
            <c:invertIfNegative val="0"/>
            <c:bubble3D val="0"/>
            <c:spPr>
              <a:solidFill>
                <a:srgbClr val="1B9E77"/>
              </a:solidFill>
              <a:effectLst/>
            </c:spPr>
          </c:dPt>
          <c:dPt>
            <c:idx val="1"/>
            <c:invertIfNegative val="0"/>
            <c:bubble3D val="0"/>
            <c:spPr>
              <a:solidFill>
                <a:srgbClr val="1B9E77"/>
              </a:solidFill>
              <a:effectLst/>
            </c:spPr>
          </c:dPt>
          <c:dPt>
            <c:idx val="2"/>
            <c:invertIfNegative val="0"/>
            <c:bubble3D val="0"/>
            <c:spPr>
              <a:solidFill>
                <a:srgbClr val="D64545"/>
              </a:solidFill>
              <a:effectLst/>
            </c:spPr>
          </c:dPt>
          <c:cat>
            <c:multiLvlStrRef>
              <c:f>Sheet1!$A$2:$A$4</c:f>
              <c:multiLvlStrCache>
                <c:ptCount val="3"/>
                <c:lvl>
                  <c:pt idx="0">
                    <c:v>±0.2°</c:v>
                  </c:pt>
                  <c:pt idx="1">
                    <c:v>±0.3°</c:v>
                  </c:pt>
                  <c:pt idx="2">
                    <c:v>±1°</c:v>
                  </c:pt>
                </c:lvl>
              </c:multiLvlStrCache>
            </c:multiLvlStrRef>
          </c:cat>
          <c:val>
            <c:numRef>
              <c:f>Sheet1!$B$2:$B$4</c:f>
              <c:numCache>
                <c:formatCode>General</c:formatCode>
                <c:ptCount val="3"/>
                <c:pt idx="0">
                  <c:v>99.3</c:v>
                </c:pt>
                <c:pt idx="1">
                  <c:v>94</c:v>
                </c:pt>
                <c:pt idx="2">
                  <c:v>61.3</c:v>
                </c:pt>
              </c:numCache>
            </c:numRef>
          </c:val>
        </c:ser>
        <c:dLbls>
          <c:numFmt formatCode="0.0&quot;%&quot;" sourceLinked="0"/>
          <c:txPr>
            <a:bodyPr/>
            <a:lstStyle/>
            <a:p>
              <a:pPr>
                <a:defRPr b="0" i="0" strike="noStrike" sz="1100" u="none">
                  <a:solidFill>
                    <a:srgbClr val="3A4149"/>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3A4149"/>
                </a:solidFill>
                <a:latin typeface="+mn-lt"/>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9525" cap="flat">
              <a:solidFill>
                <a:srgbClr val="E3E6E8"/>
              </a:solidFill>
              <a:prstDash val="solid"/>
              <a:round/>
            </a:ln>
          </c:spPr>
        </c:majorGridlines>
        <c:numFmt formatCode="0&quot;%&quot;"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8A939C"/>
                </a:solidFill>
                <a:latin typeface="+mn-lt"/>
              </a:defRPr>
            </a:pPr>
            <a:endParaRPr lang="en-US"/>
          </a:p>
        </c:txPr>
        <c:crossAx val="2094734554"/>
        <c:crosses val="autoZero"/>
        <c:crossBetween val="between"/>
        <c:majorUnit val="25"/>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Goal: a RoboMaster base with a 2-DOF arm holding a lacrosse stick drives to a ball and scoops it into the pocket. All results are from Isaac Lab simulation, with the robot model built from measured real-robot numbers. Video thumbnails in this deck link to the clips on Google Drive.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headline numbers. 98.3% is the latest 400-robot run at 1200 Hz with random ball placement. 300/300 is with every realistic-uncertainty knob on. The red number is the open problem: the robot must be lined up within about 2 cm and 1 degree.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Masses, link lengths and motor parameters come from the real robot. With Kd fixed at 3, Kp 10 / 25 gives a damping ratio of about 1.2. Gravity compensation is fed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Click any thumbnail to open the clip on Google Drive.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RSL-RL PPO with up to 8192 parallel environments. Both the reward and the simulator had exploitable holes. The pivot: hand-design the motion, search its few parameters, keep RL for residual corrections.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Executed open loop: velocity command for the base; position + velocity targets and torque feed-forward for the arm motors. Scripts: traj_grid*.py for search, traj_validate*.py and traj_robust.py for validation.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trajectory was first found with no randomness at all. Then each source of uncertainty was added one at a time to see what it costs. The only one that broke it was base slip, so we asked for measured base numbers, re-ran the grid search with everything on, and got the robust trajectory. That trajectory then held on the wheel-driven base, with random ball placement, small floor tilts and ball variation.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kinds of gaps. Red: real effects that the open-loop scoop cannot handle; these motivate closed-loop control. Yellow: effects PhysX does not model well, so results would be artifacts. Grey: not modeled yet; torque sensing is the one we need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camera for all four clips, 4× slow motion.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Close-ups at 1200 Hz physics, 5× slow motion. Mode A is a timing problem caused by the ball being a little farther than planned; mode B is a containment problem after a successful pick-up.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best_run_wheels/trajectory_record.npz. The torque includes the PD response to the stick being pushed by the ball. This is one run, recorded at the control rate, so the true peak may be higher and shorter.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Torque feedback is a good idea for one specific kind of base error: where along the path the ball is met, which covers ball distance and speed errors. It does not tell the robot about sideways or heading error, which is the biggest current limit; that needs vision before contact. A simple threshold trigger should be tried before learning, because it is easy to test on hardware and it gives a baseline for any learned policy.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the peak is clearly visible, the next sim step is the contact-triggered lift with a torque-noise model taken from these logs. If it is buried in noise, we look at filtering, higher Kp during the approach, or a different contact signal (e.g. velocity error).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Item 1 starts next week with the torque measurement. Items 1 and 2 address the two failure types we see in sim (timing and aim). Residual RL is only needed if simple rules are not enough.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_TITLE">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011680"/>
            <a:ext cx="6766560" cy="164592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3" name="Text 0"/>
          <p:cNvSpPr/>
          <p:nvPr>
            <p:ph idx="101" type="body" hasCustomPrompt="1"/>
          </p:nvPr>
        </p:nvSpPr>
        <p:spPr>
          <a:xfrm>
            <a:off x="548640" y="3840480"/>
            <a:ext cx="6400800" cy="1280160"/>
          </a:xfrm>
          <a:prstGeom prst="rect">
            <a:avLst/>
          </a:prstGeom>
          <a:noFill/>
          <a:ln/>
        </p:spPr>
        <p:txBody>
          <a:bodyPr wrap="square" rtlCol="0"/>
          <a:lstStyle>
            <a:lvl1pPr indent="0" marL="0">
              <a:buNone/>
              <a:defRPr lang="en-US" sz="1800" dirty="0">
                <a:solidFill>
                  <a:schemeClr val="accent1"/>
                </a:solidFill>
              </a:defRPr>
            </a:lvl1pPr>
          </a:lstStyle>
          <a:p>
            <a:pPr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31520"/>
          </a:xfrm>
          <a:prstGeom prst="rect">
            <a:avLst/>
          </a:prstGeom>
          <a:noFill/>
          <a:ln/>
        </p:spPr>
        <p:txBody>
          <a:bodyPr wrap="square" rtlCol="0"/>
          <a:lstStyle>
            <a:lvl1pPr algn="l" indent="0" marL="0">
              <a:buNone/>
              <a:defRPr lang="en-US" sz="3000" b="1" dirty="0">
                <a:solidFill>
                  <a:schemeClr val="tx1"/>
                </a:solidFill>
              </a:defRPr>
            </a:lvl1pPr>
          </a:lstStyle>
          <a:p>
            <a:pPr algn="l" indent="0" marL="0">
              <a:buNone/>
            </a:pPr>
            <a:endParaRPr lang="en-US" sz="3000" dirty="0"/>
          </a:p>
        </p:txBody>
      </p:sp>
      <p:sp>
        <p:nvSpPr>
          <p:cNvPr id="25" name="Slide Number Placeholder 0"/>
          <p:cNvSpPr>
            <a:spLocks noGrp="1"/>
          </p:cNvSpPr>
          <p:nvPr>
            <p:ph type="sldNum" sz="quarter" idx="4294967295"/>
          </p:nvPr>
        </p:nvSpPr>
        <p:spPr>
          <a:xfrm>
            <a:off x="1136873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_CONTENT">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31520"/>
          </a:xfrm>
          <a:prstGeom prst="rect">
            <a:avLst/>
          </a:prstGeom>
          <a:noFill/>
          <a:ln/>
        </p:spPr>
        <p:txBody>
          <a:bodyPr wrap="square" rtlCol="0"/>
          <a:lstStyle>
            <a:lvl1pPr algn="l" indent="0" marL="0">
              <a:buNone/>
              <a:defRPr lang="en-US" sz="3000" b="1" dirty="0">
                <a:solidFill>
                  <a:schemeClr val="bg1"/>
                </a:solidFill>
              </a:defRPr>
            </a:lvl1pPr>
          </a:lstStyle>
          <a:p>
            <a:pPr algn="l" indent="0" marL="0">
              <a:buNone/>
            </a:pPr>
            <a:endParaRPr lang="en-US" sz="3000" dirty="0"/>
          </a:p>
        </p:txBody>
      </p:sp>
      <p:sp>
        <p:nvSpPr>
          <p:cNvPr id="25" name="Slide Number Placeholder 0"/>
          <p:cNvSpPr>
            <a:spLocks noGrp="1"/>
          </p:cNvSpPr>
          <p:nvPr>
            <p:ph type="sldNum" sz="quarter" idx="4294967295"/>
          </p:nvPr>
        </p:nvSpPr>
        <p:spPr>
          <a:xfrm>
            <a:off x="1136873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6873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drive.google.com/file/d/12sNAQ2xveHqTJuAren_WJPhYGlNTWUvg/view" TargetMode="External"/><Relationship Id="rId3" Type="http://schemas.openxmlformats.org/officeDocument/2006/relationships/hyperlink" Target="https://drive.google.com/file/d/12sNAQ2xveHqTJuAren_WJPhYGlNTWUvg/view" TargetMode="External"/><Relationship Id="rId4" Type="http://schemas.openxmlformats.org/officeDocument/2006/relationships/hyperlink" Target="https://drive.google.com/file/d/12sNAQ2xveHqTJuAren_WJPhYGlNTWUvg/view" TargetMode="External"/><Relationship Id="rId1" Type="http://schemas.openxmlformats.org/officeDocument/2006/relationships/image" Target="../media/image-1-1.jpg"/><Relationship Id="rId5" Type="http://schemas.openxmlformats.org/officeDocument/2006/relationships/slideLayout" Target="../slideLayouts/slideLayout2.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2" Type="http://schemas.openxmlformats.org/officeDocument/2006/relationships/hyperlink" Target="https://drive.google.com/file/d/1nnuDjdcnQm-ymUi_4om86jDEgRPoL0GC/view" TargetMode="External"/><Relationship Id="rId3" Type="http://schemas.openxmlformats.org/officeDocument/2006/relationships/hyperlink" Target="https://drive.google.com/file/d/1nnuDjdcnQm-ymUi_4om86jDEgRPoL0GC/view" TargetMode="External"/><Relationship Id="rId4" Type="http://schemas.openxmlformats.org/officeDocument/2006/relationships/hyperlink" Target="https://drive.google.com/file/d/1nnuDjdcnQm-ymUi_4om86jDEgRPoL0GC/view" TargetMode="External"/><Relationship Id="rId6" Type="http://schemas.openxmlformats.org/officeDocument/2006/relationships/hyperlink" Target="https://drive.google.com/file/d/12sNAQ2xveHqTJuAren_WJPhYGlNTWUvg/view" TargetMode="External"/><Relationship Id="rId7" Type="http://schemas.openxmlformats.org/officeDocument/2006/relationships/hyperlink" Target="https://drive.google.com/file/d/12sNAQ2xveHqTJuAren_WJPhYGlNTWUvg/view" TargetMode="External"/><Relationship Id="rId8" Type="http://schemas.openxmlformats.org/officeDocument/2006/relationships/hyperlink" Target="https://drive.google.com/file/d/12sNAQ2xveHqTJuAren_WJPhYGlNTWUvg/view" TargetMode="External"/><Relationship Id="rId10" Type="http://schemas.openxmlformats.org/officeDocument/2006/relationships/hyperlink" Target="https://drive.google.com/file/d/1NgbJZzkJhD1M7mUVJDYJpu8h-KUftdsk/view" TargetMode="External"/><Relationship Id="rId11" Type="http://schemas.openxmlformats.org/officeDocument/2006/relationships/hyperlink" Target="https://drive.google.com/file/d/1NgbJZzkJhD1M7mUVJDYJpu8h-KUftdsk/view" TargetMode="External"/><Relationship Id="rId12" Type="http://schemas.openxmlformats.org/officeDocument/2006/relationships/hyperlink" Target="https://drive.google.com/file/d/1NgbJZzkJhD1M7mUVJDYJpu8h-KUftdsk/view" TargetMode="External"/><Relationship Id="rId1" Type="http://schemas.openxmlformats.org/officeDocument/2006/relationships/image" Target="../media/image-4-1.jpg"/><Relationship Id="rId5" Type="http://schemas.openxmlformats.org/officeDocument/2006/relationships/image" Target="../media/image-4-2.jpg"/><Relationship Id="rId9" Type="http://schemas.openxmlformats.org/officeDocument/2006/relationships/image" Target="../media/image-4-3.jpg"/><Relationship Id="rId13" Type="http://schemas.openxmlformats.org/officeDocument/2006/relationships/slideLayout" Target="../slideLayouts/slideLayout3.xml"/><Relationship Id="rId1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2" Type="http://schemas.openxmlformats.org/officeDocument/2006/relationships/hyperlink" Target="https://drive.google.com/file/d/1xhfpELhpfFlxTib5pG9LfRlUh9oKiWej/view" TargetMode="External"/><Relationship Id="rId3" Type="http://schemas.openxmlformats.org/officeDocument/2006/relationships/hyperlink" Target="https://drive.google.com/file/d/1xhfpELhpfFlxTib5pG9LfRlUh9oKiWej/view" TargetMode="External"/><Relationship Id="rId4" Type="http://schemas.openxmlformats.org/officeDocument/2006/relationships/hyperlink" Target="https://drive.google.com/file/d/1xhfpELhpfFlxTib5pG9LfRlUh9oKiWej/view" TargetMode="External"/><Relationship Id="rId6" Type="http://schemas.openxmlformats.org/officeDocument/2006/relationships/hyperlink" Target="https://drive.google.com/file/d/15QK0mNosWGjgEUef_1VazLuUDYW37qjI/view" TargetMode="External"/><Relationship Id="rId7" Type="http://schemas.openxmlformats.org/officeDocument/2006/relationships/hyperlink" Target="https://drive.google.com/file/d/15QK0mNosWGjgEUef_1VazLuUDYW37qjI/view" TargetMode="External"/><Relationship Id="rId8" Type="http://schemas.openxmlformats.org/officeDocument/2006/relationships/hyperlink" Target="https://drive.google.com/file/d/15QK0mNosWGjgEUef_1VazLuUDYW37qjI/view" TargetMode="External"/><Relationship Id="rId10" Type="http://schemas.openxmlformats.org/officeDocument/2006/relationships/hyperlink" Target="https://drive.google.com/file/d/1jJjzOMlA-FxmxqFoXGfjiv9DuxCy-_-p/view" TargetMode="External"/><Relationship Id="rId11" Type="http://schemas.openxmlformats.org/officeDocument/2006/relationships/hyperlink" Target="https://drive.google.com/file/d/1jJjzOMlA-FxmxqFoXGfjiv9DuxCy-_-p/view" TargetMode="External"/><Relationship Id="rId12" Type="http://schemas.openxmlformats.org/officeDocument/2006/relationships/hyperlink" Target="https://drive.google.com/file/d/1jJjzOMlA-FxmxqFoXGfjiv9DuxCy-_-p/view" TargetMode="External"/><Relationship Id="rId14" Type="http://schemas.openxmlformats.org/officeDocument/2006/relationships/hyperlink" Target="https://drive.google.com/file/d/12sNAQ2xveHqTJuAren_WJPhYGlNTWUvg/view" TargetMode="External"/><Relationship Id="rId15" Type="http://schemas.openxmlformats.org/officeDocument/2006/relationships/hyperlink" Target="https://drive.google.com/file/d/12sNAQ2xveHqTJuAren_WJPhYGlNTWUvg/view" TargetMode="External"/><Relationship Id="rId16" Type="http://schemas.openxmlformats.org/officeDocument/2006/relationships/hyperlink" Target="https://drive.google.com/file/d/12sNAQ2xveHqTJuAren_WJPhYGlNTWUvg/view" TargetMode="External"/><Relationship Id="rId1" Type="http://schemas.openxmlformats.org/officeDocument/2006/relationships/image" Target="../media/image-9-1.jpg"/><Relationship Id="rId5" Type="http://schemas.openxmlformats.org/officeDocument/2006/relationships/image" Target="../media/image-9-2.jpg"/><Relationship Id="rId9" Type="http://schemas.openxmlformats.org/officeDocument/2006/relationships/image" Target="../media/image-9-3.jpg"/><Relationship Id="rId13" Type="http://schemas.openxmlformats.org/officeDocument/2006/relationships/image" Target="../media/image-9-4.jpg"/><Relationship Id="rId17" Type="http://schemas.openxmlformats.org/officeDocument/2006/relationships/slideLayout" Target="../slideLayouts/slideLayout3.xml"/><Relationship Id="rId1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chart" Target="/ppt/charts/chart3.xml"/><Relationship Id="rId3" Type="http://schemas.openxmlformats.org/officeDocument/2006/relationships/chart" Target="/ppt/charts/chart4.xml"/><Relationship Id="rId4" Type="http://schemas.openxmlformats.org/officeDocument/2006/relationships/slideLayout" Target="../slideLayouts/slideLayout3.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2" Type="http://schemas.openxmlformats.org/officeDocument/2006/relationships/hyperlink" Target="https://drive.google.com/file/d/1cT4BjOWIJg-F6XEY6Fu0vBWULg8gTkay/view" TargetMode="External"/><Relationship Id="rId3" Type="http://schemas.openxmlformats.org/officeDocument/2006/relationships/hyperlink" Target="https://drive.google.com/file/d/1cT4BjOWIJg-F6XEY6Fu0vBWULg8gTkay/view" TargetMode="External"/><Relationship Id="rId4" Type="http://schemas.openxmlformats.org/officeDocument/2006/relationships/hyperlink" Target="https://drive.google.com/file/d/1cT4BjOWIJg-F6XEY6Fu0vBWULg8gTkay/view" TargetMode="External"/><Relationship Id="rId1" Type="http://schemas.openxmlformats.org/officeDocument/2006/relationships/image" Target="../media/image-13-1.jpg"/><Relationship Id="rId5" Type="http://schemas.openxmlformats.org/officeDocument/2006/relationships/slideLayout" Target="../slideLayouts/slideLayout3.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2" Type="http://schemas.openxmlformats.org/officeDocument/2006/relationships/hyperlink" Target="https://drive.google.com/file/d/1Y3N--m6k7gBYGGWVis7wNV8-xLIFT0wg/view" TargetMode="External"/><Relationship Id="rId3" Type="http://schemas.openxmlformats.org/officeDocument/2006/relationships/hyperlink" Target="https://drive.google.com/file/d/1Y3N--m6k7gBYGGWVis7wNV8-xLIFT0wg/view" TargetMode="External"/><Relationship Id="rId4" Type="http://schemas.openxmlformats.org/officeDocument/2006/relationships/hyperlink" Target="https://drive.google.com/file/d/1Y3N--m6k7gBYGGWVis7wNV8-xLIFT0wg/view" TargetMode="External"/><Relationship Id="rId6" Type="http://schemas.openxmlformats.org/officeDocument/2006/relationships/hyperlink" Target="https://drive.google.com/file/d/1d0_j051Z5I2UJSiJkyh_Pth1azr5_696/view" TargetMode="External"/><Relationship Id="rId7" Type="http://schemas.openxmlformats.org/officeDocument/2006/relationships/hyperlink" Target="https://drive.google.com/file/d/1d0_j051Z5I2UJSiJkyh_Pth1azr5_696/view" TargetMode="External"/><Relationship Id="rId8" Type="http://schemas.openxmlformats.org/officeDocument/2006/relationships/hyperlink" Target="https://drive.google.com/file/d/1d0_j051Z5I2UJSiJkyh_Pth1azr5_696/view" TargetMode="External"/><Relationship Id="rId10" Type="http://schemas.openxmlformats.org/officeDocument/2006/relationships/hyperlink" Target="https://drive.google.com/file/d/1vcm-Xt9ZLgD2YFmzfilhOjsTIL7B_ibg/view" TargetMode="External"/><Relationship Id="rId11" Type="http://schemas.openxmlformats.org/officeDocument/2006/relationships/hyperlink" Target="https://drive.google.com/file/d/1vcm-Xt9ZLgD2YFmzfilhOjsTIL7B_ibg/view" TargetMode="External"/><Relationship Id="rId12" Type="http://schemas.openxmlformats.org/officeDocument/2006/relationships/hyperlink" Target="https://drive.google.com/file/d/1vcm-Xt9ZLgD2YFmzfilhOjsTIL7B_ibg/view" TargetMode="External"/><Relationship Id="rId14" Type="http://schemas.openxmlformats.org/officeDocument/2006/relationships/hyperlink" Target="https://drive.google.com/file/d/1rlx80jMpY3x3ZtCdOuRL2akxzEyqMXOE/view" TargetMode="External"/><Relationship Id="rId15" Type="http://schemas.openxmlformats.org/officeDocument/2006/relationships/hyperlink" Target="https://drive.google.com/file/d/1rlx80jMpY3x3ZtCdOuRL2akxzEyqMXOE/view" TargetMode="External"/><Relationship Id="rId16" Type="http://schemas.openxmlformats.org/officeDocument/2006/relationships/hyperlink" Target="https://drive.google.com/file/d/1rlx80jMpY3x3ZtCdOuRL2akxzEyqMXOE/view" TargetMode="External"/><Relationship Id="rId1" Type="http://schemas.openxmlformats.org/officeDocument/2006/relationships/image" Target="../media/image-14-1.jpg"/><Relationship Id="rId5" Type="http://schemas.openxmlformats.org/officeDocument/2006/relationships/image" Target="../media/image-14-2.jpg"/><Relationship Id="rId9" Type="http://schemas.openxmlformats.org/officeDocument/2006/relationships/image" Target="../media/image-14-3.jpg"/><Relationship Id="rId13" Type="http://schemas.openxmlformats.org/officeDocument/2006/relationships/image" Target="../media/image-14-4.jpg"/><Relationship Id="rId17" Type="http://schemas.openxmlformats.org/officeDocument/2006/relationships/slideLayout" Target="../slideLayouts/slideLayout3.xml"/><Relationship Id="rId18"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hyperlink" Target="https://drive.google.com/drive/folders/1j5eB20g6uCwuTs54XmgiSta9ygdR1BRW?usp=sharing" TargetMode="External"/><Relationship Id="rId2" Type="http://schemas.openxmlformats.org/officeDocument/2006/relationships/slideLayout" Target="../slideLayouts/slideLayout4.xml"/><Relationship Id="rId3"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2011680"/>
            <a:ext cx="6766560" cy="1645920"/>
          </a:xfrm>
          <a:prstGeom prst="rect">
            <a:avLst/>
          </a:prstGeom>
          <a:noFill/>
          <a:ln/>
        </p:spPr>
        <p:txBody>
          <a:bodyPr wrap="square" lIns="0" tIns="0" rIns="0" bIns="0" rtlCol="0" anchor="b"/>
          <a:lstStyle/>
          <a:p>
            <a:pPr algn="l" indent="0" marL="0">
              <a:buNone/>
            </a:pPr>
            <a:r>
              <a:rPr lang="en-US" sz="4000" b="1" dirty="0">
                <a:solidFill>
                  <a:schemeClr val="bg1"/>
                </a:solidFill>
              </a:rPr>
              <a:t>Scooping a Lacrosse Ball with a RoboMaster</a:t>
            </a:r>
            <a:endParaRPr lang="en-US" sz="4000" dirty="0"/>
          </a:p>
        </p:txBody>
      </p:sp>
      <p:sp>
        <p:nvSpPr>
          <p:cNvPr id="3" name="Text 0"/>
          <p:cNvSpPr/>
          <p:nvPr>
            <p:ph idx="101" type="body" hasCustomPrompt="1"/>
          </p:nvPr>
        </p:nvSpPr>
        <p:spPr>
          <a:xfrm>
            <a:off x="548640" y="3840480"/>
            <a:ext cx="6400800" cy="1280160"/>
          </a:xfrm>
          <a:prstGeom prst="rect">
            <a:avLst/>
          </a:prstGeom>
          <a:noFill/>
          <a:ln/>
        </p:spPr>
        <p:txBody>
          <a:bodyPr wrap="square" lIns="0" tIns="0" rIns="0" bIns="0" rtlCol="0" anchor="t"/>
          <a:lstStyle/>
          <a:p>
            <a:pPr indent="0" marL="0">
              <a:buNone/>
            </a:pPr>
            <a:r>
              <a:rPr lang="en-US" sz="1800" dirty="0">
                <a:solidFill>
                  <a:schemeClr val="accent1"/>
                </a:solidFill>
              </a:rPr>
              <a:t>Open-loop scoop trajectory, step-by-step randomization, and the plan for torque sensing</a:t>
            </a:r>
            <a:endParaRPr lang="en-US" sz="1800" dirty="0"/>
          </a:p>
          <a:p>
            <a:pPr indent="0" marL="0">
              <a:buNone/>
            </a:pPr>
            <a:r>
              <a:rPr lang="en-US" sz="1400" dirty="0">
                <a:solidFill>
                  <a:schemeClr val="accent6"/>
                </a:solidFill>
              </a:rPr>
              <a:t>Isaac Lab task Isaac-RoboMaster-Lacrosse-Direct-v0  ·  October 2026</a:t>
            </a:r>
            <a:endParaRPr lang="en-US" sz="1800" dirty="0"/>
          </a:p>
        </p:txBody>
      </p:sp>
      <p:pic>
        <p:nvPicPr>
          <p:cNvPr id="4" name="video-wheels_slow" descr="/tmp/claude-1000/-home-yifan-IsaacLab/02e1a1d7-61f9-5921-a435-b68e19ec6560/scratchpad/deck/img/vid/wheels_slow.jpg">
            <a:hlinkClick r:id="rId2" tooltip="Open video on Google Drive"/>
          </p:cNvPr>
          <p:cNvPicPr>
            <a:picLocks noChangeAspect="1"/>
          </p:cNvPicPr>
          <p:nvPr/>
        </p:nvPicPr>
        <p:blipFill>
          <a:blip r:embed="rId1"/>
          <a:stretch>
            <a:fillRect/>
          </a:stretch>
        </p:blipFill>
        <p:spPr>
          <a:xfrm>
            <a:off x="7589520" y="1554480"/>
            <a:ext cx="4023360" cy="2263140"/>
          </a:xfrm>
          <a:prstGeom prst="rect">
            <a:avLst/>
          </a:prstGeom>
        </p:spPr>
      </p:pic>
      <p:sp>
        <p:nvSpPr>
          <p:cNvPr id="5" name="Shape 2">
            <a:hlinkClick r:id="rId3" tooltip=""/>
          </p:cNvPr>
          <p:cNvSpPr/>
          <p:nvPr/>
        </p:nvSpPr>
        <p:spPr>
          <a:xfrm>
            <a:off x="9281160" y="2366010"/>
            <a:ext cx="640080" cy="640080"/>
          </a:xfrm>
          <a:prstGeom prst="ellipse">
            <a:avLst/>
          </a:prstGeom>
          <a:solidFill>
            <a:schemeClr val="tx1">
              <a:alpha val="75000"/>
            </a:schemeClr>
          </a:solidFill>
          <a:ln w="19050">
            <a:solidFill>
              <a:schemeClr val="bg1"/>
            </a:solidFill>
            <a:prstDash val="solid"/>
          </a:ln>
        </p:spPr>
      </p:sp>
      <p:sp>
        <p:nvSpPr>
          <p:cNvPr id="6" name="Shape 3"/>
          <p:cNvSpPr/>
          <p:nvPr/>
        </p:nvSpPr>
        <p:spPr>
          <a:xfrm rot="5400000">
            <a:off x="9498787" y="2558034"/>
            <a:ext cx="256032" cy="256032"/>
          </a:xfrm>
          <a:prstGeom prst="triangle">
            <a:avLst/>
          </a:prstGeom>
          <a:solidFill>
            <a:schemeClr val="bg1"/>
          </a:solidFill>
          <a:ln/>
        </p:spPr>
      </p:sp>
      <p:sp>
        <p:nvSpPr>
          <p:cNvPr id="7" name="Text 4"/>
          <p:cNvSpPr txBox="1"/>
          <p:nvPr/>
        </p:nvSpPr>
        <p:spPr>
          <a:xfrm>
            <a:off x="7589520" y="3890772"/>
            <a:ext cx="4023360" cy="548640"/>
          </a:xfrm>
          <a:prstGeom prst="rect">
            <a:avLst/>
          </a:prstGeom>
          <a:noFill/>
          <a:ln/>
        </p:spPr>
        <p:txBody>
          <a:bodyPr wrap="square" lIns="0" tIns="0" rIns="0" bIns="0" rtlCol="0" anchor="t"/>
          <a:lstStyle/>
          <a:p>
            <a:pPr indent="0" marL="0">
              <a:buNone/>
            </a:pPr>
            <a:r>
              <a:rPr lang="en-US" sz="1200" b="1" dirty="0">
                <a:solidFill>
                  <a:schemeClr val="bg1"/>
                </a:solidFill>
              </a:rPr>
              <a:t>Current best scoop, 4× slow motion</a:t>
            </a:r>
            <a:endParaRPr lang="en-US" sz="1200" dirty="0"/>
          </a:p>
          <a:p>
            <a:pPr indent="0" marL="0">
              <a:buNone/>
            </a:pPr>
            <a:r>
              <a:rPr lang="en-US" sz="1200" u="sng" dirty="0">
                <a:solidFill>
                  <a:schemeClr val="accent4"/>
                </a:solidFill>
                <a:hlinkClick r:id="rId4" invalidUrl="" action="" tgtFrame="" tooltip="" history="1" highlightClick="0" endSnd="0">
                  <a:extLst>
                    <a:ext uri="{A12FA001-AC4F-418D-AE19-62706E023703}">
                      <ahyp:hlinkClr xmlns:ahyp="http://schemas.microsoft.com/office/drawing/2018/hyperlinkcolor" val="tx"/>
                    </a:ext>
                  </a:extLst>
                </a:hlinkClick>
              </a:rPr>
              <a:t>▶ Watch on Google Drive (12 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31520"/>
          </a:xfrm>
          <a:prstGeom prst="rect">
            <a:avLst/>
          </a:prstGeom>
          <a:noFill/>
          <a:ln/>
        </p:spPr>
        <p:txBody>
          <a:bodyPr wrap="square" lIns="0" tIns="0" rIns="0" bIns="0" rtlCol="0" anchor="ctr"/>
          <a:lstStyle/>
          <a:p>
            <a:pPr algn="l" indent="0" marL="0">
              <a:buNone/>
            </a:pPr>
            <a:r>
              <a:rPr lang="en-US" sz="3000" b="1" dirty="0">
                <a:solidFill>
                  <a:schemeClr val="tx1"/>
                </a:solidFill>
              </a:rPr>
              <a:t>A hand-designed open-loop scoop is near-perfect in simulation</a:t>
            </a:r>
            <a:endParaRPr lang="en-US" sz="3000" dirty="0"/>
          </a:p>
        </p:txBody>
      </p:sp>
      <p:sp>
        <p:nvSpPr>
          <p:cNvPr id="3" name="Shape 1"/>
          <p:cNvSpPr/>
          <p:nvPr/>
        </p:nvSpPr>
        <p:spPr>
          <a:xfrm>
            <a:off x="548640" y="1463040"/>
            <a:ext cx="3474720" cy="2834640"/>
          </a:xfrm>
          <a:prstGeom prst="roundRect">
            <a:avLst>
              <a:gd name="adj" fmla="val 2581"/>
            </a:avLst>
          </a:prstGeom>
          <a:solidFill>
            <a:schemeClr val="bg2"/>
          </a:solidFill>
          <a:ln/>
        </p:spPr>
      </p:sp>
      <p:sp>
        <p:nvSpPr>
          <p:cNvPr id="4" name="Text 2"/>
          <p:cNvSpPr txBox="1"/>
          <p:nvPr/>
        </p:nvSpPr>
        <p:spPr>
          <a:xfrm>
            <a:off x="822960" y="1737360"/>
            <a:ext cx="2926080" cy="1005840"/>
          </a:xfrm>
          <a:prstGeom prst="rect">
            <a:avLst/>
          </a:prstGeom>
          <a:noFill/>
          <a:ln/>
        </p:spPr>
        <p:txBody>
          <a:bodyPr wrap="square" lIns="0" tIns="0" rIns="0" bIns="0" rtlCol="0" anchor="ctr"/>
          <a:lstStyle/>
          <a:p>
            <a:pPr indent="0" marL="0">
              <a:buNone/>
            </a:pPr>
            <a:r>
              <a:rPr lang="en-US" sz="4800" b="1" dirty="0">
                <a:solidFill>
                  <a:schemeClr val="accent2"/>
                </a:solidFill>
              </a:rPr>
              <a:t>98.3%</a:t>
            </a:r>
            <a:endParaRPr lang="en-US" sz="4800" dirty="0"/>
          </a:p>
        </p:txBody>
      </p:sp>
      <p:sp>
        <p:nvSpPr>
          <p:cNvPr id="5" name="Text 3"/>
          <p:cNvSpPr txBox="1"/>
          <p:nvPr/>
        </p:nvSpPr>
        <p:spPr>
          <a:xfrm>
            <a:off x="822960" y="2788920"/>
            <a:ext cx="2926080" cy="548640"/>
          </a:xfrm>
          <a:prstGeom prst="rect">
            <a:avLst/>
          </a:prstGeom>
          <a:noFill/>
          <a:ln/>
        </p:spPr>
        <p:txBody>
          <a:bodyPr wrap="square" lIns="0" tIns="0" rIns="0" bIns="0" rtlCol="0" anchor="t"/>
          <a:lstStyle/>
          <a:p>
            <a:pPr indent="0" marL="0">
              <a:buNone/>
            </a:pPr>
            <a:r>
              <a:rPr lang="en-US" sz="1800" b="1" dirty="0">
                <a:solidFill>
                  <a:schemeClr val="tx1"/>
                </a:solidFill>
              </a:rPr>
              <a:t>393 / 400 robots hold the ball</a:t>
            </a:r>
            <a:endParaRPr lang="en-US" sz="1800" dirty="0"/>
          </a:p>
        </p:txBody>
      </p:sp>
      <p:sp>
        <p:nvSpPr>
          <p:cNvPr id="6" name="Text 4"/>
          <p:cNvSpPr txBox="1"/>
          <p:nvPr/>
        </p:nvSpPr>
        <p:spPr>
          <a:xfrm>
            <a:off x="822960" y="3383280"/>
            <a:ext cx="2926080" cy="822960"/>
          </a:xfrm>
          <a:prstGeom prst="rect">
            <a:avLst/>
          </a:prstGeom>
          <a:noFill/>
          <a:ln/>
        </p:spPr>
        <p:txBody>
          <a:bodyPr wrap="square" lIns="0" tIns="0" rIns="0" bIns="0" rtlCol="0" anchor="t"/>
          <a:lstStyle/>
          <a:p>
            <a:pPr indent="0" marL="0">
              <a:buNone/>
            </a:pPr>
            <a:r>
              <a:rPr lang="en-US" sz="1400" dirty="0">
                <a:solidFill>
                  <a:schemeClr val="tx2"/>
                </a:solidFill>
              </a:rPr>
              <a:t>1200 Hz physics, ball placed ±3 cm / ±1 cm at random</a:t>
            </a:r>
            <a:endParaRPr lang="en-US" sz="1400" dirty="0"/>
          </a:p>
        </p:txBody>
      </p:sp>
      <p:sp>
        <p:nvSpPr>
          <p:cNvPr id="7" name="Shape 5"/>
          <p:cNvSpPr/>
          <p:nvPr/>
        </p:nvSpPr>
        <p:spPr>
          <a:xfrm>
            <a:off x="4297680" y="1463040"/>
            <a:ext cx="3474720" cy="2834640"/>
          </a:xfrm>
          <a:prstGeom prst="roundRect">
            <a:avLst>
              <a:gd name="adj" fmla="val 2581"/>
            </a:avLst>
          </a:prstGeom>
          <a:solidFill>
            <a:schemeClr val="bg2"/>
          </a:solidFill>
          <a:ln/>
        </p:spPr>
      </p:sp>
      <p:sp>
        <p:nvSpPr>
          <p:cNvPr id="8" name="Text 6"/>
          <p:cNvSpPr txBox="1"/>
          <p:nvPr/>
        </p:nvSpPr>
        <p:spPr>
          <a:xfrm>
            <a:off x="4572000" y="1737360"/>
            <a:ext cx="2926080" cy="1005840"/>
          </a:xfrm>
          <a:prstGeom prst="rect">
            <a:avLst/>
          </a:prstGeom>
          <a:noFill/>
          <a:ln/>
        </p:spPr>
        <p:txBody>
          <a:bodyPr wrap="square" lIns="0" tIns="0" rIns="0" bIns="0" rtlCol="0" anchor="ctr"/>
          <a:lstStyle/>
          <a:p>
            <a:pPr indent="0" marL="0">
              <a:buNone/>
            </a:pPr>
            <a:r>
              <a:rPr lang="en-US" sz="4800" b="1" dirty="0">
                <a:solidFill>
                  <a:schemeClr val="accent2"/>
                </a:solidFill>
              </a:rPr>
              <a:t>300/300</a:t>
            </a:r>
            <a:endParaRPr lang="en-US" sz="4800" dirty="0"/>
          </a:p>
        </p:txBody>
      </p:sp>
      <p:sp>
        <p:nvSpPr>
          <p:cNvPr id="9" name="Text 7"/>
          <p:cNvSpPr txBox="1"/>
          <p:nvPr/>
        </p:nvSpPr>
        <p:spPr>
          <a:xfrm>
            <a:off x="4572000" y="2788920"/>
            <a:ext cx="2926080" cy="548640"/>
          </a:xfrm>
          <a:prstGeom prst="rect">
            <a:avLst/>
          </a:prstGeom>
          <a:noFill/>
          <a:ln/>
        </p:spPr>
        <p:txBody>
          <a:bodyPr wrap="square" lIns="0" tIns="0" rIns="0" bIns="0" rtlCol="0" anchor="t"/>
          <a:lstStyle/>
          <a:p>
            <a:pPr indent="0" marL="0">
              <a:buNone/>
            </a:pPr>
            <a:r>
              <a:rPr lang="en-US" sz="1800" b="1" dirty="0">
                <a:solidFill>
                  <a:schemeClr val="tx1"/>
                </a:solidFill>
              </a:rPr>
              <a:t>with realistic uncertainty</a:t>
            </a:r>
            <a:endParaRPr lang="en-US" sz="1800" dirty="0"/>
          </a:p>
        </p:txBody>
      </p:sp>
      <p:sp>
        <p:nvSpPr>
          <p:cNvPr id="10" name="Text 8"/>
          <p:cNvSpPr txBox="1"/>
          <p:nvPr/>
        </p:nvSpPr>
        <p:spPr>
          <a:xfrm>
            <a:off x="4572000" y="3383280"/>
            <a:ext cx="2926080" cy="822960"/>
          </a:xfrm>
          <a:prstGeom prst="rect">
            <a:avLst/>
          </a:prstGeom>
          <a:noFill/>
          <a:ln/>
        </p:spPr>
        <p:txBody>
          <a:bodyPr wrap="square" lIns="0" tIns="0" rIns="0" bIns="0" rtlCol="0" anchor="t"/>
          <a:lstStyle/>
          <a:p>
            <a:pPr indent="0" marL="0">
              <a:buNone/>
            </a:pPr>
            <a:r>
              <a:rPr lang="en-US" sz="1400" dirty="0">
                <a:solidFill>
                  <a:schemeClr val="tx2"/>
                </a:solidFill>
              </a:rPr>
              <a:t>wheel-driven 4.14 kg base, slip, latency, friction, gravity-comp error</a:t>
            </a:r>
            <a:endParaRPr lang="en-US" sz="1400" dirty="0"/>
          </a:p>
        </p:txBody>
      </p:sp>
      <p:sp>
        <p:nvSpPr>
          <p:cNvPr id="11" name="Shape 9"/>
          <p:cNvSpPr/>
          <p:nvPr/>
        </p:nvSpPr>
        <p:spPr>
          <a:xfrm>
            <a:off x="8046720" y="1463040"/>
            <a:ext cx="3474720" cy="2834640"/>
          </a:xfrm>
          <a:prstGeom prst="roundRect">
            <a:avLst>
              <a:gd name="adj" fmla="val 2581"/>
            </a:avLst>
          </a:prstGeom>
          <a:solidFill>
            <a:schemeClr val="bg2"/>
          </a:solidFill>
          <a:ln/>
        </p:spPr>
      </p:sp>
      <p:sp>
        <p:nvSpPr>
          <p:cNvPr id="12" name="Text 10"/>
          <p:cNvSpPr txBox="1"/>
          <p:nvPr/>
        </p:nvSpPr>
        <p:spPr>
          <a:xfrm>
            <a:off x="8321040" y="1737360"/>
            <a:ext cx="2926080" cy="1005840"/>
          </a:xfrm>
          <a:prstGeom prst="rect">
            <a:avLst/>
          </a:prstGeom>
          <a:noFill/>
          <a:ln/>
        </p:spPr>
        <p:txBody>
          <a:bodyPr wrap="square" lIns="0" tIns="0" rIns="0" bIns="0" rtlCol="0" anchor="ctr"/>
          <a:lstStyle/>
          <a:p>
            <a:pPr indent="0" marL="0">
              <a:buNone/>
            </a:pPr>
            <a:r>
              <a:rPr lang="en-US" sz="4800" b="1" dirty="0">
                <a:solidFill>
                  <a:schemeClr val="accent3"/>
                </a:solidFill>
              </a:rPr>
              <a:t>±2 cm</a:t>
            </a:r>
            <a:endParaRPr lang="en-US" sz="4800" dirty="0"/>
          </a:p>
        </p:txBody>
      </p:sp>
      <p:sp>
        <p:nvSpPr>
          <p:cNvPr id="13" name="Text 11"/>
          <p:cNvSpPr txBox="1"/>
          <p:nvPr/>
        </p:nvSpPr>
        <p:spPr>
          <a:xfrm>
            <a:off x="8321040" y="2788920"/>
            <a:ext cx="2926080" cy="548640"/>
          </a:xfrm>
          <a:prstGeom prst="rect">
            <a:avLst/>
          </a:prstGeom>
          <a:noFill/>
          <a:ln/>
        </p:spPr>
        <p:txBody>
          <a:bodyPr wrap="square" lIns="0" tIns="0" rIns="0" bIns="0" rtlCol="0" anchor="t"/>
          <a:lstStyle/>
          <a:p>
            <a:pPr indent="0" marL="0">
              <a:buNone/>
            </a:pPr>
            <a:r>
              <a:rPr lang="en-US" sz="1800" b="1" dirty="0">
                <a:solidFill>
                  <a:schemeClr val="tx1"/>
                </a:solidFill>
              </a:rPr>
              <a:t>alignment tolerance</a:t>
            </a:r>
            <a:endParaRPr lang="en-US" sz="1800" dirty="0"/>
          </a:p>
        </p:txBody>
      </p:sp>
      <p:sp>
        <p:nvSpPr>
          <p:cNvPr id="14" name="Text 12"/>
          <p:cNvSpPr txBox="1"/>
          <p:nvPr/>
        </p:nvSpPr>
        <p:spPr>
          <a:xfrm>
            <a:off x="8321040" y="3383280"/>
            <a:ext cx="2926080" cy="822960"/>
          </a:xfrm>
          <a:prstGeom prst="rect">
            <a:avLst/>
          </a:prstGeom>
          <a:noFill/>
          <a:ln/>
        </p:spPr>
        <p:txBody>
          <a:bodyPr wrap="square" lIns="0" tIns="0" rIns="0" bIns="0" rtlCol="0" anchor="t"/>
          <a:lstStyle/>
          <a:p>
            <a:pPr indent="0" marL="0">
              <a:buNone/>
            </a:pPr>
            <a:r>
              <a:rPr lang="en-US" sz="1400" dirty="0">
                <a:solidFill>
                  <a:schemeClr val="tx2"/>
                </a:solidFill>
              </a:rPr>
              <a:t>lateral ±2 cm and heading ±1° still 95–98%; ±4 cm or ±2° fails</a:t>
            </a:r>
            <a:endParaRPr lang="en-US" sz="1400" dirty="0"/>
          </a:p>
        </p:txBody>
      </p:sp>
      <p:sp>
        <p:nvSpPr>
          <p:cNvPr id="15" name="Text 13"/>
          <p:cNvSpPr txBox="1"/>
          <p:nvPr/>
        </p:nvSpPr>
        <p:spPr>
          <a:xfrm>
            <a:off x="548640" y="4617720"/>
            <a:ext cx="11094415" cy="1097280"/>
          </a:xfrm>
          <a:prstGeom prst="rect">
            <a:avLst/>
          </a:prstGeom>
          <a:noFill/>
          <a:ln/>
        </p:spPr>
        <p:txBody>
          <a:bodyPr wrap="square" lIns="0" tIns="0" rIns="0" bIns="0" rtlCol="0" anchor="t"/>
          <a:lstStyle/>
          <a:p>
            <a:pPr indent="0" marL="0">
              <a:buNone/>
            </a:pPr>
            <a:r>
              <a:rPr lang="en-US" sz="1600" b="1" dirty="0">
                <a:solidFill>
                  <a:schemeClr val="tx1"/>
                </a:solidFill>
              </a:rPr>
              <a:t>Bottom line: </a:t>
            </a:r>
            <a:pPr indent="0" marL="0">
              <a:buNone/>
            </a:pPr>
            <a:r>
              <a:rPr lang="en-US" sz="1600" dirty="0">
                <a:solidFill>
                  <a:schemeClr val="tx1"/>
                </a:solidFill>
              </a:rPr>
              <a:t>the scoop motion itself works in sim under every realistic randomization we could add. What is left is (1) the robot's position error relative to the ball and (2) transfer to hardware. Next week: measure real motor torque at impact, as a first step toward torque-triggered or learned control.</a:t>
            </a:r>
            <a:endParaRPr lang="en-US" sz="1600" dirty="0"/>
          </a:p>
        </p:txBody>
      </p:sp>
      <p:sp>
        <p:nvSpPr>
          <p:cNvPr id="25" name="Slide Number Placeholder 0"/>
          <p:cNvSpPr>
            <a:spLocks noGrp="1"/>
          </p:cNvSpPr>
          <p:nvPr>
            <p:ph type="sldNum" sz="quarter" idx="4294967295"/>
          </p:nvPr>
        </p:nvSpPr>
        <p:spPr>
          <a:xfrm>
            <a:off x="1136873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31520"/>
          </a:xfrm>
          <a:prstGeom prst="rect">
            <a:avLst/>
          </a:prstGeom>
          <a:noFill/>
          <a:ln/>
        </p:spPr>
        <p:txBody>
          <a:bodyPr wrap="square" lIns="0" tIns="0" rIns="0" bIns="0" rtlCol="0" anchor="ctr"/>
          <a:lstStyle/>
          <a:p>
            <a:pPr algn="l" indent="0" marL="0">
              <a:buNone/>
            </a:pPr>
            <a:r>
              <a:rPr lang="en-US" sz="3000" b="1" dirty="0">
                <a:solidFill>
                  <a:schemeClr val="tx1"/>
                </a:solidFill>
              </a:rPr>
              <a:t>The simulated robot is built from measured real-robot numbers</a:t>
            </a:r>
            <a:endParaRPr lang="en-US" sz="3000" dirty="0"/>
          </a:p>
        </p:txBody>
      </p:sp>
      <p:pic>
        <p:nvPicPr>
          <p:cNvPr id="3" name="side-view" descr="/tmp/claude-1000/-home-yifan-IsaacLab/02e1a1d7-61f9-5921-a435-b68e19ec6560/scratchpad/deck/img/frame_contact_side.png">    </p:cNvPr>
          <p:cNvPicPr>
            <a:picLocks noChangeAspect="1"/>
          </p:cNvPicPr>
          <p:nvPr/>
        </p:nvPicPr>
        <p:blipFill>
          <a:blip r:embed="rId1"/>
          <a:stretch>
            <a:fillRect/>
          </a:stretch>
        </p:blipFill>
        <p:spPr>
          <a:xfrm>
            <a:off x="548640" y="1371600"/>
            <a:ext cx="5486400" cy="3081403"/>
          </a:xfrm>
          <a:prstGeom prst="rect">
            <a:avLst/>
          </a:prstGeom>
        </p:spPr>
      </p:pic>
      <p:sp>
        <p:nvSpPr>
          <p:cNvPr id="4" name="Text 1"/>
          <p:cNvSpPr txBox="1"/>
          <p:nvPr/>
        </p:nvSpPr>
        <p:spPr>
          <a:xfrm>
            <a:off x="548640" y="4544443"/>
            <a:ext cx="5486400" cy="320040"/>
          </a:xfrm>
          <a:prstGeom prst="rect">
            <a:avLst/>
          </a:prstGeom>
          <a:noFill/>
          <a:ln/>
        </p:spPr>
        <p:txBody>
          <a:bodyPr wrap="square" lIns="0" tIns="0" rIns="0" bIns="0" rtlCol="0" anchor="ctr"/>
          <a:lstStyle/>
          <a:p>
            <a:pPr indent="0" marL="0">
              <a:buNone/>
            </a:pPr>
            <a:r>
              <a:rPr lang="en-US" sz="1100" i="1" dirty="0">
                <a:solidFill>
                  <a:schemeClr val="accent6"/>
                </a:solidFill>
              </a:rPr>
              <a:t>Side view at contact (t = 0.9 s): the lip presses on the floor and the ball enters the pocket</a:t>
            </a:r>
            <a:endParaRPr lang="en-US" sz="1100" dirty="0"/>
          </a:p>
        </p:txBody>
      </p:sp>
      <p:sp>
        <p:nvSpPr>
          <p:cNvPr id="5" name="Text 2"/>
          <p:cNvSpPr txBox="1"/>
          <p:nvPr/>
        </p:nvSpPr>
        <p:spPr>
          <a:xfrm>
            <a:off x="6492240" y="1417320"/>
            <a:ext cx="1188720" cy="731520"/>
          </a:xfrm>
          <a:prstGeom prst="rect">
            <a:avLst/>
          </a:prstGeom>
          <a:noFill/>
          <a:ln/>
        </p:spPr>
        <p:txBody>
          <a:bodyPr wrap="square" lIns="0" tIns="0" rIns="0" bIns="0" rtlCol="0" anchor="t"/>
          <a:lstStyle/>
          <a:p>
            <a:pPr indent="0" marL="0">
              <a:buNone/>
            </a:pPr>
            <a:r>
              <a:rPr lang="en-US" sz="1600" b="1" dirty="0">
                <a:solidFill>
                  <a:schemeClr val="accent3"/>
                </a:solidFill>
              </a:rPr>
              <a:t>Base</a:t>
            </a:r>
            <a:endParaRPr lang="en-US" sz="1600" dirty="0"/>
          </a:p>
        </p:txBody>
      </p:sp>
      <p:sp>
        <p:nvSpPr>
          <p:cNvPr id="6" name="Text 3"/>
          <p:cNvSpPr txBox="1"/>
          <p:nvPr/>
        </p:nvSpPr>
        <p:spPr>
          <a:xfrm>
            <a:off x="7680960" y="1417320"/>
            <a:ext cx="3931920" cy="777240"/>
          </a:xfrm>
          <a:prstGeom prst="rect">
            <a:avLst/>
          </a:prstGeom>
          <a:noFill/>
          <a:ln/>
        </p:spPr>
        <p:txBody>
          <a:bodyPr wrap="square" lIns="0" tIns="0" rIns="0" bIns="0" rtlCol="0" anchor="t"/>
          <a:lstStyle/>
          <a:p>
            <a:pPr indent="0" marL="0">
              <a:buNone/>
            </a:pPr>
            <a:r>
              <a:rPr lang="en-US" sz="1400" dirty="0">
                <a:solidFill>
                  <a:schemeClr val="tx1"/>
                </a:solidFill>
              </a:rPr>
              <a:t>Wheel-driven RoboMaster, 4.14 kg total; 1.5 m/s² accel, ≤2 m/s; ±10% speed error</a:t>
            </a:r>
            <a:endParaRPr lang="en-US" sz="1400" dirty="0"/>
          </a:p>
        </p:txBody>
      </p:sp>
      <p:sp>
        <p:nvSpPr>
          <p:cNvPr id="7" name="Text 4"/>
          <p:cNvSpPr txBox="1"/>
          <p:nvPr/>
        </p:nvSpPr>
        <p:spPr>
          <a:xfrm>
            <a:off x="6492240" y="2331720"/>
            <a:ext cx="1188720" cy="731520"/>
          </a:xfrm>
          <a:prstGeom prst="rect">
            <a:avLst/>
          </a:prstGeom>
          <a:noFill/>
          <a:ln/>
        </p:spPr>
        <p:txBody>
          <a:bodyPr wrap="square" lIns="0" tIns="0" rIns="0" bIns="0" rtlCol="0" anchor="t"/>
          <a:lstStyle/>
          <a:p>
            <a:pPr indent="0" marL="0">
              <a:buNone/>
            </a:pPr>
            <a:r>
              <a:rPr lang="en-US" sz="1600" b="1" dirty="0">
                <a:solidFill>
                  <a:schemeClr val="accent3"/>
                </a:solidFill>
              </a:rPr>
              <a:t>Arm</a:t>
            </a:r>
            <a:endParaRPr lang="en-US" sz="1600" dirty="0"/>
          </a:p>
        </p:txBody>
      </p:sp>
      <p:sp>
        <p:nvSpPr>
          <p:cNvPr id="8" name="Text 5"/>
          <p:cNvSpPr txBox="1"/>
          <p:nvPr/>
        </p:nvSpPr>
        <p:spPr>
          <a:xfrm>
            <a:off x="7680960" y="2331720"/>
            <a:ext cx="3931920" cy="777240"/>
          </a:xfrm>
          <a:prstGeom prst="rect">
            <a:avLst/>
          </a:prstGeom>
          <a:noFill/>
          <a:ln/>
        </p:spPr>
        <p:txBody>
          <a:bodyPr wrap="square" lIns="0" tIns="0" rIns="0" bIns="0" rtlCol="0" anchor="t"/>
          <a:lstStyle/>
          <a:p>
            <a:pPr indent="0" marL="0">
              <a:buNone/>
            </a:pPr>
            <a:r>
              <a:rPr lang="en-US" sz="1400" dirty="0">
                <a:solidFill>
                  <a:schemeClr val="tx1"/>
                </a:solidFill>
              </a:rPr>
              <a:t>Shoulder motor on chassis, elbow motor at the elbow; link 1: 0.30 m, 0.68 kg incl. motor</a:t>
            </a:r>
            <a:endParaRPr lang="en-US" sz="1400" dirty="0"/>
          </a:p>
        </p:txBody>
      </p:sp>
      <p:sp>
        <p:nvSpPr>
          <p:cNvPr id="9" name="Text 6"/>
          <p:cNvSpPr txBox="1"/>
          <p:nvPr/>
        </p:nvSpPr>
        <p:spPr>
          <a:xfrm>
            <a:off x="6492240" y="3246120"/>
            <a:ext cx="1188720" cy="731520"/>
          </a:xfrm>
          <a:prstGeom prst="rect">
            <a:avLst/>
          </a:prstGeom>
          <a:noFill/>
          <a:ln/>
        </p:spPr>
        <p:txBody>
          <a:bodyPr wrap="square" lIns="0" tIns="0" rIns="0" bIns="0" rtlCol="0" anchor="t"/>
          <a:lstStyle/>
          <a:p>
            <a:pPr indent="0" marL="0">
              <a:buNone/>
            </a:pPr>
            <a:r>
              <a:rPr lang="en-US" sz="1600" b="1" dirty="0">
                <a:solidFill>
                  <a:schemeClr val="accent3"/>
                </a:solidFill>
              </a:rPr>
              <a:t>Stick</a:t>
            </a:r>
            <a:endParaRPr lang="en-US" sz="1600" dirty="0"/>
          </a:p>
        </p:txBody>
      </p:sp>
      <p:sp>
        <p:nvSpPr>
          <p:cNvPr id="10" name="Text 7"/>
          <p:cNvSpPr txBox="1"/>
          <p:nvPr/>
        </p:nvSpPr>
        <p:spPr>
          <a:xfrm>
            <a:off x="7680960" y="3246120"/>
            <a:ext cx="3931920" cy="777240"/>
          </a:xfrm>
          <a:prstGeom prst="rect">
            <a:avLst/>
          </a:prstGeom>
          <a:noFill/>
          <a:ln/>
        </p:spPr>
        <p:txBody>
          <a:bodyPr wrap="square" lIns="0" tIns="0" rIns="0" bIns="0" rtlCol="0" anchor="t"/>
          <a:lstStyle/>
          <a:p>
            <a:pPr indent="0" marL="0">
              <a:buNone/>
            </a:pPr>
            <a:r>
              <a:rPr lang="en-US" sz="1400" dirty="0">
                <a:solidFill>
                  <a:schemeClr val="tx1"/>
                </a:solidFill>
              </a:rPr>
              <a:t>1.146 m, 0.457 kg, CoM 0.142 m ahead of the elbow</a:t>
            </a:r>
            <a:endParaRPr lang="en-US" sz="1400" dirty="0"/>
          </a:p>
        </p:txBody>
      </p:sp>
      <p:sp>
        <p:nvSpPr>
          <p:cNvPr id="11" name="Text 8"/>
          <p:cNvSpPr txBox="1"/>
          <p:nvPr/>
        </p:nvSpPr>
        <p:spPr>
          <a:xfrm>
            <a:off x="6492240" y="4160520"/>
            <a:ext cx="1188720" cy="731520"/>
          </a:xfrm>
          <a:prstGeom prst="rect">
            <a:avLst/>
          </a:prstGeom>
          <a:noFill/>
          <a:ln/>
        </p:spPr>
        <p:txBody>
          <a:bodyPr wrap="square" lIns="0" tIns="0" rIns="0" bIns="0" rtlCol="0" anchor="t"/>
          <a:lstStyle/>
          <a:p>
            <a:pPr indent="0" marL="0">
              <a:buNone/>
            </a:pPr>
            <a:r>
              <a:rPr lang="en-US" sz="1600" b="1" dirty="0">
                <a:solidFill>
                  <a:schemeClr val="accent3"/>
                </a:solidFill>
              </a:rPr>
              <a:t>Motors</a:t>
            </a:r>
            <a:endParaRPr lang="en-US" sz="1600" dirty="0"/>
          </a:p>
        </p:txBody>
      </p:sp>
      <p:sp>
        <p:nvSpPr>
          <p:cNvPr id="12" name="Text 9"/>
          <p:cNvSpPr txBox="1"/>
          <p:nvPr/>
        </p:nvSpPr>
        <p:spPr>
          <a:xfrm>
            <a:off x="7680960" y="4160520"/>
            <a:ext cx="3931920" cy="777240"/>
          </a:xfrm>
          <a:prstGeom prst="rect">
            <a:avLst/>
          </a:prstGeom>
          <a:noFill/>
          <a:ln/>
        </p:spPr>
        <p:txBody>
          <a:bodyPr wrap="square" lIns="0" tIns="0" rIns="0" bIns="0" rtlCol="0" anchor="t"/>
          <a:lstStyle/>
          <a:p>
            <a:pPr indent="0" marL="0">
              <a:buNone/>
            </a:pPr>
            <a:r>
              <a:rPr lang="en-US" sz="1400" dirty="0">
                <a:solidFill>
                  <a:schemeClr val="tx1"/>
                </a:solidFill>
              </a:rPr>
              <a:t>MIT control: Kp 10 / 25, Kd 3, 4 N·m and 5 rad/s limits, gravity-comp feed-forward</a:t>
            </a:r>
            <a:endParaRPr lang="en-US" sz="1400" dirty="0"/>
          </a:p>
        </p:txBody>
      </p:sp>
      <p:sp>
        <p:nvSpPr>
          <p:cNvPr id="13" name="Text 10"/>
          <p:cNvSpPr txBox="1"/>
          <p:nvPr/>
        </p:nvSpPr>
        <p:spPr>
          <a:xfrm>
            <a:off x="6492240" y="5074920"/>
            <a:ext cx="1188720" cy="731520"/>
          </a:xfrm>
          <a:prstGeom prst="rect">
            <a:avLst/>
          </a:prstGeom>
          <a:noFill/>
          <a:ln/>
        </p:spPr>
        <p:txBody>
          <a:bodyPr wrap="square" lIns="0" tIns="0" rIns="0" bIns="0" rtlCol="0" anchor="t"/>
          <a:lstStyle/>
          <a:p>
            <a:pPr indent="0" marL="0">
              <a:buNone/>
            </a:pPr>
            <a:r>
              <a:rPr lang="en-US" sz="1600" b="1" dirty="0">
                <a:solidFill>
                  <a:schemeClr val="accent3"/>
                </a:solidFill>
              </a:rPr>
              <a:t>Task</a:t>
            </a:r>
            <a:endParaRPr lang="en-US" sz="1600" dirty="0"/>
          </a:p>
        </p:txBody>
      </p:sp>
      <p:sp>
        <p:nvSpPr>
          <p:cNvPr id="14" name="Text 11"/>
          <p:cNvSpPr txBox="1"/>
          <p:nvPr/>
        </p:nvSpPr>
        <p:spPr>
          <a:xfrm>
            <a:off x="7680960" y="5074920"/>
            <a:ext cx="3931920" cy="777240"/>
          </a:xfrm>
          <a:prstGeom prst="rect">
            <a:avLst/>
          </a:prstGeom>
          <a:noFill/>
          <a:ln/>
        </p:spPr>
        <p:txBody>
          <a:bodyPr wrap="square" lIns="0" tIns="0" rIns="0" bIns="0" rtlCol="0" anchor="t"/>
          <a:lstStyle/>
          <a:p>
            <a:pPr indent="0" marL="0">
              <a:buNone/>
            </a:pPr>
            <a:r>
              <a:rPr lang="en-US" sz="1400" dirty="0">
                <a:solidFill>
                  <a:schemeClr val="tx1"/>
                </a:solidFill>
              </a:rPr>
              <a:t>Ball (≈140 g, r 32 mm) at rest ~1 m ahead; success = ball held in the net, off the ground</a:t>
            </a:r>
            <a:endParaRPr lang="en-US" sz="1400" dirty="0"/>
          </a:p>
        </p:txBody>
      </p:sp>
      <p:sp>
        <p:nvSpPr>
          <p:cNvPr id="25" name="Slide Number Placeholder 0"/>
          <p:cNvSpPr>
            <a:spLocks noGrp="1"/>
          </p:cNvSpPr>
          <p:nvPr>
            <p:ph type="sldNum" sz="quarter" idx="4294967295"/>
          </p:nvPr>
        </p:nvSpPr>
        <p:spPr>
          <a:xfrm>
            <a:off x="1136873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31520"/>
          </a:xfrm>
          <a:prstGeom prst="rect">
            <a:avLst/>
          </a:prstGeom>
          <a:noFill/>
          <a:ln/>
        </p:spPr>
        <p:txBody>
          <a:bodyPr wrap="square" lIns="0" tIns="0" rIns="0" bIns="0" rtlCol="0" anchor="ctr"/>
          <a:lstStyle/>
          <a:p>
            <a:pPr algn="l" indent="0" marL="0">
              <a:buNone/>
            </a:pPr>
            <a:r>
              <a:rPr lang="en-US" sz="3000" b="1" dirty="0">
                <a:solidFill>
                  <a:schemeClr val="tx1"/>
                </a:solidFill>
              </a:rPr>
              <a:t>Watch: the current best scoop on the wheel-driven base</a:t>
            </a:r>
            <a:endParaRPr lang="en-US" sz="3000" dirty="0"/>
          </a:p>
        </p:txBody>
      </p:sp>
      <p:pic>
        <p:nvPicPr>
          <p:cNvPr id="3" name="video-wheels_real" descr="/tmp/claude-1000/-home-yifan-IsaacLab/02e1a1d7-61f9-5921-a435-b68e19ec6560/scratchpad/deck/img/vid/wheels_real.jpg">
            <a:hlinkClick r:id="rId2" tooltip="Open video on Google Drive"/>
          </p:cNvPr>
          <p:cNvPicPr>
            <a:picLocks noChangeAspect="1"/>
          </p:cNvPicPr>
          <p:nvPr/>
        </p:nvPicPr>
        <p:blipFill>
          <a:blip r:embed="rId1"/>
          <a:stretch>
            <a:fillRect/>
          </a:stretch>
        </p:blipFill>
        <p:spPr>
          <a:xfrm>
            <a:off x="548640" y="1417320"/>
            <a:ext cx="3520440" cy="1980248"/>
          </a:xfrm>
          <a:prstGeom prst="rect">
            <a:avLst/>
          </a:prstGeom>
        </p:spPr>
      </p:pic>
      <p:sp>
        <p:nvSpPr>
          <p:cNvPr id="4" name="Shape 1">
            <a:hlinkClick r:id="rId3" tooltip=""/>
          </p:cNvPr>
          <p:cNvSpPr/>
          <p:nvPr/>
        </p:nvSpPr>
        <p:spPr>
          <a:xfrm>
            <a:off x="2027225" y="2125809"/>
            <a:ext cx="563270" cy="563270"/>
          </a:xfrm>
          <a:prstGeom prst="ellipse">
            <a:avLst/>
          </a:prstGeom>
          <a:solidFill>
            <a:schemeClr val="tx1">
              <a:alpha val="75000"/>
            </a:schemeClr>
          </a:solidFill>
          <a:ln w="19050">
            <a:solidFill>
              <a:schemeClr val="bg1"/>
            </a:solidFill>
            <a:prstDash val="solid"/>
          </a:ln>
        </p:spPr>
      </p:sp>
      <p:sp>
        <p:nvSpPr>
          <p:cNvPr id="5" name="Shape 2"/>
          <p:cNvSpPr/>
          <p:nvPr/>
        </p:nvSpPr>
        <p:spPr>
          <a:xfrm rot="5400000">
            <a:off x="2218737" y="2294790"/>
            <a:ext cx="225308" cy="225308"/>
          </a:xfrm>
          <a:prstGeom prst="triangle">
            <a:avLst/>
          </a:prstGeom>
          <a:solidFill>
            <a:schemeClr val="bg1"/>
          </a:solidFill>
          <a:ln/>
        </p:spPr>
      </p:sp>
      <p:sp>
        <p:nvSpPr>
          <p:cNvPr id="6" name="Text 3"/>
          <p:cNvSpPr txBox="1"/>
          <p:nvPr/>
        </p:nvSpPr>
        <p:spPr>
          <a:xfrm>
            <a:off x="548640" y="3470720"/>
            <a:ext cx="3520440" cy="548640"/>
          </a:xfrm>
          <a:prstGeom prst="rect">
            <a:avLst/>
          </a:prstGeom>
          <a:noFill/>
          <a:ln/>
        </p:spPr>
        <p:txBody>
          <a:bodyPr wrap="square" lIns="0" tIns="0" rIns="0" bIns="0" rtlCol="0" anchor="t"/>
          <a:lstStyle/>
          <a:p>
            <a:pPr indent="0" marL="0">
              <a:buNone/>
            </a:pPr>
            <a:r>
              <a:rPr lang="en-US" sz="1200" b="1" dirty="0">
                <a:solidFill>
                  <a:schemeClr val="tx1"/>
                </a:solidFill>
              </a:rPr>
              <a:t>Real time</a:t>
            </a:r>
            <a:endParaRPr lang="en-US" sz="1200" dirty="0"/>
          </a:p>
          <a:p>
            <a:pPr indent="0" marL="0">
              <a:buNone/>
            </a:pPr>
            <a:r>
              <a:rPr lang="en-US" sz="1200" u="sng" dirty="0">
                <a:solidFill>
                  <a:schemeClr val="accent4"/>
                </a:solidFill>
                <a:hlinkClick r:id="rId4" invalidUrl="" action="" tgtFrame="" tooltip="" history="1" highlightClick="0" endSnd="0">
                  <a:extLst>
                    <a:ext uri="{A12FA001-AC4F-418D-AE19-62706E023703}">
                      <ahyp:hlinkClr xmlns:ahyp="http://schemas.microsoft.com/office/drawing/2018/hyperlinkcolor" val="tx"/>
                    </a:ext>
                  </a:extLst>
                </a:hlinkClick>
              </a:rPr>
              <a:t>▶ Watch on Google Drive (3 s)</a:t>
            </a:r>
            <a:endParaRPr lang="en-US" sz="1200" dirty="0"/>
          </a:p>
        </p:txBody>
      </p:sp>
      <p:pic>
        <p:nvPicPr>
          <p:cNvPr id="7" name="video-wheels_slow" descr="/tmp/claude-1000/-home-yifan-IsaacLab/02e1a1d7-61f9-5921-a435-b68e19ec6560/scratchpad/deck/img/vid/wheels_slow.jpg">
            <a:hlinkClick r:id="rId6" tooltip="Open video on Google Drive"/>
          </p:cNvPr>
          <p:cNvPicPr>
            <a:picLocks noChangeAspect="1"/>
          </p:cNvPicPr>
          <p:nvPr/>
        </p:nvPicPr>
        <p:blipFill>
          <a:blip r:embed="rId5"/>
          <a:stretch>
            <a:fillRect/>
          </a:stretch>
        </p:blipFill>
        <p:spPr>
          <a:xfrm>
            <a:off x="4297680" y="1417320"/>
            <a:ext cx="3520440" cy="1980248"/>
          </a:xfrm>
          <a:prstGeom prst="rect">
            <a:avLst/>
          </a:prstGeom>
        </p:spPr>
      </p:pic>
      <p:sp>
        <p:nvSpPr>
          <p:cNvPr id="8" name="Shape 4">
            <a:hlinkClick r:id="rId7" tooltip=""/>
          </p:cNvPr>
          <p:cNvSpPr/>
          <p:nvPr/>
        </p:nvSpPr>
        <p:spPr>
          <a:xfrm>
            <a:off x="5776265" y="2125809"/>
            <a:ext cx="563270" cy="563270"/>
          </a:xfrm>
          <a:prstGeom prst="ellipse">
            <a:avLst/>
          </a:prstGeom>
          <a:solidFill>
            <a:schemeClr val="tx1">
              <a:alpha val="75000"/>
            </a:schemeClr>
          </a:solidFill>
          <a:ln w="19050">
            <a:solidFill>
              <a:schemeClr val="bg1"/>
            </a:solidFill>
            <a:prstDash val="solid"/>
          </a:ln>
        </p:spPr>
      </p:sp>
      <p:sp>
        <p:nvSpPr>
          <p:cNvPr id="9" name="Shape 5"/>
          <p:cNvSpPr/>
          <p:nvPr/>
        </p:nvSpPr>
        <p:spPr>
          <a:xfrm rot="5400000">
            <a:off x="5967777" y="2294790"/>
            <a:ext cx="225308" cy="225308"/>
          </a:xfrm>
          <a:prstGeom prst="triangle">
            <a:avLst/>
          </a:prstGeom>
          <a:solidFill>
            <a:schemeClr val="bg1"/>
          </a:solidFill>
          <a:ln/>
        </p:spPr>
      </p:sp>
      <p:sp>
        <p:nvSpPr>
          <p:cNvPr id="10" name="Text 6"/>
          <p:cNvSpPr txBox="1"/>
          <p:nvPr/>
        </p:nvSpPr>
        <p:spPr>
          <a:xfrm>
            <a:off x="4297680" y="3470720"/>
            <a:ext cx="3520440" cy="548640"/>
          </a:xfrm>
          <a:prstGeom prst="rect">
            <a:avLst/>
          </a:prstGeom>
          <a:noFill/>
          <a:ln/>
        </p:spPr>
        <p:txBody>
          <a:bodyPr wrap="square" lIns="0" tIns="0" rIns="0" bIns="0" rtlCol="0" anchor="t"/>
          <a:lstStyle/>
          <a:p>
            <a:pPr indent="0" marL="0">
              <a:buNone/>
            </a:pPr>
            <a:r>
              <a:rPr lang="en-US" sz="1200" b="1" dirty="0">
                <a:solidFill>
                  <a:schemeClr val="tx1"/>
                </a:solidFill>
              </a:rPr>
              <a:t>4× slow motion</a:t>
            </a:r>
            <a:endParaRPr lang="en-US" sz="1200" dirty="0"/>
          </a:p>
          <a:p>
            <a:pPr indent="0" marL="0">
              <a:buNone/>
            </a:pPr>
            <a:r>
              <a:rPr lang="en-US" sz="1200" u="sng" dirty="0">
                <a:solidFill>
                  <a:schemeClr val="accent4"/>
                </a:solidFill>
                <a:hlinkClick r:id="rId8" invalidUrl="" action="" tgtFrame="" tooltip="" history="1" highlightClick="0" endSnd="0">
                  <a:extLst>
                    <a:ext uri="{A12FA001-AC4F-418D-AE19-62706E023703}">
                      <ahyp:hlinkClr xmlns:ahyp="http://schemas.microsoft.com/office/drawing/2018/hyperlinkcolor" val="tx"/>
                    </a:ext>
                  </a:extLst>
                </a:hlinkClick>
              </a:rPr>
              <a:t>▶ Watch on Google Drive (12 s)</a:t>
            </a:r>
            <a:endParaRPr lang="en-US" sz="1200" dirty="0"/>
          </a:p>
        </p:txBody>
      </p:sp>
      <p:pic>
        <p:nvPicPr>
          <p:cNvPr id="11" name="video-wheels_anim" descr="/tmp/claude-1000/-home-yifan-IsaacLab/02e1a1d7-61f9-5921-a435-b68e19ec6560/scratchpad/deck/img/vid/wheels_anim.jpg">
            <a:hlinkClick r:id="rId10" tooltip="Open video on Google Drive"/>
          </p:cNvPr>
          <p:cNvPicPr>
            <a:picLocks noChangeAspect="1"/>
          </p:cNvPicPr>
          <p:nvPr/>
        </p:nvPicPr>
        <p:blipFill>
          <a:blip r:embed="rId9"/>
          <a:stretch>
            <a:fillRect/>
          </a:stretch>
        </p:blipFill>
        <p:spPr>
          <a:xfrm>
            <a:off x="8046720" y="1417320"/>
            <a:ext cx="3520440" cy="1980248"/>
          </a:xfrm>
          <a:prstGeom prst="rect">
            <a:avLst/>
          </a:prstGeom>
        </p:spPr>
      </p:pic>
      <p:sp>
        <p:nvSpPr>
          <p:cNvPr id="12" name="Shape 7">
            <a:hlinkClick r:id="rId11" tooltip=""/>
          </p:cNvPr>
          <p:cNvSpPr/>
          <p:nvPr/>
        </p:nvSpPr>
        <p:spPr>
          <a:xfrm>
            <a:off x="9525305" y="2125809"/>
            <a:ext cx="563270" cy="563270"/>
          </a:xfrm>
          <a:prstGeom prst="ellipse">
            <a:avLst/>
          </a:prstGeom>
          <a:solidFill>
            <a:schemeClr val="tx1">
              <a:alpha val="75000"/>
            </a:schemeClr>
          </a:solidFill>
          <a:ln w="19050">
            <a:solidFill>
              <a:schemeClr val="bg1"/>
            </a:solidFill>
            <a:prstDash val="solid"/>
          </a:ln>
        </p:spPr>
      </p:sp>
      <p:sp>
        <p:nvSpPr>
          <p:cNvPr id="13" name="Shape 8"/>
          <p:cNvSpPr/>
          <p:nvPr/>
        </p:nvSpPr>
        <p:spPr>
          <a:xfrm rot="5400000">
            <a:off x="9716817" y="2294790"/>
            <a:ext cx="225308" cy="225308"/>
          </a:xfrm>
          <a:prstGeom prst="triangle">
            <a:avLst/>
          </a:prstGeom>
          <a:solidFill>
            <a:schemeClr val="bg1"/>
          </a:solidFill>
          <a:ln/>
        </p:spPr>
      </p:sp>
      <p:sp>
        <p:nvSpPr>
          <p:cNvPr id="14" name="Text 9"/>
          <p:cNvSpPr txBox="1"/>
          <p:nvPr/>
        </p:nvSpPr>
        <p:spPr>
          <a:xfrm>
            <a:off x="8046720" y="3470720"/>
            <a:ext cx="3520440" cy="548640"/>
          </a:xfrm>
          <a:prstGeom prst="rect">
            <a:avLst/>
          </a:prstGeom>
          <a:noFill/>
          <a:ln/>
        </p:spPr>
        <p:txBody>
          <a:bodyPr wrap="square" lIns="0" tIns="0" rIns="0" bIns="0" rtlCol="0" anchor="t"/>
          <a:lstStyle/>
          <a:p>
            <a:pPr indent="0" marL="0">
              <a:buNone/>
            </a:pPr>
            <a:r>
              <a:rPr lang="en-US" sz="1200" b="1" dirty="0">
                <a:solidFill>
                  <a:schemeClr val="tx1"/>
                </a:solidFill>
              </a:rPr>
              <a:t>Side-view animation with joint plots</a:t>
            </a:r>
            <a:endParaRPr lang="en-US" sz="1200" dirty="0"/>
          </a:p>
          <a:p>
            <a:pPr indent="0" marL="0">
              <a:buNone/>
            </a:pPr>
            <a:r>
              <a:rPr lang="en-US" sz="1200" u="sng" dirty="0">
                <a:solidFill>
                  <a:schemeClr val="accent4"/>
                </a:solidFill>
                <a:hlinkClick r:id="rId12" invalidUrl="" action="" tgtFrame="" tooltip="" history="1" highlightClick="0" endSnd="0">
                  <a:extLst>
                    <a:ext uri="{A12FA001-AC4F-418D-AE19-62706E023703}">
                      <ahyp:hlinkClr xmlns:ahyp="http://schemas.microsoft.com/office/drawing/2018/hyperlinkcolor" val="tx"/>
                    </a:ext>
                  </a:extLst>
                </a:hlinkClick>
              </a:rPr>
              <a:t>▶ Watch on Google Drive (6 s)</a:t>
            </a:r>
            <a:endParaRPr lang="en-US" sz="1200" dirty="0"/>
          </a:p>
        </p:txBody>
      </p:sp>
      <p:sp>
        <p:nvSpPr>
          <p:cNvPr id="15" name="Shape 10"/>
          <p:cNvSpPr/>
          <p:nvPr/>
        </p:nvSpPr>
        <p:spPr>
          <a:xfrm>
            <a:off x="548640" y="4160520"/>
            <a:ext cx="11094415" cy="1691640"/>
          </a:xfrm>
          <a:prstGeom prst="roundRect">
            <a:avLst>
              <a:gd name="adj" fmla="val 4324"/>
            </a:avLst>
          </a:prstGeom>
          <a:solidFill>
            <a:schemeClr val="bg2"/>
          </a:solidFill>
          <a:ln/>
        </p:spPr>
      </p:sp>
      <p:sp>
        <p:nvSpPr>
          <p:cNvPr id="16" name="Text 11"/>
          <p:cNvSpPr txBox="1"/>
          <p:nvPr/>
        </p:nvSpPr>
        <p:spPr>
          <a:xfrm>
            <a:off x="822960" y="4297680"/>
            <a:ext cx="10545775" cy="1463040"/>
          </a:xfrm>
          <a:prstGeom prst="rect">
            <a:avLst/>
          </a:prstGeom>
          <a:noFill/>
          <a:ln/>
        </p:spPr>
        <p:txBody>
          <a:bodyPr wrap="square" lIns="0" tIns="0" rIns="0" bIns="0" rtlCol="0" anchor="t"/>
          <a:lstStyle/>
          <a:p>
            <a:pPr indent="0" marL="0">
              <a:spcAft>
                <a:spcPts val="400"/>
              </a:spcAft>
              <a:buNone/>
            </a:pPr>
            <a:r>
              <a:rPr lang="en-US" sz="1600" b="1" dirty="0">
                <a:solidFill>
                  <a:schemeClr val="tx1"/>
                </a:solidFill>
              </a:rPr>
              <a:t>What to look for</a:t>
            </a:r>
            <a:endParaRPr lang="en-US" sz="1400" dirty="0"/>
          </a:p>
          <a:p>
            <a:pPr marL="342900" indent="-342900">
              <a:spcAft>
                <a:spcPts val="400"/>
              </a:spcAft>
              <a:buSzPct val="100000"/>
              <a:buChar char="•"/>
            </a:pPr>
            <a:r>
              <a:rPr lang="en-US" sz="1400" dirty="0">
                <a:solidFill>
                  <a:schemeClr val="tx2"/>
                </a:solidFill>
              </a:rPr>
              <a:t>Lip pressed on the floor while driving at 0.9 m/s (elbow feed-forward −1.0 N·m)</a:t>
            </a:r>
            <a:endParaRPr lang="en-US" sz="1400" dirty="0"/>
          </a:p>
          <a:p>
            <a:pPr marL="342900" indent="-342900">
              <a:spcAft>
                <a:spcPts val="400"/>
              </a:spcAft>
              <a:buSzPct val="100000"/>
              <a:buChar char="•"/>
            </a:pPr>
            <a:r>
              <a:rPr lang="en-US" sz="1400" dirty="0">
                <a:solidFill>
                  <a:schemeClr val="tx2"/>
                </a:solidFill>
              </a:rPr>
              <a:t>Ball rolls onto the net at ~0.85 s; lift starts at 0.9 s at 1 rad/s; driving stops 1.0 s later</a:t>
            </a:r>
            <a:endParaRPr lang="en-US" sz="1400" dirty="0"/>
          </a:p>
          <a:p>
            <a:pPr marL="342900" indent="-342900">
              <a:spcAft>
                <a:spcPts val="400"/>
              </a:spcAft>
              <a:buSzPct val="100000"/>
              <a:buChar char="•"/>
            </a:pPr>
            <a:r>
              <a:rPr lang="en-US" sz="1400" dirty="0">
                <a:solidFill>
                  <a:schemeClr val="tx2"/>
                </a:solidFill>
              </a:rPr>
              <a:t>Ball ends ~0.5 m above the floor, held in the pocket</a:t>
            </a:r>
            <a:endParaRPr lang="en-US" sz="1400" dirty="0"/>
          </a:p>
        </p:txBody>
      </p:sp>
      <p:sp>
        <p:nvSpPr>
          <p:cNvPr id="25" name="Slide Number Placeholder 0"/>
          <p:cNvSpPr>
            <a:spLocks noGrp="1"/>
          </p:cNvSpPr>
          <p:nvPr>
            <p:ph type="sldNum" sz="quarter" idx="4294967295"/>
          </p:nvPr>
        </p:nvSpPr>
        <p:spPr>
          <a:xfrm>
            <a:off x="1136873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31520"/>
          </a:xfrm>
          <a:prstGeom prst="rect">
            <a:avLst/>
          </a:prstGeom>
          <a:noFill/>
          <a:ln/>
        </p:spPr>
        <p:txBody>
          <a:bodyPr wrap="square" lIns="0" tIns="0" rIns="0" bIns="0" rtlCol="0" anchor="ctr"/>
          <a:lstStyle/>
          <a:p>
            <a:pPr algn="l" indent="0" marL="0">
              <a:buNone/>
            </a:pPr>
            <a:r>
              <a:rPr lang="en-US" sz="3000" b="1" dirty="0">
                <a:solidFill>
                  <a:schemeClr val="tx1"/>
                </a:solidFill>
              </a:rPr>
              <a:t>Pure RL kept falling into local optima, so we switched approach</a:t>
            </a:r>
            <a:endParaRPr lang="en-US" sz="3000" dirty="0"/>
          </a:p>
        </p:txBody>
      </p:sp>
      <p:sp>
        <p:nvSpPr>
          <p:cNvPr id="3" name="Shape 1"/>
          <p:cNvSpPr/>
          <p:nvPr/>
        </p:nvSpPr>
        <p:spPr>
          <a:xfrm>
            <a:off x="548640" y="1463040"/>
            <a:ext cx="2560320" cy="4206240"/>
          </a:xfrm>
          <a:prstGeom prst="roundRect">
            <a:avLst>
              <a:gd name="adj" fmla="val 2857"/>
            </a:avLst>
          </a:prstGeom>
          <a:solidFill>
            <a:schemeClr val="bg2"/>
          </a:solidFill>
          <a:ln/>
        </p:spPr>
      </p:sp>
      <p:sp>
        <p:nvSpPr>
          <p:cNvPr id="4" name="Shape 2"/>
          <p:cNvSpPr/>
          <p:nvPr/>
        </p:nvSpPr>
        <p:spPr>
          <a:xfrm>
            <a:off x="777240" y="1737360"/>
            <a:ext cx="420624" cy="420624"/>
          </a:xfrm>
          <a:prstGeom prst="ellipse">
            <a:avLst/>
          </a:prstGeom>
          <a:solidFill>
            <a:schemeClr val="accent1"/>
          </a:solidFill>
          <a:ln/>
        </p:spPr>
      </p:sp>
      <p:sp>
        <p:nvSpPr>
          <p:cNvPr id="5" name="Text 3"/>
          <p:cNvSpPr txBox="1"/>
          <p:nvPr/>
        </p:nvSpPr>
        <p:spPr>
          <a:xfrm>
            <a:off x="777240" y="1737360"/>
            <a:ext cx="420624" cy="420624"/>
          </a:xfrm>
          <a:prstGeom prst="rect">
            <a:avLst/>
          </a:prstGeom>
          <a:noFill/>
          <a:ln/>
        </p:spPr>
        <p:txBody>
          <a:bodyPr wrap="square" lIns="0" tIns="0" rIns="0" bIns="0" rtlCol="0" anchor="ctr"/>
          <a:lstStyle/>
          <a:p>
            <a:pPr algn="ctr" indent="0" marL="0">
              <a:buNone/>
            </a:pPr>
            <a:r>
              <a:rPr lang="en-US" sz="1600" b="1" dirty="0">
                <a:solidFill>
                  <a:schemeClr val="tx1"/>
                </a:solidFill>
              </a:rPr>
              <a:t>1</a:t>
            </a:r>
            <a:endParaRPr lang="en-US" sz="1600" dirty="0"/>
          </a:p>
        </p:txBody>
      </p:sp>
      <p:sp>
        <p:nvSpPr>
          <p:cNvPr id="6" name="Text 4"/>
          <p:cNvSpPr txBox="1"/>
          <p:nvPr/>
        </p:nvSpPr>
        <p:spPr>
          <a:xfrm>
            <a:off x="777240" y="2331720"/>
            <a:ext cx="2103120" cy="640080"/>
          </a:xfrm>
          <a:prstGeom prst="rect">
            <a:avLst/>
          </a:prstGeom>
          <a:noFill/>
          <a:ln/>
        </p:spPr>
        <p:txBody>
          <a:bodyPr wrap="square" lIns="0" tIns="0" rIns="0" bIns="0" rtlCol="0" anchor="t"/>
          <a:lstStyle/>
          <a:p>
            <a:pPr indent="0" marL="0">
              <a:buNone/>
            </a:pPr>
            <a:r>
              <a:rPr lang="en-US" sz="1800" b="1" dirty="0">
                <a:solidFill>
                  <a:schemeClr val="tx1"/>
                </a:solidFill>
              </a:rPr>
              <a:t>Fix the sim first</a:t>
            </a:r>
            <a:endParaRPr lang="en-US" sz="1800" dirty="0"/>
          </a:p>
        </p:txBody>
      </p:sp>
      <p:sp>
        <p:nvSpPr>
          <p:cNvPr id="7" name="Text 5"/>
          <p:cNvSpPr txBox="1"/>
          <p:nvPr/>
        </p:nvSpPr>
        <p:spPr>
          <a:xfrm>
            <a:off x="777240" y="3017520"/>
            <a:ext cx="2103120" cy="2560320"/>
          </a:xfrm>
          <a:prstGeom prst="rect">
            <a:avLst/>
          </a:prstGeom>
          <a:noFill/>
          <a:ln/>
        </p:spPr>
        <p:txBody>
          <a:bodyPr wrap="square" lIns="0" tIns="0" rIns="0" bIns="0" rtlCol="0" anchor="t"/>
          <a:lstStyle/>
          <a:p>
            <a:pPr indent="0" marL="0">
              <a:buNone/>
            </a:pPr>
            <a:r>
              <a:rPr lang="en-US" sz="1400" dirty="0">
                <a:solidFill>
                  <a:schemeClr val="tx2"/>
                </a:solidFill>
              </a:rPr>
              <a:t>Contact stack overflow at 8192 envs dropped contacts; the first policy exploited it. Spawn height and ball placement were also fixed.</a:t>
            </a:r>
            <a:endParaRPr lang="en-US" sz="1400" dirty="0"/>
          </a:p>
        </p:txBody>
      </p:sp>
      <p:sp>
        <p:nvSpPr>
          <p:cNvPr id="8" name="Shape 6"/>
          <p:cNvSpPr/>
          <p:nvPr/>
        </p:nvSpPr>
        <p:spPr>
          <a:xfrm>
            <a:off x="3355848" y="1463040"/>
            <a:ext cx="2560320" cy="4206240"/>
          </a:xfrm>
          <a:prstGeom prst="roundRect">
            <a:avLst>
              <a:gd name="adj" fmla="val 2857"/>
            </a:avLst>
          </a:prstGeom>
          <a:solidFill>
            <a:schemeClr val="bg2"/>
          </a:solidFill>
          <a:ln/>
        </p:spPr>
      </p:sp>
      <p:sp>
        <p:nvSpPr>
          <p:cNvPr id="9" name="Shape 7"/>
          <p:cNvSpPr/>
          <p:nvPr/>
        </p:nvSpPr>
        <p:spPr>
          <a:xfrm>
            <a:off x="3584448" y="1737360"/>
            <a:ext cx="420624" cy="420624"/>
          </a:xfrm>
          <a:prstGeom prst="ellipse">
            <a:avLst/>
          </a:prstGeom>
          <a:solidFill>
            <a:schemeClr val="accent1"/>
          </a:solidFill>
          <a:ln/>
        </p:spPr>
      </p:sp>
      <p:sp>
        <p:nvSpPr>
          <p:cNvPr id="10" name="Text 8"/>
          <p:cNvSpPr txBox="1"/>
          <p:nvPr/>
        </p:nvSpPr>
        <p:spPr>
          <a:xfrm>
            <a:off x="3584448" y="1737360"/>
            <a:ext cx="420624" cy="420624"/>
          </a:xfrm>
          <a:prstGeom prst="rect">
            <a:avLst/>
          </a:prstGeom>
          <a:noFill/>
          <a:ln/>
        </p:spPr>
        <p:txBody>
          <a:bodyPr wrap="square" lIns="0" tIns="0" rIns="0" bIns="0" rtlCol="0" anchor="ctr"/>
          <a:lstStyle/>
          <a:p>
            <a:pPr algn="ctr" indent="0" marL="0">
              <a:buNone/>
            </a:pPr>
            <a:r>
              <a:rPr lang="en-US" sz="1600" b="1" dirty="0">
                <a:solidFill>
                  <a:schemeClr val="tx1"/>
                </a:solidFill>
              </a:rPr>
              <a:t>2</a:t>
            </a:r>
            <a:endParaRPr lang="en-US" sz="1600" dirty="0"/>
          </a:p>
        </p:txBody>
      </p:sp>
      <p:sp>
        <p:nvSpPr>
          <p:cNvPr id="11" name="Text 9"/>
          <p:cNvSpPr txBox="1"/>
          <p:nvPr/>
        </p:nvSpPr>
        <p:spPr>
          <a:xfrm>
            <a:off x="3584448" y="2331720"/>
            <a:ext cx="2103120" cy="640080"/>
          </a:xfrm>
          <a:prstGeom prst="rect">
            <a:avLst/>
          </a:prstGeom>
          <a:noFill/>
          <a:ln/>
        </p:spPr>
        <p:txBody>
          <a:bodyPr wrap="square" lIns="0" tIns="0" rIns="0" bIns="0" rtlCol="0" anchor="t"/>
          <a:lstStyle/>
          <a:p>
            <a:pPr indent="0" marL="0">
              <a:buNone/>
            </a:pPr>
            <a:r>
              <a:rPr lang="en-US" sz="1800" b="1" dirty="0">
                <a:solidFill>
                  <a:schemeClr val="tx1"/>
                </a:solidFill>
              </a:rPr>
              <a:t>Shape the reward</a:t>
            </a:r>
            <a:endParaRPr lang="en-US" sz="1800" dirty="0"/>
          </a:p>
        </p:txBody>
      </p:sp>
      <p:sp>
        <p:nvSpPr>
          <p:cNvPr id="12" name="Text 10"/>
          <p:cNvSpPr txBox="1"/>
          <p:nvPr/>
        </p:nvSpPr>
        <p:spPr>
          <a:xfrm>
            <a:off x="3584448" y="3017520"/>
            <a:ext cx="2103120" cy="2560320"/>
          </a:xfrm>
          <a:prstGeom prst="rect">
            <a:avLst/>
          </a:prstGeom>
          <a:noFill/>
          <a:ln/>
        </p:spPr>
        <p:txBody>
          <a:bodyPr wrap="square" lIns="0" tIns="0" rIns="0" bIns="0" rtlCol="0" anchor="t"/>
          <a:lstStyle/>
          <a:p>
            <a:pPr indent="0" marL="0">
              <a:buNone/>
            </a:pPr>
            <a:r>
              <a:rPr lang="en-US" sz="1400" dirty="0">
                <a:solidFill>
                  <a:schemeClr val="tx2"/>
                </a:solidFill>
              </a:rPr>
              <a:t>Policies folded the arm into a corner covering the ball. Fixed with a lip-to-ball reach term, arm range limits and a 2-stage curriculum.</a:t>
            </a:r>
            <a:endParaRPr lang="en-US" sz="1400" dirty="0"/>
          </a:p>
        </p:txBody>
      </p:sp>
      <p:sp>
        <p:nvSpPr>
          <p:cNvPr id="13" name="Shape 11"/>
          <p:cNvSpPr/>
          <p:nvPr/>
        </p:nvSpPr>
        <p:spPr>
          <a:xfrm>
            <a:off x="6163056" y="1463040"/>
            <a:ext cx="2560320" cy="4206240"/>
          </a:xfrm>
          <a:prstGeom prst="roundRect">
            <a:avLst>
              <a:gd name="adj" fmla="val 2857"/>
            </a:avLst>
          </a:prstGeom>
          <a:solidFill>
            <a:schemeClr val="bg2"/>
          </a:solidFill>
          <a:ln/>
        </p:spPr>
      </p:sp>
      <p:sp>
        <p:nvSpPr>
          <p:cNvPr id="14" name="Shape 12"/>
          <p:cNvSpPr/>
          <p:nvPr/>
        </p:nvSpPr>
        <p:spPr>
          <a:xfrm>
            <a:off x="6391656" y="1737360"/>
            <a:ext cx="420624" cy="420624"/>
          </a:xfrm>
          <a:prstGeom prst="ellipse">
            <a:avLst/>
          </a:prstGeom>
          <a:solidFill>
            <a:schemeClr val="accent1"/>
          </a:solidFill>
          <a:ln/>
        </p:spPr>
      </p:sp>
      <p:sp>
        <p:nvSpPr>
          <p:cNvPr id="15" name="Text 13"/>
          <p:cNvSpPr txBox="1"/>
          <p:nvPr/>
        </p:nvSpPr>
        <p:spPr>
          <a:xfrm>
            <a:off x="6391656" y="1737360"/>
            <a:ext cx="420624" cy="420624"/>
          </a:xfrm>
          <a:prstGeom prst="rect">
            <a:avLst/>
          </a:prstGeom>
          <a:noFill/>
          <a:ln/>
        </p:spPr>
        <p:txBody>
          <a:bodyPr wrap="square" lIns="0" tIns="0" rIns="0" bIns="0" rtlCol="0" anchor="ctr"/>
          <a:lstStyle/>
          <a:p>
            <a:pPr algn="ctr" indent="0" marL="0">
              <a:buNone/>
            </a:pPr>
            <a:r>
              <a:rPr lang="en-US" sz="1600" b="1" dirty="0">
                <a:solidFill>
                  <a:schemeClr val="tx1"/>
                </a:solidFill>
              </a:rPr>
              <a:t>3</a:t>
            </a:r>
            <a:endParaRPr lang="en-US" sz="1600" dirty="0"/>
          </a:p>
        </p:txBody>
      </p:sp>
      <p:sp>
        <p:nvSpPr>
          <p:cNvPr id="16" name="Text 14"/>
          <p:cNvSpPr txBox="1"/>
          <p:nvPr/>
        </p:nvSpPr>
        <p:spPr>
          <a:xfrm>
            <a:off x="6391656" y="2331720"/>
            <a:ext cx="2103120" cy="640080"/>
          </a:xfrm>
          <a:prstGeom prst="rect">
            <a:avLst/>
          </a:prstGeom>
          <a:noFill/>
          <a:ln/>
        </p:spPr>
        <p:txBody>
          <a:bodyPr wrap="square" lIns="0" tIns="0" rIns="0" bIns="0" rtlCol="0" anchor="t"/>
          <a:lstStyle/>
          <a:p>
            <a:pPr indent="0" marL="0">
              <a:buNone/>
            </a:pPr>
            <a:r>
              <a:rPr lang="en-US" sz="1800" b="1" dirty="0">
                <a:solidFill>
                  <a:schemeClr val="tx1"/>
                </a:solidFill>
              </a:rPr>
              <a:t>Stage 1 worked, partly</a:t>
            </a:r>
            <a:endParaRPr lang="en-US" sz="1800" dirty="0"/>
          </a:p>
        </p:txBody>
      </p:sp>
      <p:sp>
        <p:nvSpPr>
          <p:cNvPr id="17" name="Text 15"/>
          <p:cNvSpPr txBox="1"/>
          <p:nvPr/>
        </p:nvSpPr>
        <p:spPr>
          <a:xfrm>
            <a:off x="6391656" y="3017520"/>
            <a:ext cx="2103120" cy="2560320"/>
          </a:xfrm>
          <a:prstGeom prst="rect">
            <a:avLst/>
          </a:prstGeom>
          <a:noFill/>
          <a:ln/>
        </p:spPr>
        <p:txBody>
          <a:bodyPr wrap="square" lIns="0" tIns="0" rIns="0" bIns="0" rtlCol="0" anchor="t"/>
          <a:lstStyle/>
          <a:p>
            <a:pPr indent="0" marL="0">
              <a:buNone/>
            </a:pPr>
            <a:r>
              <a:rPr lang="en-US" sz="1400" dirty="0">
                <a:solidFill>
                  <a:schemeClr val="tx2"/>
                </a:solidFill>
              </a:rPr>
              <a:t>Arm locked, forward-only: ball popped onto the net 99.4%, but the robot hit at 1.23 m/s and 32% of balls were carried out of the 3 m arena.</a:t>
            </a:r>
            <a:endParaRPr lang="en-US" sz="1400" dirty="0"/>
          </a:p>
        </p:txBody>
      </p:sp>
      <p:sp>
        <p:nvSpPr>
          <p:cNvPr id="18" name="Shape 16"/>
          <p:cNvSpPr/>
          <p:nvPr/>
        </p:nvSpPr>
        <p:spPr>
          <a:xfrm>
            <a:off x="8970264" y="1463040"/>
            <a:ext cx="2560320" cy="4206240"/>
          </a:xfrm>
          <a:prstGeom prst="roundRect">
            <a:avLst>
              <a:gd name="adj" fmla="val 2857"/>
            </a:avLst>
          </a:prstGeom>
          <a:solidFill>
            <a:schemeClr val="bg2"/>
          </a:solidFill>
          <a:ln/>
        </p:spPr>
      </p:sp>
      <p:sp>
        <p:nvSpPr>
          <p:cNvPr id="19" name="Shape 17"/>
          <p:cNvSpPr/>
          <p:nvPr/>
        </p:nvSpPr>
        <p:spPr>
          <a:xfrm>
            <a:off x="9198864" y="1737360"/>
            <a:ext cx="420624" cy="420624"/>
          </a:xfrm>
          <a:prstGeom prst="ellipse">
            <a:avLst/>
          </a:prstGeom>
          <a:solidFill>
            <a:schemeClr val="accent3"/>
          </a:solidFill>
          <a:ln/>
        </p:spPr>
      </p:sp>
      <p:sp>
        <p:nvSpPr>
          <p:cNvPr id="20" name="Text 18"/>
          <p:cNvSpPr txBox="1"/>
          <p:nvPr/>
        </p:nvSpPr>
        <p:spPr>
          <a:xfrm>
            <a:off x="9198864" y="1737360"/>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21" name="Text 19"/>
          <p:cNvSpPr txBox="1"/>
          <p:nvPr/>
        </p:nvSpPr>
        <p:spPr>
          <a:xfrm>
            <a:off x="9198864" y="2331720"/>
            <a:ext cx="2103120" cy="640080"/>
          </a:xfrm>
          <a:prstGeom prst="rect">
            <a:avLst/>
          </a:prstGeom>
          <a:noFill/>
          <a:ln/>
        </p:spPr>
        <p:txBody>
          <a:bodyPr wrap="square" lIns="0" tIns="0" rIns="0" bIns="0" rtlCol="0" anchor="t"/>
          <a:lstStyle/>
          <a:p>
            <a:pPr indent="0" marL="0">
              <a:buNone/>
            </a:pPr>
            <a:r>
              <a:rPr lang="en-US" sz="1800" b="1" dirty="0">
                <a:solidFill>
                  <a:schemeClr val="tx1"/>
                </a:solidFill>
              </a:rPr>
              <a:t>Stage 2 failed</a:t>
            </a:r>
            <a:endParaRPr lang="en-US" sz="1800" dirty="0"/>
          </a:p>
        </p:txBody>
      </p:sp>
      <p:sp>
        <p:nvSpPr>
          <p:cNvPr id="22" name="Text 20"/>
          <p:cNvSpPr txBox="1"/>
          <p:nvPr/>
        </p:nvSpPr>
        <p:spPr>
          <a:xfrm>
            <a:off x="9198864" y="3017520"/>
            <a:ext cx="2103120" cy="2560320"/>
          </a:xfrm>
          <a:prstGeom prst="rect">
            <a:avLst/>
          </a:prstGeom>
          <a:noFill/>
          <a:ln/>
        </p:spPr>
        <p:txBody>
          <a:bodyPr wrap="square" lIns="0" tIns="0" rIns="0" bIns="0" rtlCol="0" anchor="t"/>
          <a:lstStyle/>
          <a:p>
            <a:pPr indent="0" marL="0">
              <a:buNone/>
            </a:pPr>
            <a:r>
              <a:rPr lang="en-US" sz="1400" dirty="0">
                <a:solidFill>
                  <a:schemeClr val="tx2"/>
                </a:solidFill>
              </a:rPr>
              <a:t>Unlocking the arm: untrained arm outputs raised the stick before impact. We stopped and switched to an open-loop trajectory (residual RL kept for later).</a:t>
            </a:r>
            <a:endParaRPr lang="en-US" sz="1400" dirty="0"/>
          </a:p>
        </p:txBody>
      </p:sp>
      <p:sp>
        <p:nvSpPr>
          <p:cNvPr id="25" name="Slide Number Placeholder 0"/>
          <p:cNvSpPr>
            <a:spLocks noGrp="1"/>
          </p:cNvSpPr>
          <p:nvPr>
            <p:ph type="sldNum" sz="quarter" idx="4294967295"/>
          </p:nvPr>
        </p:nvSpPr>
        <p:spPr>
          <a:xfrm>
            <a:off x="1136873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31520"/>
          </a:xfrm>
          <a:prstGeom prst="rect">
            <a:avLst/>
          </a:prstGeom>
          <a:noFill/>
          <a:ln/>
        </p:spPr>
        <p:txBody>
          <a:bodyPr wrap="square" lIns="0" tIns="0" rIns="0" bIns="0" rtlCol="0" anchor="ctr"/>
          <a:lstStyle/>
          <a:p>
            <a:pPr algn="l" indent="0" marL="0">
              <a:buNone/>
            </a:pPr>
            <a:r>
              <a:rPr lang="en-US" sz="3000" b="1" dirty="0">
                <a:solidFill>
                  <a:schemeClr val="tx1"/>
                </a:solidFill>
              </a:rPr>
              <a:t>The scoop is a 5-parameter open-loop trajectory found by grid search</a:t>
            </a:r>
            <a:endParaRPr lang="en-US" sz="3000" dirty="0"/>
          </a:p>
        </p:txBody>
      </p:sp>
      <p:sp>
        <p:nvSpPr>
          <p:cNvPr id="3" name="Shape 1"/>
          <p:cNvSpPr/>
          <p:nvPr/>
        </p:nvSpPr>
        <p:spPr>
          <a:xfrm>
            <a:off x="548640" y="1417320"/>
            <a:ext cx="2514600" cy="548640"/>
          </a:xfrm>
          <a:prstGeom prst="chevron">
            <a:avLst/>
          </a:prstGeom>
          <a:solidFill>
            <a:schemeClr val="tx2"/>
          </a:solidFill>
          <a:ln/>
        </p:spPr>
      </p:sp>
      <p:sp>
        <p:nvSpPr>
          <p:cNvPr id="4" name="Text 2"/>
          <p:cNvSpPr txBox="1"/>
          <p:nvPr/>
        </p:nvSpPr>
        <p:spPr>
          <a:xfrm>
            <a:off x="822960" y="1417320"/>
            <a:ext cx="1965960" cy="548640"/>
          </a:xfrm>
          <a:prstGeom prst="rect">
            <a:avLst/>
          </a:prstGeom>
          <a:noFill/>
          <a:ln/>
        </p:spPr>
        <p:txBody>
          <a:bodyPr wrap="square" lIns="0" tIns="0" rIns="0" bIns="0" rtlCol="0" anchor="ctr"/>
          <a:lstStyle/>
          <a:p>
            <a:pPr algn="ctr" indent="0" marL="0">
              <a:buNone/>
            </a:pPr>
            <a:r>
              <a:rPr lang="en-US" sz="1600" b="1" dirty="0">
                <a:solidFill>
                  <a:schemeClr val="bg1"/>
                </a:solidFill>
              </a:rPr>
              <a:t>Drive</a:t>
            </a:r>
            <a:endParaRPr lang="en-US" sz="1600" dirty="0"/>
          </a:p>
        </p:txBody>
      </p:sp>
      <p:sp>
        <p:nvSpPr>
          <p:cNvPr id="5" name="Text 3"/>
          <p:cNvSpPr txBox="1"/>
          <p:nvPr/>
        </p:nvSpPr>
        <p:spPr>
          <a:xfrm>
            <a:off x="548640" y="2057400"/>
            <a:ext cx="2514600" cy="548640"/>
          </a:xfrm>
          <a:prstGeom prst="rect">
            <a:avLst/>
          </a:prstGeom>
          <a:noFill/>
          <a:ln/>
        </p:spPr>
        <p:txBody>
          <a:bodyPr wrap="square" lIns="0" tIns="0" rIns="0" bIns="0" rtlCol="0" anchor="t"/>
          <a:lstStyle/>
          <a:p>
            <a:pPr algn="ctr" indent="0" marL="0">
              <a:buNone/>
            </a:pPr>
            <a:r>
              <a:rPr lang="en-US" sz="1400" dirty="0">
                <a:solidFill>
                  <a:schemeClr val="tx1"/>
                </a:solidFill>
              </a:rPr>
              <a:t>ramp to v = 0.9 m/s</a:t>
            </a:r>
            <a:endParaRPr lang="en-US" sz="1400" dirty="0"/>
          </a:p>
        </p:txBody>
      </p:sp>
      <p:sp>
        <p:nvSpPr>
          <p:cNvPr id="6" name="Shape 4"/>
          <p:cNvSpPr/>
          <p:nvPr/>
        </p:nvSpPr>
        <p:spPr>
          <a:xfrm>
            <a:off x="3355848" y="1417320"/>
            <a:ext cx="2514600" cy="548640"/>
          </a:xfrm>
          <a:prstGeom prst="chevron">
            <a:avLst/>
          </a:prstGeom>
          <a:solidFill>
            <a:schemeClr val="tx2"/>
          </a:solidFill>
          <a:ln/>
        </p:spPr>
      </p:sp>
      <p:sp>
        <p:nvSpPr>
          <p:cNvPr id="7" name="Text 5"/>
          <p:cNvSpPr txBox="1"/>
          <p:nvPr/>
        </p:nvSpPr>
        <p:spPr>
          <a:xfrm>
            <a:off x="3630168" y="1417320"/>
            <a:ext cx="1965960" cy="548640"/>
          </a:xfrm>
          <a:prstGeom prst="rect">
            <a:avLst/>
          </a:prstGeom>
          <a:noFill/>
          <a:ln/>
        </p:spPr>
        <p:txBody>
          <a:bodyPr wrap="square" lIns="0" tIns="0" rIns="0" bIns="0" rtlCol="0" anchor="ctr"/>
          <a:lstStyle/>
          <a:p>
            <a:pPr algn="ctr" indent="0" marL="0">
              <a:buNone/>
            </a:pPr>
            <a:r>
              <a:rPr lang="en-US" sz="1600" b="1" dirty="0">
                <a:solidFill>
                  <a:schemeClr val="bg1"/>
                </a:solidFill>
              </a:rPr>
              <a:t>Press</a:t>
            </a:r>
            <a:endParaRPr lang="en-US" sz="1600" dirty="0"/>
          </a:p>
        </p:txBody>
      </p:sp>
      <p:sp>
        <p:nvSpPr>
          <p:cNvPr id="8" name="Text 6"/>
          <p:cNvSpPr txBox="1"/>
          <p:nvPr/>
        </p:nvSpPr>
        <p:spPr>
          <a:xfrm>
            <a:off x="3355848" y="2057400"/>
            <a:ext cx="2514600" cy="548640"/>
          </a:xfrm>
          <a:prstGeom prst="rect">
            <a:avLst/>
          </a:prstGeom>
          <a:noFill/>
          <a:ln/>
        </p:spPr>
        <p:txBody>
          <a:bodyPr wrap="square" lIns="0" tIns="0" rIns="0" bIns="0" rtlCol="0" anchor="t"/>
          <a:lstStyle/>
          <a:p>
            <a:pPr algn="ctr" indent="0" marL="0">
              <a:buNone/>
            </a:pPr>
            <a:r>
              <a:rPr lang="en-US" sz="1400" dirty="0">
                <a:solidFill>
                  <a:schemeClr val="tx1"/>
                </a:solidFill>
              </a:rPr>
              <a:t>elbow FF −1.0 N·m holds the lip on the floor</a:t>
            </a:r>
            <a:endParaRPr lang="en-US" sz="1400" dirty="0"/>
          </a:p>
        </p:txBody>
      </p:sp>
      <p:sp>
        <p:nvSpPr>
          <p:cNvPr id="9" name="Shape 7"/>
          <p:cNvSpPr/>
          <p:nvPr/>
        </p:nvSpPr>
        <p:spPr>
          <a:xfrm>
            <a:off x="6163056" y="1417320"/>
            <a:ext cx="2514600" cy="548640"/>
          </a:xfrm>
          <a:prstGeom prst="chevron">
            <a:avLst/>
          </a:prstGeom>
          <a:solidFill>
            <a:schemeClr val="accent2"/>
          </a:solidFill>
          <a:ln/>
        </p:spPr>
      </p:sp>
      <p:sp>
        <p:nvSpPr>
          <p:cNvPr id="10" name="Text 8"/>
          <p:cNvSpPr txBox="1"/>
          <p:nvPr/>
        </p:nvSpPr>
        <p:spPr>
          <a:xfrm>
            <a:off x="6437376" y="1417320"/>
            <a:ext cx="1965960" cy="548640"/>
          </a:xfrm>
          <a:prstGeom prst="rect">
            <a:avLst/>
          </a:prstGeom>
          <a:noFill/>
          <a:ln/>
        </p:spPr>
        <p:txBody>
          <a:bodyPr wrap="square" lIns="0" tIns="0" rIns="0" bIns="0" rtlCol="0" anchor="ctr"/>
          <a:lstStyle/>
          <a:p>
            <a:pPr algn="ctr" indent="0" marL="0">
              <a:buNone/>
            </a:pPr>
            <a:r>
              <a:rPr lang="en-US" sz="1600" b="1" dirty="0">
                <a:solidFill>
                  <a:schemeClr val="bg1"/>
                </a:solidFill>
              </a:rPr>
              <a:t>Lift</a:t>
            </a:r>
            <a:endParaRPr lang="en-US" sz="1600" dirty="0"/>
          </a:p>
        </p:txBody>
      </p:sp>
      <p:sp>
        <p:nvSpPr>
          <p:cNvPr id="11" name="Text 9"/>
          <p:cNvSpPr txBox="1"/>
          <p:nvPr/>
        </p:nvSpPr>
        <p:spPr>
          <a:xfrm>
            <a:off x="6163056" y="2057400"/>
            <a:ext cx="2514600" cy="548640"/>
          </a:xfrm>
          <a:prstGeom prst="rect">
            <a:avLst/>
          </a:prstGeom>
          <a:noFill/>
          <a:ln/>
        </p:spPr>
        <p:txBody>
          <a:bodyPr wrap="square" lIns="0" tIns="0" rIns="0" bIns="0" rtlCol="0" anchor="t"/>
          <a:lstStyle/>
          <a:p>
            <a:pPr algn="ctr" indent="0" marL="0">
              <a:buNone/>
            </a:pPr>
            <a:r>
              <a:rPr lang="en-US" sz="1400" dirty="0">
                <a:solidFill>
                  <a:schemeClr val="tx1"/>
                </a:solidFill>
              </a:rPr>
              <a:t>at t = 0.9 s, 1 rad/s ramp: shoulder +0.3, elbow +0.7 rad</a:t>
            </a:r>
            <a:endParaRPr lang="en-US" sz="1400" dirty="0"/>
          </a:p>
        </p:txBody>
      </p:sp>
      <p:sp>
        <p:nvSpPr>
          <p:cNvPr id="12" name="Shape 10"/>
          <p:cNvSpPr/>
          <p:nvPr/>
        </p:nvSpPr>
        <p:spPr>
          <a:xfrm>
            <a:off x="8970264" y="1417320"/>
            <a:ext cx="2514600" cy="548640"/>
          </a:xfrm>
          <a:prstGeom prst="chevron">
            <a:avLst/>
          </a:prstGeom>
          <a:solidFill>
            <a:schemeClr val="tx2"/>
          </a:solidFill>
          <a:ln/>
        </p:spPr>
      </p:sp>
      <p:sp>
        <p:nvSpPr>
          <p:cNvPr id="13" name="Text 11"/>
          <p:cNvSpPr txBox="1"/>
          <p:nvPr/>
        </p:nvSpPr>
        <p:spPr>
          <a:xfrm>
            <a:off x="9244584" y="1417320"/>
            <a:ext cx="1965960" cy="548640"/>
          </a:xfrm>
          <a:prstGeom prst="rect">
            <a:avLst/>
          </a:prstGeom>
          <a:noFill/>
          <a:ln/>
        </p:spPr>
        <p:txBody>
          <a:bodyPr wrap="square" lIns="0" tIns="0" rIns="0" bIns="0" rtlCol="0" anchor="ctr"/>
          <a:lstStyle/>
          <a:p>
            <a:pPr algn="ctr" indent="0" marL="0">
              <a:buNone/>
            </a:pPr>
            <a:r>
              <a:rPr lang="en-US" sz="1600" b="1" dirty="0">
                <a:solidFill>
                  <a:schemeClr val="bg1"/>
                </a:solidFill>
              </a:rPr>
              <a:t>Brake</a:t>
            </a:r>
            <a:endParaRPr lang="en-US" sz="1600" dirty="0"/>
          </a:p>
        </p:txBody>
      </p:sp>
      <p:sp>
        <p:nvSpPr>
          <p:cNvPr id="14" name="Text 12"/>
          <p:cNvSpPr txBox="1"/>
          <p:nvPr/>
        </p:nvSpPr>
        <p:spPr>
          <a:xfrm>
            <a:off x="8970264" y="2057400"/>
            <a:ext cx="2514600" cy="548640"/>
          </a:xfrm>
          <a:prstGeom prst="rect">
            <a:avLst/>
          </a:prstGeom>
          <a:noFill/>
          <a:ln/>
        </p:spPr>
        <p:txBody>
          <a:bodyPr wrap="square" lIns="0" tIns="0" rIns="0" bIns="0" rtlCol="0" anchor="t"/>
          <a:lstStyle/>
          <a:p>
            <a:pPr algn="ctr" indent="0" marL="0">
              <a:buNone/>
            </a:pPr>
            <a:r>
              <a:rPr lang="en-US" sz="1400" dirty="0">
                <a:solidFill>
                  <a:schemeClr val="tx1"/>
                </a:solidFill>
              </a:rPr>
              <a:t>stop driving 1.0 s after lift</a:t>
            </a:r>
            <a:endParaRPr lang="en-US" sz="1400" dirty="0"/>
          </a:p>
        </p:txBody>
      </p:sp>
      <p:pic>
        <p:nvPicPr>
          <p:cNvPr id="15" name="timeseries" descr="/tmp/claude-1000/-home-yifan-IsaacLab/02e1a1d7-61f9-5921-a435-b68e19ec6560/scratchpad/deck/img/trajectory_timeseries.png">    </p:cNvPr>
          <p:cNvPicPr>
            <a:picLocks noChangeAspect="1"/>
          </p:cNvPicPr>
          <p:nvPr/>
        </p:nvPicPr>
        <p:blipFill>
          <a:blip r:embed="rId1"/>
          <a:stretch>
            <a:fillRect/>
          </a:stretch>
        </p:blipFill>
        <p:spPr>
          <a:xfrm>
            <a:off x="548640" y="2788920"/>
            <a:ext cx="4047027" cy="3822192"/>
          </a:xfrm>
          <a:prstGeom prst="rect">
            <a:avLst/>
          </a:prstGeom>
        </p:spPr>
      </p:pic>
      <p:sp>
        <p:nvSpPr>
          <p:cNvPr id="16" name="Text 13"/>
          <p:cNvSpPr txBox="1"/>
          <p:nvPr/>
        </p:nvSpPr>
        <p:spPr>
          <a:xfrm>
            <a:off x="5029200" y="2834640"/>
            <a:ext cx="6613855" cy="3474720"/>
          </a:xfrm>
          <a:prstGeom prst="rect">
            <a:avLst/>
          </a:prstGeom>
          <a:noFill/>
          <a:ln/>
        </p:spPr>
        <p:txBody>
          <a:bodyPr wrap="square" lIns="0" tIns="0" rIns="0" bIns="0" rtlCol="0" anchor="t"/>
          <a:lstStyle/>
          <a:p>
            <a:pPr indent="0" marL="0">
              <a:spcAft>
                <a:spcPts val="800"/>
              </a:spcAft>
              <a:buNone/>
            </a:pPr>
            <a:r>
              <a:rPr lang="en-US" sz="1800" b="1" dirty="0">
                <a:solidFill>
                  <a:schemeClr val="tx1"/>
                </a:solidFill>
              </a:rPr>
              <a:t>How the search works</a:t>
            </a:r>
            <a:endParaRPr lang="en-US" sz="1400" dirty="0"/>
          </a:p>
          <a:p>
            <a:pPr marL="342900" indent="-342900">
              <a:spcAft>
                <a:spcPts val="800"/>
              </a:spcAft>
              <a:buSzPct val="100000"/>
              <a:buChar char="•"/>
            </a:pPr>
            <a:r>
              <a:rPr lang="en-US" sz="1400" dirty="0">
                <a:solidFill>
                  <a:schemeClr val="tx2"/>
                </a:solidFill>
              </a:rPr>
              <a:t>Grid over speed, lift time, lift rate, joint targets, brake delay and press torque; each combo run in many parallel envs</a:t>
            </a:r>
            <a:endParaRPr lang="en-US" sz="1400" dirty="0"/>
          </a:p>
          <a:p>
            <a:pPr marL="342900" indent="-342900">
              <a:spcAft>
                <a:spcPts val="800"/>
              </a:spcAft>
              <a:buSzPct val="100000"/>
              <a:buChar char="•"/>
            </a:pPr>
            <a:r>
              <a:rPr lang="en-US" sz="1400" dirty="0">
                <a:solidFill>
                  <a:schemeClr val="tx2"/>
                </a:solidFill>
              </a:rPr>
              <a:t>Top combos re-validated with 150–500 randomized runs</a:t>
            </a:r>
            <a:endParaRPr lang="en-US" sz="1400" dirty="0"/>
          </a:p>
          <a:p>
            <a:pPr marL="342900" indent="-342900">
              <a:spcAft>
                <a:spcPts val="800"/>
              </a:spcAft>
              <a:buSzPct val="100000"/>
              <a:buChar char="•"/>
            </a:pPr>
            <a:r>
              <a:rPr lang="en-US" sz="1400" dirty="0">
                <a:solidFill>
                  <a:schemeClr val="tx2"/>
                </a:solidFill>
              </a:rPr>
              <a:t>Final grid run with every uncertainty knob on, so the winner is robust by construction</a:t>
            </a:r>
            <a:endParaRPr lang="en-US" sz="1400" dirty="0"/>
          </a:p>
          <a:p>
            <a:pPr marL="342900" indent="-342900">
              <a:spcAft>
                <a:spcPts val="800"/>
              </a:spcAft>
              <a:buSzPct val="100000"/>
              <a:buChar char="•"/>
            </a:pPr>
            <a:r>
              <a:rPr lang="en-US" sz="1400" b="1" dirty="0">
                <a:solidFill>
                  <a:schemeClr val="tx2"/>
                </a:solidFill>
              </a:rPr>
              <a:t>Key finding: the lip must be on the floor at impact. Lifting it 5 mm drops success to ~0%</a:t>
            </a:r>
            <a:endParaRPr lang="en-US" sz="1400" dirty="0"/>
          </a:p>
        </p:txBody>
      </p:sp>
      <p:sp>
        <p:nvSpPr>
          <p:cNvPr id="25" name="Slide Number Placeholder 0"/>
          <p:cNvSpPr>
            <a:spLocks noGrp="1"/>
          </p:cNvSpPr>
          <p:nvPr>
            <p:ph type="sldNum" sz="quarter" idx="4294967295"/>
          </p:nvPr>
        </p:nvSpPr>
        <p:spPr>
          <a:xfrm>
            <a:off x="1136873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31520"/>
          </a:xfrm>
          <a:prstGeom prst="rect">
            <a:avLst/>
          </a:prstGeom>
          <a:noFill/>
          <a:ln/>
        </p:spPr>
        <p:txBody>
          <a:bodyPr wrap="square" lIns="0" tIns="0" rIns="0" bIns="0" rtlCol="0" anchor="ctr"/>
          <a:lstStyle/>
          <a:p>
            <a:pPr algn="l" indent="0" marL="0">
              <a:buNone/>
            </a:pPr>
            <a:r>
              <a:rPr lang="en-US" sz="3000" b="1" dirty="0">
                <a:solidFill>
                  <a:schemeClr val="tx1"/>
                </a:solidFill>
              </a:rPr>
              <a:t>We started deterministic and added randomization step by step</a:t>
            </a:r>
            <a:endParaRPr lang="en-US" sz="3000" dirty="0"/>
          </a:p>
        </p:txBody>
      </p:sp>
      <p:graphicFrame>
        <p:nvGraphicFramePr>
          <p:cNvPr id="8" name="ladder-table"/>
          <p:cNvGraphicFramePr>
            <a:graphicFrameLocks noGrp="1"/>
          </p:cNvGraphicFramePr>
          <p:nvPr>
            <p:extLst>
              <p:ext uri="{D42A27DB-BD31-4B8C-83A1-F6EECF244321}">
                <p14:modId xmlns:p14="http://schemas.microsoft.com/office/powerpoint/2010/main" val="1579011935"/>
              </p:ext>
            </p:extLst>
          </p:nvPr>
        </p:nvGraphicFramePr>
        <p:xfrm>
          <a:off x="548640" y="1325880"/>
          <a:ext cx="11094415" cy="914400"/>
        </p:xfrm>
        <a:graphic>
          <a:graphicData uri="http://schemas.openxmlformats.org/drawingml/2006/table">
            <a:tbl>
              <a:tblPr/>
              <a:tblGrid>
                <a:gridCol w="457200"/>
                <a:gridCol w="3657600"/>
                <a:gridCol w="5394960"/>
                <a:gridCol w="1584655"/>
              </a:tblGrid>
              <a:tr h="384048">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91440" marR="91440" marT="45720" marB="45720" anchor="ctr">
                    <a:lnL w="9525" cap="flat" cmpd="sng" algn="ctr">
                      <a:solidFill>
                        <a:srgbClr val="D5D9DC"/>
                      </a:solidFill>
                      <a:prstDash val="solid"/>
                      <a:round/>
                      <a:headEnd type="none" w="med" len="med"/>
                      <a:tailEnd type="none" w="med" len="med"/>
                    </a:lnL>
                    <a:lnR w="9525" cap="flat" cmpd="sng" algn="ctr">
                      <a:solidFill>
                        <a:srgbClr val="D5D9DC"/>
                      </a:solidFill>
                      <a:prstDash val="solid"/>
                      <a:round/>
                      <a:headEnd type="none" w="med" len="med"/>
                      <a:tailEnd type="none" w="med" len="med"/>
                    </a:lnR>
                    <a:lnT w="9525" cap="flat" cmpd="sng" algn="ctr">
                      <a:solidFill>
                        <a:srgbClr val="D5D9DC"/>
                      </a:solidFill>
                      <a:prstDash val="solid"/>
                      <a:round/>
                      <a:headEnd type="none" w="med" len="med"/>
                      <a:tailEnd type="none" w="med" len="med"/>
                    </a:lnT>
                    <a:lnB w="9525" cap="flat" cmpd="sng" algn="ctr">
                      <a:solidFill>
                        <a:srgbClr val="D5D9DC"/>
                      </a:solidFill>
                      <a:prstDash val="solid"/>
                      <a:round/>
                      <a:headEnd type="none" w="med" len="med"/>
                      <a:tailEnd type="none" w="med" len="med"/>
                    </a:lnB>
                    <a:solidFill>
                      <a:srgbClr val="3A4149"/>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Added</a:t>
                      </a:r>
                      <a:endParaRPr lang="en-US" sz="1300" dirty="0">
                        <a:latin typeface="Calibri" charset="0"/>
                        <a:ea typeface="Calibri" charset="0"/>
                        <a:cs typeface="Calibri" charset="0"/>
                      </a:endParaRPr>
                    </a:p>
                  </a:txBody>
                  <a:tcPr marL="91440" marR="91440" marT="45720" marB="45720" anchor="ctr">
                    <a:lnL w="9525" cap="flat" cmpd="sng" algn="ctr">
                      <a:solidFill>
                        <a:srgbClr val="D5D9DC"/>
                      </a:solidFill>
                      <a:prstDash val="solid"/>
                      <a:round/>
                      <a:headEnd type="none" w="med" len="med"/>
                      <a:tailEnd type="none" w="med" len="med"/>
                    </a:lnL>
                    <a:lnR w="9525" cap="flat" cmpd="sng" algn="ctr">
                      <a:solidFill>
                        <a:srgbClr val="D5D9DC"/>
                      </a:solidFill>
                      <a:prstDash val="solid"/>
                      <a:round/>
                      <a:headEnd type="none" w="med" len="med"/>
                      <a:tailEnd type="none" w="med" len="med"/>
                    </a:lnR>
                    <a:lnT w="9525" cap="flat" cmpd="sng" algn="ctr">
                      <a:solidFill>
                        <a:srgbClr val="D5D9DC"/>
                      </a:solidFill>
                      <a:prstDash val="solid"/>
                      <a:round/>
                      <a:headEnd type="none" w="med" len="med"/>
                      <a:tailEnd type="none" w="med" len="med"/>
                    </a:lnT>
                    <a:lnB w="9525" cap="flat" cmpd="sng" algn="ctr">
                      <a:solidFill>
                        <a:srgbClr val="D5D9DC"/>
                      </a:solidFill>
                      <a:prstDash val="solid"/>
                      <a:round/>
                      <a:headEnd type="none" w="med" len="med"/>
                      <a:tailEnd type="none" w="med" len="med"/>
                    </a:lnB>
                    <a:solidFill>
                      <a:srgbClr val="3A4149"/>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Range / model</a:t>
                      </a:r>
                      <a:endParaRPr lang="en-US" sz="1300" dirty="0">
                        <a:latin typeface="Calibri" charset="0"/>
                        <a:ea typeface="Calibri" charset="0"/>
                        <a:cs typeface="Calibri" charset="0"/>
                      </a:endParaRPr>
                    </a:p>
                  </a:txBody>
                  <a:tcPr marL="91440" marR="91440" marT="45720" marB="45720" anchor="ctr">
                    <a:lnL w="9525" cap="flat" cmpd="sng" algn="ctr">
                      <a:solidFill>
                        <a:srgbClr val="D5D9DC"/>
                      </a:solidFill>
                      <a:prstDash val="solid"/>
                      <a:round/>
                      <a:headEnd type="none" w="med" len="med"/>
                      <a:tailEnd type="none" w="med" len="med"/>
                    </a:lnL>
                    <a:lnR w="9525" cap="flat" cmpd="sng" algn="ctr">
                      <a:solidFill>
                        <a:srgbClr val="D5D9DC"/>
                      </a:solidFill>
                      <a:prstDash val="solid"/>
                      <a:round/>
                      <a:headEnd type="none" w="med" len="med"/>
                      <a:tailEnd type="none" w="med" len="med"/>
                    </a:lnR>
                    <a:lnT w="9525" cap="flat" cmpd="sng" algn="ctr">
                      <a:solidFill>
                        <a:srgbClr val="D5D9DC"/>
                      </a:solidFill>
                      <a:prstDash val="solid"/>
                      <a:round/>
                      <a:headEnd type="none" w="med" len="med"/>
                      <a:tailEnd type="none" w="med" len="med"/>
                    </a:lnT>
                    <a:lnB w="9525" cap="flat" cmpd="sng" algn="ctr">
                      <a:solidFill>
                        <a:srgbClr val="D5D9DC"/>
                      </a:solidFill>
                      <a:prstDash val="solid"/>
                      <a:round/>
                      <a:headEnd type="none" w="med" len="med"/>
                      <a:tailEnd type="none" w="med" len="med"/>
                    </a:lnB>
                    <a:solidFill>
                      <a:srgbClr val="3A4149"/>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Success</a:t>
                      </a:r>
                      <a:endParaRPr lang="en-US" sz="1300" dirty="0">
                        <a:latin typeface="Calibri" charset="0"/>
                        <a:ea typeface="Calibri" charset="0"/>
                        <a:cs typeface="Calibri" charset="0"/>
                      </a:endParaRPr>
                    </a:p>
                  </a:txBody>
                  <a:tcPr marL="91440" marR="91440" marT="45720" marB="45720" anchor="ctr">
                    <a:lnL w="9525" cap="flat" cmpd="sng" algn="ctr">
                      <a:solidFill>
                        <a:srgbClr val="D5D9DC"/>
                      </a:solidFill>
                      <a:prstDash val="solid"/>
                      <a:round/>
                      <a:headEnd type="none" w="med" len="med"/>
                      <a:tailEnd type="none" w="med" len="med"/>
                    </a:lnL>
                    <a:lnR w="9525" cap="flat" cmpd="sng" algn="ctr">
                      <a:solidFill>
                        <a:srgbClr val="D5D9DC"/>
                      </a:solidFill>
                      <a:prstDash val="solid"/>
                      <a:round/>
                      <a:headEnd type="none" w="med" len="med"/>
                      <a:tailEnd type="none" w="med" len="med"/>
                    </a:lnR>
                    <a:lnT w="9525" cap="flat" cmpd="sng" algn="ctr">
                      <a:solidFill>
                        <a:srgbClr val="D5D9DC"/>
                      </a:solidFill>
                      <a:prstDash val="solid"/>
                      <a:round/>
                      <a:headEnd type="none" w="med" len="med"/>
                      <a:tailEnd type="none" w="med" len="med"/>
                    </a:lnT>
                    <a:lnB w="9525" cap="flat" cmpd="sng" algn="ctr">
                      <a:solidFill>
                        <a:srgbClr val="D5D9DC"/>
                      </a:solidFill>
                      <a:prstDash val="solid"/>
                      <a:round/>
                      <a:headEnd type="none" w="med" len="med"/>
                      <a:tailEnd type="none" w="med" len="med"/>
                    </a:lnB>
                    <a:solidFill>
                      <a:srgbClr val="3A4149"/>
                    </a:solidFill>
                  </a:tcPr>
                </a:tc>
              </a:tr>
              <a:tr h="384048">
                <a:tc>
                  <a:txBody>
                    <a:bodyPr/>
                    <a:lstStyle/>
                    <a:p>
                      <a:pPr algn="ctr" indent="0" marL="0">
                        <a:buNone/>
                      </a:pPr>
                      <a:r>
                        <a:rPr lang="en-US" sz="1300" dirty="0">
                          <a:solidFill>
                            <a:srgbClr val="1E2226"/>
                          </a:solidFill>
                          <a:latin typeface="Calibri" pitchFamily="34" charset="0"/>
                          <a:ea typeface="Calibri" pitchFamily="34" charset="-122"/>
                          <a:cs typeface="Calibri" pitchFamily="34" charset="-120"/>
                        </a:rPr>
                        <a:t>0</a:t>
                      </a:r>
                      <a:endParaRPr lang="en-US" sz="1300" dirty="0">
                        <a:latin typeface="Calibri" charset="0"/>
                        <a:ea typeface="Calibri" charset="0"/>
                        <a:cs typeface="Calibri" charset="0"/>
                      </a:endParaRPr>
                    </a:p>
                  </a:txBody>
                  <a:tcPr marL="91440" marR="91440" marT="45720" marB="45720" anchor="ctr">
                    <a:lnL w="9525" cap="flat" cmpd="sng" algn="ctr">
                      <a:solidFill>
                        <a:srgbClr val="D5D9DC"/>
                      </a:solidFill>
                      <a:prstDash val="solid"/>
                      <a:round/>
                      <a:headEnd type="none" w="med" len="med"/>
                      <a:tailEnd type="none" w="med" len="med"/>
                    </a:lnL>
                    <a:lnR w="9525" cap="flat" cmpd="sng" algn="ctr">
                      <a:solidFill>
                        <a:srgbClr val="D5D9DC"/>
                      </a:solidFill>
                      <a:prstDash val="solid"/>
                      <a:round/>
                      <a:headEnd type="none" w="med" len="med"/>
                      <a:tailEnd type="none" w="med" len="med"/>
                    </a:lnR>
                    <a:lnT w="9525" cap="flat" cmpd="sng" algn="ctr">
                      <a:solidFill>
                        <a:srgbClr val="D5D9DC"/>
                      </a:solidFill>
                      <a:prstDash val="solid"/>
                      <a:round/>
                      <a:headEnd type="none" w="med" len="med"/>
                      <a:tailEnd type="none" w="med" len="med"/>
                    </a:lnT>
                    <a:lnB w="9525" cap="flat" cmpd="sng" algn="ctr">
                      <a:solidFill>
                        <a:srgbClr val="D5D9DC"/>
                      </a:solidFill>
                      <a:prstDash val="solid"/>
                      <a:round/>
                      <a:headEnd type="none" w="med" len="med"/>
                      <a:tailEnd type="none" w="med" len="med"/>
                    </a:lnB>
                  </a:tcPr>
                </a:tc>
                <a:tc>
                  <a:txBody>
                    <a:bodyPr/>
                    <a:lstStyle/>
                    <a:p>
                      <a:pPr indent="0" marL="0">
                        <a:buNone/>
                      </a:pPr>
                      <a:r>
                        <a:rPr lang="en-US" sz="1300" dirty="0">
                          <a:solidFill>
                            <a:srgbClr val="1E2226"/>
                          </a:solidFill>
                          <a:latin typeface="Calibri" pitchFamily="34" charset="0"/>
                          <a:ea typeface="Calibri" pitchFamily="34" charset="-122"/>
                          <a:cs typeface="Calibri" pitchFamily="34" charset="-120"/>
                        </a:rPr>
                        <a:t>Deterministic baseline (soft arm PD)</a:t>
                      </a:r>
                      <a:endParaRPr lang="en-US" sz="1300" dirty="0">
                        <a:latin typeface="Calibri" charset="0"/>
                        <a:ea typeface="Calibri" charset="0"/>
                        <a:cs typeface="Calibri" charset="0"/>
                      </a:endParaRPr>
                    </a:p>
                  </a:txBody>
                  <a:tcPr marL="91440" marR="91440" marT="45720" marB="45720" anchor="ctr">
                    <a:lnL w="9525" cap="flat" cmpd="sng" algn="ctr">
                      <a:solidFill>
                        <a:srgbClr val="D5D9DC"/>
                      </a:solidFill>
                      <a:prstDash val="solid"/>
                      <a:round/>
                      <a:headEnd type="none" w="med" len="med"/>
                      <a:tailEnd type="none" w="med" len="med"/>
                    </a:lnL>
                    <a:lnR w="9525" cap="flat" cmpd="sng" algn="ctr">
                      <a:solidFill>
                        <a:srgbClr val="D5D9DC"/>
                      </a:solidFill>
                      <a:prstDash val="solid"/>
                      <a:round/>
                      <a:headEnd type="none" w="med" len="med"/>
                      <a:tailEnd type="none" w="med" len="med"/>
                    </a:lnR>
                    <a:lnT w="9525" cap="flat" cmpd="sng" algn="ctr">
                      <a:solidFill>
                        <a:srgbClr val="D5D9DC"/>
                      </a:solidFill>
                      <a:prstDash val="solid"/>
                      <a:round/>
                      <a:headEnd type="none" w="med" len="med"/>
                      <a:tailEnd type="none" w="med" len="med"/>
                    </a:lnT>
                    <a:lnB w="9525" cap="flat" cmpd="sng" algn="ctr">
                      <a:solidFill>
                        <a:srgbClr val="D5D9DC"/>
                      </a:solidFill>
                      <a:prstDash val="solid"/>
                      <a:round/>
                      <a:headEnd type="none" w="med" len="med"/>
                      <a:tailEnd type="none" w="med" len="med"/>
                    </a:lnB>
                  </a:tcPr>
                </a:tc>
                <a:tc>
                  <a:txBody>
                    <a:bodyPr/>
                    <a:lstStyle/>
                    <a:p>
                      <a:pPr indent="0" marL="0">
                        <a:buNone/>
                      </a:pPr>
                      <a:r>
                        <a:rPr lang="en-US" sz="1300" dirty="0">
                          <a:solidFill>
                            <a:srgbClr val="1E2226"/>
                          </a:solidFill>
                          <a:latin typeface="Calibri" pitchFamily="34" charset="0"/>
                          <a:ea typeface="Calibri" pitchFamily="34" charset="-122"/>
                          <a:cs typeface="Calibri" pitchFamily="34" charset="-120"/>
                        </a:rPr>
                        <a:t>no slip, fixed 0.1 s lag, ball exactly 1.0 m dead ahead</a:t>
                      </a:r>
                      <a:endParaRPr lang="en-US" sz="1300" dirty="0">
                        <a:latin typeface="Calibri" charset="0"/>
                        <a:ea typeface="Calibri" charset="0"/>
                        <a:cs typeface="Calibri" charset="0"/>
                      </a:endParaRPr>
                    </a:p>
                  </a:txBody>
                  <a:tcPr marL="91440" marR="91440" marT="45720" marB="45720" anchor="ctr">
                    <a:lnL w="9525" cap="flat" cmpd="sng" algn="ctr">
                      <a:solidFill>
                        <a:srgbClr val="D5D9DC"/>
                      </a:solidFill>
                      <a:prstDash val="solid"/>
                      <a:round/>
                      <a:headEnd type="none" w="med" len="med"/>
                      <a:tailEnd type="none" w="med" len="med"/>
                    </a:lnL>
                    <a:lnR w="9525" cap="flat" cmpd="sng" algn="ctr">
                      <a:solidFill>
                        <a:srgbClr val="D5D9DC"/>
                      </a:solidFill>
                      <a:prstDash val="solid"/>
                      <a:round/>
                      <a:headEnd type="none" w="med" len="med"/>
                      <a:tailEnd type="none" w="med" len="med"/>
                    </a:lnR>
                    <a:lnT w="9525" cap="flat" cmpd="sng" algn="ctr">
                      <a:solidFill>
                        <a:srgbClr val="D5D9DC"/>
                      </a:solidFill>
                      <a:prstDash val="solid"/>
                      <a:round/>
                      <a:headEnd type="none" w="med" len="med"/>
                      <a:tailEnd type="none" w="med" len="med"/>
                    </a:lnT>
                    <a:lnB w="9525" cap="flat" cmpd="sng" algn="ctr">
                      <a:solidFill>
                        <a:srgbClr val="D5D9DC"/>
                      </a:solidFill>
                      <a:prstDash val="solid"/>
                      <a:round/>
                      <a:headEnd type="none" w="med" len="med"/>
                      <a:tailEnd type="none" w="med" len="med"/>
                    </a:lnB>
                  </a:tcPr>
                </a:tc>
                <a:tc>
                  <a:txBody>
                    <a:bodyPr/>
                    <a:lstStyle/>
                    <a:p>
                      <a:pPr algn="ctr" indent="0" marL="0">
                        <a:buNone/>
                      </a:pPr>
                      <a:r>
                        <a:rPr lang="en-US" sz="1300" dirty="0">
                          <a:solidFill>
                            <a:srgbClr val="1E2226"/>
                          </a:solidFill>
                          <a:latin typeface="Calibri" pitchFamily="34" charset="0"/>
                          <a:ea typeface="Calibri" pitchFamily="34" charset="-122"/>
                          <a:cs typeface="Calibri" pitchFamily="34" charset="-120"/>
                        </a:rPr>
                        <a:t>96.0%</a:t>
                      </a:r>
                      <a:endParaRPr lang="en-US" sz="1300" dirty="0">
                        <a:latin typeface="Calibri" charset="0"/>
                        <a:ea typeface="Calibri" charset="0"/>
                        <a:cs typeface="Calibri" charset="0"/>
                      </a:endParaRPr>
                    </a:p>
                  </a:txBody>
                  <a:tcPr marL="91440" marR="91440" marT="45720" marB="45720" anchor="ctr">
                    <a:lnL w="9525" cap="flat" cmpd="sng" algn="ctr">
                      <a:solidFill>
                        <a:srgbClr val="D5D9DC"/>
                      </a:solidFill>
                      <a:prstDash val="solid"/>
                      <a:round/>
                      <a:headEnd type="none" w="med" len="med"/>
                      <a:tailEnd type="none" w="med" len="med"/>
                    </a:lnL>
                    <a:lnR w="9525" cap="flat" cmpd="sng" algn="ctr">
                      <a:solidFill>
                        <a:srgbClr val="D5D9DC"/>
                      </a:solidFill>
                      <a:prstDash val="solid"/>
                      <a:round/>
                      <a:headEnd type="none" w="med" len="med"/>
                      <a:tailEnd type="none" w="med" len="med"/>
                    </a:lnR>
                    <a:lnT w="9525" cap="flat" cmpd="sng" algn="ctr">
                      <a:solidFill>
                        <a:srgbClr val="D5D9DC"/>
                      </a:solidFill>
                      <a:prstDash val="solid"/>
                      <a:round/>
                      <a:headEnd type="none" w="med" len="med"/>
                      <a:tailEnd type="none" w="med" len="med"/>
                    </a:lnT>
                    <a:lnB w="9525" cap="flat" cmpd="sng" algn="ctr">
                      <a:solidFill>
                        <a:srgbClr val="D5D9DC"/>
                      </a:solidFill>
                      <a:prstDash val="solid"/>
                      <a:round/>
                      <a:headEnd type="none" w="med" len="med"/>
                      <a:tailEnd type="none" w="med" len="med"/>
                    </a:lnB>
                  </a:tcPr>
                </a:tc>
              </a:tr>
              <a:tr h="384048">
                <a:tc>
                  <a:txBody>
                    <a:bodyPr/>
                    <a:lstStyle/>
                    <a:p>
                      <a:pPr algn="ctr" indent="0" marL="0">
                        <a:buNone/>
                      </a:pPr>
                      <a:r>
                        <a:rPr lang="en-US" sz="1300" dirty="0">
                          <a:solidFill>
                            <a:srgbClr val="1E2226"/>
                          </a:solidFill>
                          <a:latin typeface="Calibri" pitchFamily="34" charset="0"/>
                          <a:ea typeface="Calibri" pitchFamily="34" charset="-122"/>
                          <a:cs typeface="Calibri" pitchFamily="34" charset="-120"/>
                        </a:rPr>
                        <a:t>1</a:t>
                      </a:r>
                      <a:endParaRPr lang="en-US" sz="1300" dirty="0">
                        <a:latin typeface="Calibri" charset="0"/>
                        <a:ea typeface="Calibri" charset="0"/>
                        <a:cs typeface="Calibri" charset="0"/>
                      </a:endParaRPr>
                    </a:p>
                  </a:txBody>
                  <a:tcPr marL="91440" marR="91440" marT="45720" marB="45720" anchor="ctr">
                    <a:lnL w="9525" cap="flat" cmpd="sng" algn="ctr">
                      <a:solidFill>
                        <a:srgbClr val="D5D9DC"/>
                      </a:solidFill>
                      <a:prstDash val="solid"/>
                      <a:round/>
                      <a:headEnd type="none" w="med" len="med"/>
                      <a:tailEnd type="none" w="med" len="med"/>
                    </a:lnL>
                    <a:lnR w="9525" cap="flat" cmpd="sng" algn="ctr">
                      <a:solidFill>
                        <a:srgbClr val="D5D9DC"/>
                      </a:solidFill>
                      <a:prstDash val="solid"/>
                      <a:round/>
                      <a:headEnd type="none" w="med" len="med"/>
                      <a:tailEnd type="none" w="med" len="med"/>
                    </a:lnR>
                    <a:lnT w="9525" cap="flat" cmpd="sng" algn="ctr">
                      <a:solidFill>
                        <a:srgbClr val="D5D9DC"/>
                      </a:solidFill>
                      <a:prstDash val="solid"/>
                      <a:round/>
                      <a:headEnd type="none" w="med" len="med"/>
                      <a:tailEnd type="none" w="med" len="med"/>
                    </a:lnT>
                    <a:lnB w="9525" cap="flat" cmpd="sng" algn="ctr">
                      <a:solidFill>
                        <a:srgbClr val="D5D9DC"/>
                      </a:solidFill>
                      <a:prstDash val="solid"/>
                      <a:round/>
                      <a:headEnd type="none" w="med" len="med"/>
                      <a:tailEnd type="none" w="med" len="med"/>
                    </a:lnB>
                  </a:tcPr>
                </a:tc>
                <a:tc>
                  <a:txBody>
                    <a:bodyPr/>
                    <a:lstStyle/>
                    <a:p>
                      <a:pPr indent="0" marL="0">
                        <a:buNone/>
                      </a:pPr>
                      <a:r>
                        <a:rPr lang="en-US" sz="1300" dirty="0">
                          <a:solidFill>
                            <a:srgbClr val="1E2226"/>
                          </a:solidFill>
                          <a:latin typeface="Calibri" pitchFamily="34" charset="0"/>
                          <a:ea typeface="Calibri" pitchFamily="34" charset="-122"/>
                          <a:cs typeface="Calibri" pitchFamily="34" charset="-120"/>
                        </a:rPr>
                        <a:t>Real actuators and masses (fidelity)</a:t>
                      </a:r>
                      <a:endParaRPr lang="en-US" sz="1300" dirty="0">
                        <a:latin typeface="Calibri" charset="0"/>
                        <a:ea typeface="Calibri" charset="0"/>
                        <a:cs typeface="Calibri" charset="0"/>
                      </a:endParaRPr>
                    </a:p>
                  </a:txBody>
                  <a:tcPr marL="91440" marR="91440" marT="45720" marB="45720" anchor="ctr">
                    <a:lnL w="9525" cap="flat" cmpd="sng" algn="ctr">
                      <a:solidFill>
                        <a:srgbClr val="D5D9DC"/>
                      </a:solidFill>
                      <a:prstDash val="solid"/>
                      <a:round/>
                      <a:headEnd type="none" w="med" len="med"/>
                      <a:tailEnd type="none" w="med" len="med"/>
                    </a:lnL>
                    <a:lnR w="9525" cap="flat" cmpd="sng" algn="ctr">
                      <a:solidFill>
                        <a:srgbClr val="D5D9DC"/>
                      </a:solidFill>
                      <a:prstDash val="solid"/>
                      <a:round/>
                      <a:headEnd type="none" w="med" len="med"/>
                      <a:tailEnd type="none" w="med" len="med"/>
                    </a:lnR>
                    <a:lnT w="9525" cap="flat" cmpd="sng" algn="ctr">
                      <a:solidFill>
                        <a:srgbClr val="D5D9DC"/>
                      </a:solidFill>
                      <a:prstDash val="solid"/>
                      <a:round/>
                      <a:headEnd type="none" w="med" len="med"/>
                      <a:tailEnd type="none" w="med" len="med"/>
                    </a:lnT>
                    <a:lnB w="9525" cap="flat" cmpd="sng" algn="ctr">
                      <a:solidFill>
                        <a:srgbClr val="D5D9DC"/>
                      </a:solidFill>
                      <a:prstDash val="solid"/>
                      <a:round/>
                      <a:headEnd type="none" w="med" len="med"/>
                      <a:tailEnd type="none" w="med" len="med"/>
                    </a:lnB>
                  </a:tcPr>
                </a:tc>
                <a:tc>
                  <a:txBody>
                    <a:bodyPr/>
                    <a:lstStyle/>
                    <a:p>
                      <a:pPr indent="0" marL="0">
                        <a:buNone/>
                      </a:pPr>
                      <a:r>
                        <a:rPr lang="en-US" sz="1300" dirty="0">
                          <a:solidFill>
                            <a:srgbClr val="1E2226"/>
                          </a:solidFill>
                          <a:latin typeface="Calibri" pitchFamily="34" charset="0"/>
                          <a:ea typeface="Calibri" pitchFamily="34" charset="-122"/>
                          <a:cs typeface="Calibri" pitchFamily="34" charset="-120"/>
                        </a:rPr>
                        <a:t>MIT Kp 10/25, Kd 3, 4 N·m, gravity FF, measured link masses</a:t>
                      </a:r>
                      <a:endParaRPr lang="en-US" sz="1300" dirty="0">
                        <a:latin typeface="Calibri" charset="0"/>
                        <a:ea typeface="Calibri" charset="0"/>
                        <a:cs typeface="Calibri" charset="0"/>
                      </a:endParaRPr>
                    </a:p>
                  </a:txBody>
                  <a:tcPr marL="91440" marR="91440" marT="45720" marB="45720" anchor="ctr">
                    <a:lnL w="9525" cap="flat" cmpd="sng" algn="ctr">
                      <a:solidFill>
                        <a:srgbClr val="D5D9DC"/>
                      </a:solidFill>
                      <a:prstDash val="solid"/>
                      <a:round/>
                      <a:headEnd type="none" w="med" len="med"/>
                      <a:tailEnd type="none" w="med" len="med"/>
                    </a:lnL>
                    <a:lnR w="9525" cap="flat" cmpd="sng" algn="ctr">
                      <a:solidFill>
                        <a:srgbClr val="D5D9DC"/>
                      </a:solidFill>
                      <a:prstDash val="solid"/>
                      <a:round/>
                      <a:headEnd type="none" w="med" len="med"/>
                      <a:tailEnd type="none" w="med" len="med"/>
                    </a:lnR>
                    <a:lnT w="9525" cap="flat" cmpd="sng" algn="ctr">
                      <a:solidFill>
                        <a:srgbClr val="D5D9DC"/>
                      </a:solidFill>
                      <a:prstDash val="solid"/>
                      <a:round/>
                      <a:headEnd type="none" w="med" len="med"/>
                      <a:tailEnd type="none" w="med" len="med"/>
                    </a:lnT>
                    <a:lnB w="9525" cap="flat" cmpd="sng" algn="ctr">
                      <a:solidFill>
                        <a:srgbClr val="D5D9DC"/>
                      </a:solidFill>
                      <a:prstDash val="solid"/>
                      <a:round/>
                      <a:headEnd type="none" w="med" len="med"/>
                      <a:tailEnd type="none" w="med" len="med"/>
                    </a:lnB>
                  </a:tcPr>
                </a:tc>
                <a:tc>
                  <a:txBody>
                    <a:bodyPr/>
                    <a:lstStyle/>
                    <a:p>
                      <a:pPr algn="ctr" indent="0" marL="0">
                        <a:buNone/>
                      </a:pPr>
                      <a:r>
                        <a:rPr lang="en-US" sz="1300" dirty="0">
                          <a:solidFill>
                            <a:srgbClr val="1E2226"/>
                          </a:solidFill>
                          <a:latin typeface="Calibri" pitchFamily="34" charset="0"/>
                          <a:ea typeface="Calibri" pitchFamily="34" charset="-122"/>
                          <a:cs typeface="Calibri" pitchFamily="34" charset="-120"/>
                        </a:rPr>
                        <a:t>96.0%</a:t>
                      </a:r>
                      <a:endParaRPr lang="en-US" sz="1300" dirty="0">
                        <a:latin typeface="Calibri" charset="0"/>
                        <a:ea typeface="Calibri" charset="0"/>
                        <a:cs typeface="Calibri" charset="0"/>
                      </a:endParaRPr>
                    </a:p>
                  </a:txBody>
                  <a:tcPr marL="91440" marR="91440" marT="45720" marB="45720" anchor="ctr">
                    <a:lnL w="9525" cap="flat" cmpd="sng" algn="ctr">
                      <a:solidFill>
                        <a:srgbClr val="D5D9DC"/>
                      </a:solidFill>
                      <a:prstDash val="solid"/>
                      <a:round/>
                      <a:headEnd type="none" w="med" len="med"/>
                      <a:tailEnd type="none" w="med" len="med"/>
                    </a:lnL>
                    <a:lnR w="9525" cap="flat" cmpd="sng" algn="ctr">
                      <a:solidFill>
                        <a:srgbClr val="D5D9DC"/>
                      </a:solidFill>
                      <a:prstDash val="solid"/>
                      <a:round/>
                      <a:headEnd type="none" w="med" len="med"/>
                      <a:tailEnd type="none" w="med" len="med"/>
                    </a:lnR>
                    <a:lnT w="9525" cap="flat" cmpd="sng" algn="ctr">
                      <a:solidFill>
                        <a:srgbClr val="D5D9DC"/>
                      </a:solidFill>
                      <a:prstDash val="solid"/>
                      <a:round/>
                      <a:headEnd type="none" w="med" len="med"/>
                      <a:tailEnd type="none" w="med" len="med"/>
                    </a:lnT>
                    <a:lnB w="9525" cap="flat" cmpd="sng" algn="ctr">
                      <a:solidFill>
                        <a:srgbClr val="D5D9DC"/>
                      </a:solidFill>
                      <a:prstDash val="solid"/>
                      <a:round/>
                      <a:headEnd type="none" w="med" len="med"/>
                      <a:tailEnd type="none" w="med" len="med"/>
                    </a:lnB>
                  </a:tcPr>
                </a:tc>
              </a:tr>
              <a:tr h="384048">
                <a:tc>
                  <a:txBody>
                    <a:bodyPr/>
                    <a:lstStyle/>
                    <a:p>
                      <a:pPr algn="ctr" indent="0" marL="0">
                        <a:buNone/>
                      </a:pPr>
                      <a:r>
                        <a:rPr lang="en-US" sz="1300" dirty="0">
                          <a:solidFill>
                            <a:srgbClr val="1E2226"/>
                          </a:solidFill>
                          <a:latin typeface="Calibri" pitchFamily="34" charset="0"/>
                          <a:ea typeface="Calibri" pitchFamily="34" charset="-122"/>
                          <a:cs typeface="Calibri" pitchFamily="34" charset="-120"/>
                        </a:rPr>
                        <a:t>2</a:t>
                      </a:r>
                      <a:endParaRPr lang="en-US" sz="1300" dirty="0">
                        <a:latin typeface="Calibri" charset="0"/>
                        <a:ea typeface="Calibri" charset="0"/>
                        <a:cs typeface="Calibri" charset="0"/>
                      </a:endParaRPr>
                    </a:p>
                  </a:txBody>
                  <a:tcPr marL="91440" marR="91440" marT="45720" marB="45720" anchor="ctr">
                    <a:lnL w="9525" cap="flat" cmpd="sng" algn="ctr">
                      <a:solidFill>
                        <a:srgbClr val="D5D9DC"/>
                      </a:solidFill>
                      <a:prstDash val="solid"/>
                      <a:round/>
                      <a:headEnd type="none" w="med" len="med"/>
                      <a:tailEnd type="none" w="med" len="med"/>
                    </a:lnL>
                    <a:lnR w="9525" cap="flat" cmpd="sng" algn="ctr">
                      <a:solidFill>
                        <a:srgbClr val="D5D9DC"/>
                      </a:solidFill>
                      <a:prstDash val="solid"/>
                      <a:round/>
                      <a:headEnd type="none" w="med" len="med"/>
                      <a:tailEnd type="none" w="med" len="med"/>
                    </a:lnR>
                    <a:lnT w="9525" cap="flat" cmpd="sng" algn="ctr">
                      <a:solidFill>
                        <a:srgbClr val="D5D9DC"/>
                      </a:solidFill>
                      <a:prstDash val="solid"/>
                      <a:round/>
                      <a:headEnd type="none" w="med" len="med"/>
                      <a:tailEnd type="none" w="med" len="med"/>
                    </a:lnT>
                    <a:lnB w="9525" cap="flat" cmpd="sng" algn="ctr">
                      <a:solidFill>
                        <a:srgbClr val="D5D9DC"/>
                      </a:solidFill>
                      <a:prstDash val="solid"/>
                      <a:round/>
                      <a:headEnd type="none" w="med" len="med"/>
                      <a:tailEnd type="none" w="med" len="med"/>
                    </a:lnB>
                  </a:tcPr>
                </a:tc>
                <a:tc>
                  <a:txBody>
                    <a:bodyPr/>
                    <a:lstStyle/>
                    <a:p>
                      <a:pPr indent="0" marL="0">
                        <a:buNone/>
                      </a:pPr>
                      <a:r>
                        <a:rPr lang="en-US" sz="1300" dirty="0">
                          <a:solidFill>
                            <a:srgbClr val="1E2226"/>
                          </a:solidFill>
                          <a:latin typeface="Calibri" pitchFamily="34" charset="0"/>
                          <a:ea typeface="Calibri" pitchFamily="34" charset="-122"/>
                          <a:cs typeface="Calibri" pitchFamily="34" charset="-120"/>
                        </a:rPr>
                        <a:t>Arm joint friction</a:t>
                      </a:r>
                      <a:endParaRPr lang="en-US" sz="1300" dirty="0">
                        <a:latin typeface="Calibri" charset="0"/>
                        <a:ea typeface="Calibri" charset="0"/>
                        <a:cs typeface="Calibri" charset="0"/>
                      </a:endParaRPr>
                    </a:p>
                  </a:txBody>
                  <a:tcPr marL="91440" marR="91440" marT="45720" marB="45720" anchor="ctr">
                    <a:lnL w="9525" cap="flat" cmpd="sng" algn="ctr">
                      <a:solidFill>
                        <a:srgbClr val="D5D9DC"/>
                      </a:solidFill>
                      <a:prstDash val="solid"/>
                      <a:round/>
                      <a:headEnd type="none" w="med" len="med"/>
                      <a:tailEnd type="none" w="med" len="med"/>
                    </a:lnL>
                    <a:lnR w="9525" cap="flat" cmpd="sng" algn="ctr">
                      <a:solidFill>
                        <a:srgbClr val="D5D9DC"/>
                      </a:solidFill>
                      <a:prstDash val="solid"/>
                      <a:round/>
                      <a:headEnd type="none" w="med" len="med"/>
                      <a:tailEnd type="none" w="med" len="med"/>
                    </a:lnR>
                    <a:lnT w="9525" cap="flat" cmpd="sng" algn="ctr">
                      <a:solidFill>
                        <a:srgbClr val="D5D9DC"/>
                      </a:solidFill>
                      <a:prstDash val="solid"/>
                      <a:round/>
                      <a:headEnd type="none" w="med" len="med"/>
                      <a:tailEnd type="none" w="med" len="med"/>
                    </a:lnT>
                    <a:lnB w="9525" cap="flat" cmpd="sng" algn="ctr">
                      <a:solidFill>
                        <a:srgbClr val="D5D9DC"/>
                      </a:solidFill>
                      <a:prstDash val="solid"/>
                      <a:round/>
                      <a:headEnd type="none" w="med" len="med"/>
                      <a:tailEnd type="none" w="med" len="med"/>
                    </a:lnB>
                  </a:tcPr>
                </a:tc>
                <a:tc>
                  <a:txBody>
                    <a:bodyPr/>
                    <a:lstStyle/>
                    <a:p>
                      <a:pPr indent="0" marL="0">
                        <a:buNone/>
                      </a:pPr>
                      <a:r>
                        <a:rPr lang="en-US" sz="1300" dirty="0">
                          <a:solidFill>
                            <a:srgbClr val="1E2226"/>
                          </a:solidFill>
                          <a:latin typeface="Calibri" pitchFamily="34" charset="0"/>
                          <a:ea typeface="Calibri" pitchFamily="34" charset="-122"/>
                          <a:cs typeface="Calibri" pitchFamily="34" charset="-120"/>
                        </a:rPr>
                        <a:t>explicit Coulomb + viscous torque</a:t>
                      </a:r>
                      <a:endParaRPr lang="en-US" sz="1300" dirty="0">
                        <a:latin typeface="Calibri" charset="0"/>
                        <a:ea typeface="Calibri" charset="0"/>
                        <a:cs typeface="Calibri" charset="0"/>
                      </a:endParaRPr>
                    </a:p>
                  </a:txBody>
                  <a:tcPr marL="91440" marR="91440" marT="45720" marB="45720" anchor="ctr">
                    <a:lnL w="9525" cap="flat" cmpd="sng" algn="ctr">
                      <a:solidFill>
                        <a:srgbClr val="D5D9DC"/>
                      </a:solidFill>
                      <a:prstDash val="solid"/>
                      <a:round/>
                      <a:headEnd type="none" w="med" len="med"/>
                      <a:tailEnd type="none" w="med" len="med"/>
                    </a:lnL>
                    <a:lnR w="9525" cap="flat" cmpd="sng" algn="ctr">
                      <a:solidFill>
                        <a:srgbClr val="D5D9DC"/>
                      </a:solidFill>
                      <a:prstDash val="solid"/>
                      <a:round/>
                      <a:headEnd type="none" w="med" len="med"/>
                      <a:tailEnd type="none" w="med" len="med"/>
                    </a:lnR>
                    <a:lnT w="9525" cap="flat" cmpd="sng" algn="ctr">
                      <a:solidFill>
                        <a:srgbClr val="D5D9DC"/>
                      </a:solidFill>
                      <a:prstDash val="solid"/>
                      <a:round/>
                      <a:headEnd type="none" w="med" len="med"/>
                      <a:tailEnd type="none" w="med" len="med"/>
                    </a:lnT>
                    <a:lnB w="9525" cap="flat" cmpd="sng" algn="ctr">
                      <a:solidFill>
                        <a:srgbClr val="D5D9DC"/>
                      </a:solidFill>
                      <a:prstDash val="solid"/>
                      <a:round/>
                      <a:headEnd type="none" w="med" len="med"/>
                      <a:tailEnd type="none" w="med" len="med"/>
                    </a:lnB>
                  </a:tcPr>
                </a:tc>
                <a:tc>
                  <a:txBody>
                    <a:bodyPr/>
                    <a:lstStyle/>
                    <a:p>
                      <a:pPr algn="ctr" indent="0" marL="0">
                        <a:buNone/>
                      </a:pPr>
                      <a:r>
                        <a:rPr lang="en-US" sz="1300" dirty="0">
                          <a:solidFill>
                            <a:srgbClr val="1E2226"/>
                          </a:solidFill>
                          <a:latin typeface="Calibri" pitchFamily="34" charset="0"/>
                          <a:ea typeface="Calibri" pitchFamily="34" charset="-122"/>
                          <a:cs typeface="Calibri" pitchFamily="34" charset="-120"/>
                        </a:rPr>
                        <a:t>94.8%</a:t>
                      </a:r>
                      <a:endParaRPr lang="en-US" sz="1300" dirty="0">
                        <a:latin typeface="Calibri" charset="0"/>
                        <a:ea typeface="Calibri" charset="0"/>
                        <a:cs typeface="Calibri" charset="0"/>
                      </a:endParaRPr>
                    </a:p>
                  </a:txBody>
                  <a:tcPr marL="91440" marR="91440" marT="45720" marB="45720" anchor="ctr">
                    <a:lnL w="9525" cap="flat" cmpd="sng" algn="ctr">
                      <a:solidFill>
                        <a:srgbClr val="D5D9DC"/>
                      </a:solidFill>
                      <a:prstDash val="solid"/>
                      <a:round/>
                      <a:headEnd type="none" w="med" len="med"/>
                      <a:tailEnd type="none" w="med" len="med"/>
                    </a:lnL>
                    <a:lnR w="9525" cap="flat" cmpd="sng" algn="ctr">
                      <a:solidFill>
                        <a:srgbClr val="D5D9DC"/>
                      </a:solidFill>
                      <a:prstDash val="solid"/>
                      <a:round/>
                      <a:headEnd type="none" w="med" len="med"/>
                      <a:tailEnd type="none" w="med" len="med"/>
                    </a:lnR>
                    <a:lnT w="9525" cap="flat" cmpd="sng" algn="ctr">
                      <a:solidFill>
                        <a:srgbClr val="D5D9DC"/>
                      </a:solidFill>
                      <a:prstDash val="solid"/>
                      <a:round/>
                      <a:headEnd type="none" w="med" len="med"/>
                      <a:tailEnd type="none" w="med" len="med"/>
                    </a:lnT>
                    <a:lnB w="9525" cap="flat" cmpd="sng" algn="ctr">
                      <a:solidFill>
                        <a:srgbClr val="D5D9DC"/>
                      </a:solidFill>
                      <a:prstDash val="solid"/>
                      <a:round/>
                      <a:headEnd type="none" w="med" len="med"/>
                      <a:tailEnd type="none" w="med" len="med"/>
                    </a:lnB>
                  </a:tcPr>
                </a:tc>
              </a:tr>
              <a:tr h="384048">
                <a:tc>
                  <a:txBody>
                    <a:bodyPr/>
                    <a:lstStyle/>
                    <a:p>
                      <a:pPr algn="ctr" indent="0" marL="0">
                        <a:buNone/>
                      </a:pPr>
                      <a:r>
                        <a:rPr lang="en-US" sz="1300" dirty="0">
                          <a:solidFill>
                            <a:srgbClr val="1E2226"/>
                          </a:solidFill>
                          <a:latin typeface="Calibri" pitchFamily="34" charset="0"/>
                          <a:ea typeface="Calibri" pitchFamily="34" charset="-122"/>
                          <a:cs typeface="Calibri" pitchFamily="34" charset="-120"/>
                        </a:rPr>
                        <a:t>3</a:t>
                      </a:r>
                      <a:endParaRPr lang="en-US" sz="1300" dirty="0">
                        <a:latin typeface="Calibri" charset="0"/>
                        <a:ea typeface="Calibri" charset="0"/>
                        <a:cs typeface="Calibri" charset="0"/>
                      </a:endParaRPr>
                    </a:p>
                  </a:txBody>
                  <a:tcPr marL="91440" marR="91440" marT="45720" marB="45720" anchor="ctr">
                    <a:lnL w="9525" cap="flat" cmpd="sng" algn="ctr">
                      <a:solidFill>
                        <a:srgbClr val="D5D9DC"/>
                      </a:solidFill>
                      <a:prstDash val="solid"/>
                      <a:round/>
                      <a:headEnd type="none" w="med" len="med"/>
                      <a:tailEnd type="none" w="med" len="med"/>
                    </a:lnL>
                    <a:lnR w="9525" cap="flat" cmpd="sng" algn="ctr">
                      <a:solidFill>
                        <a:srgbClr val="D5D9DC"/>
                      </a:solidFill>
                      <a:prstDash val="solid"/>
                      <a:round/>
                      <a:headEnd type="none" w="med" len="med"/>
                      <a:tailEnd type="none" w="med" len="med"/>
                    </a:lnR>
                    <a:lnT w="9525" cap="flat" cmpd="sng" algn="ctr">
                      <a:solidFill>
                        <a:srgbClr val="D5D9DC"/>
                      </a:solidFill>
                      <a:prstDash val="solid"/>
                      <a:round/>
                      <a:headEnd type="none" w="med" len="med"/>
                      <a:tailEnd type="none" w="med" len="med"/>
                    </a:lnT>
                    <a:lnB w="9525" cap="flat" cmpd="sng" algn="ctr">
                      <a:solidFill>
                        <a:srgbClr val="D5D9DC"/>
                      </a:solidFill>
                      <a:prstDash val="solid"/>
                      <a:round/>
                      <a:headEnd type="none" w="med" len="med"/>
                      <a:tailEnd type="none" w="med" len="med"/>
                    </a:lnB>
                  </a:tcPr>
                </a:tc>
                <a:tc>
                  <a:txBody>
                    <a:bodyPr/>
                    <a:lstStyle/>
                    <a:p>
                      <a:pPr indent="0" marL="0">
                        <a:buNone/>
                      </a:pPr>
                      <a:r>
                        <a:rPr lang="en-US" sz="1300" dirty="0">
                          <a:solidFill>
                            <a:srgbClr val="1E2226"/>
                          </a:solidFill>
                          <a:latin typeface="Calibri" pitchFamily="34" charset="0"/>
                          <a:ea typeface="Calibri" pitchFamily="34" charset="-122"/>
                          <a:cs typeface="Calibri" pitchFamily="34" charset="-120"/>
                        </a:rPr>
                        <a:t>Gravity-compensation error</a:t>
                      </a:r>
                      <a:endParaRPr lang="en-US" sz="1300" dirty="0">
                        <a:latin typeface="Calibri" charset="0"/>
                        <a:ea typeface="Calibri" charset="0"/>
                        <a:cs typeface="Calibri" charset="0"/>
                      </a:endParaRPr>
                    </a:p>
                  </a:txBody>
                  <a:tcPr marL="91440" marR="91440" marT="45720" marB="45720" anchor="ctr">
                    <a:lnL w="9525" cap="flat" cmpd="sng" algn="ctr">
                      <a:solidFill>
                        <a:srgbClr val="D5D9DC"/>
                      </a:solidFill>
                      <a:prstDash val="solid"/>
                      <a:round/>
                      <a:headEnd type="none" w="med" len="med"/>
                      <a:tailEnd type="none" w="med" len="med"/>
                    </a:lnL>
                    <a:lnR w="9525" cap="flat" cmpd="sng" algn="ctr">
                      <a:solidFill>
                        <a:srgbClr val="D5D9DC"/>
                      </a:solidFill>
                      <a:prstDash val="solid"/>
                      <a:round/>
                      <a:headEnd type="none" w="med" len="med"/>
                      <a:tailEnd type="none" w="med" len="med"/>
                    </a:lnR>
                    <a:lnT w="9525" cap="flat" cmpd="sng" algn="ctr">
                      <a:solidFill>
                        <a:srgbClr val="D5D9DC"/>
                      </a:solidFill>
                      <a:prstDash val="solid"/>
                      <a:round/>
                      <a:headEnd type="none" w="med" len="med"/>
                      <a:tailEnd type="none" w="med" len="med"/>
                    </a:lnT>
                    <a:lnB w="9525" cap="flat" cmpd="sng" algn="ctr">
                      <a:solidFill>
                        <a:srgbClr val="D5D9DC"/>
                      </a:solidFill>
                      <a:prstDash val="solid"/>
                      <a:round/>
                      <a:headEnd type="none" w="med" len="med"/>
                      <a:tailEnd type="none" w="med" len="med"/>
                    </a:lnB>
                  </a:tcPr>
                </a:tc>
                <a:tc>
                  <a:txBody>
                    <a:bodyPr/>
                    <a:lstStyle/>
                    <a:p>
                      <a:pPr indent="0" marL="0">
                        <a:buNone/>
                      </a:pPr>
                      <a:r>
                        <a:rPr lang="en-US" sz="1300" dirty="0">
                          <a:solidFill>
                            <a:srgbClr val="1E2226"/>
                          </a:solidFill>
                          <a:latin typeface="Calibri" pitchFamily="34" charset="0"/>
                          <a:ea typeface="Calibri" pitchFamily="34" charset="-122"/>
                          <a:cs typeface="Calibri" pitchFamily="34" charset="-120"/>
                        </a:rPr>
                        <a:t>feed-forward scaled ±20%</a:t>
                      </a:r>
                      <a:endParaRPr lang="en-US" sz="1300" dirty="0">
                        <a:latin typeface="Calibri" charset="0"/>
                        <a:ea typeface="Calibri" charset="0"/>
                        <a:cs typeface="Calibri" charset="0"/>
                      </a:endParaRPr>
                    </a:p>
                  </a:txBody>
                  <a:tcPr marL="91440" marR="91440" marT="45720" marB="45720" anchor="ctr">
                    <a:lnL w="9525" cap="flat" cmpd="sng" algn="ctr">
                      <a:solidFill>
                        <a:srgbClr val="D5D9DC"/>
                      </a:solidFill>
                      <a:prstDash val="solid"/>
                      <a:round/>
                      <a:headEnd type="none" w="med" len="med"/>
                      <a:tailEnd type="none" w="med" len="med"/>
                    </a:lnL>
                    <a:lnR w="9525" cap="flat" cmpd="sng" algn="ctr">
                      <a:solidFill>
                        <a:srgbClr val="D5D9DC"/>
                      </a:solidFill>
                      <a:prstDash val="solid"/>
                      <a:round/>
                      <a:headEnd type="none" w="med" len="med"/>
                      <a:tailEnd type="none" w="med" len="med"/>
                    </a:lnR>
                    <a:lnT w="9525" cap="flat" cmpd="sng" algn="ctr">
                      <a:solidFill>
                        <a:srgbClr val="D5D9DC"/>
                      </a:solidFill>
                      <a:prstDash val="solid"/>
                      <a:round/>
                      <a:headEnd type="none" w="med" len="med"/>
                      <a:tailEnd type="none" w="med" len="med"/>
                    </a:lnT>
                    <a:lnB w="9525" cap="flat" cmpd="sng" algn="ctr">
                      <a:solidFill>
                        <a:srgbClr val="D5D9DC"/>
                      </a:solidFill>
                      <a:prstDash val="solid"/>
                      <a:round/>
                      <a:headEnd type="none" w="med" len="med"/>
                      <a:tailEnd type="none" w="med" len="med"/>
                    </a:lnB>
                  </a:tcPr>
                </a:tc>
                <a:tc>
                  <a:txBody>
                    <a:bodyPr/>
                    <a:lstStyle/>
                    <a:p>
                      <a:pPr algn="ctr" indent="0" marL="0">
                        <a:buNone/>
                      </a:pPr>
                      <a:r>
                        <a:rPr lang="en-US" sz="1300" dirty="0">
                          <a:solidFill>
                            <a:srgbClr val="1E2226"/>
                          </a:solidFill>
                          <a:latin typeface="Calibri" pitchFamily="34" charset="0"/>
                          <a:ea typeface="Calibri" pitchFamily="34" charset="-122"/>
                          <a:cs typeface="Calibri" pitchFamily="34" charset="-120"/>
                        </a:rPr>
                        <a:t>96.8%</a:t>
                      </a:r>
                      <a:endParaRPr lang="en-US" sz="1300" dirty="0">
                        <a:latin typeface="Calibri" charset="0"/>
                        <a:ea typeface="Calibri" charset="0"/>
                        <a:cs typeface="Calibri" charset="0"/>
                      </a:endParaRPr>
                    </a:p>
                  </a:txBody>
                  <a:tcPr marL="91440" marR="91440" marT="45720" marB="45720" anchor="ctr">
                    <a:lnL w="9525" cap="flat" cmpd="sng" algn="ctr">
                      <a:solidFill>
                        <a:srgbClr val="D5D9DC"/>
                      </a:solidFill>
                      <a:prstDash val="solid"/>
                      <a:round/>
                      <a:headEnd type="none" w="med" len="med"/>
                      <a:tailEnd type="none" w="med" len="med"/>
                    </a:lnL>
                    <a:lnR w="9525" cap="flat" cmpd="sng" algn="ctr">
                      <a:solidFill>
                        <a:srgbClr val="D5D9DC"/>
                      </a:solidFill>
                      <a:prstDash val="solid"/>
                      <a:round/>
                      <a:headEnd type="none" w="med" len="med"/>
                      <a:tailEnd type="none" w="med" len="med"/>
                    </a:lnR>
                    <a:lnT w="9525" cap="flat" cmpd="sng" algn="ctr">
                      <a:solidFill>
                        <a:srgbClr val="D5D9DC"/>
                      </a:solidFill>
                      <a:prstDash val="solid"/>
                      <a:round/>
                      <a:headEnd type="none" w="med" len="med"/>
                      <a:tailEnd type="none" w="med" len="med"/>
                    </a:lnT>
                    <a:lnB w="9525" cap="flat" cmpd="sng" algn="ctr">
                      <a:solidFill>
                        <a:srgbClr val="D5D9DC"/>
                      </a:solidFill>
                      <a:prstDash val="solid"/>
                      <a:round/>
                      <a:headEnd type="none" w="med" len="med"/>
                      <a:tailEnd type="none" w="med" len="med"/>
                    </a:lnB>
                  </a:tcPr>
                </a:tc>
              </a:tr>
              <a:tr h="384048">
                <a:tc>
                  <a:txBody>
                    <a:bodyPr/>
                    <a:lstStyle/>
                    <a:p>
                      <a:pPr algn="ctr" indent="0" marL="0">
                        <a:buNone/>
                      </a:pPr>
                      <a:r>
                        <a:rPr lang="en-US" sz="1300" dirty="0">
                          <a:solidFill>
                            <a:srgbClr val="1E2226"/>
                          </a:solidFill>
                          <a:latin typeface="Calibri" pitchFamily="34" charset="0"/>
                          <a:ea typeface="Calibri" pitchFamily="34" charset="-122"/>
                          <a:cs typeface="Calibri" pitchFamily="34" charset="-120"/>
                        </a:rPr>
                        <a:t>4</a:t>
                      </a:r>
                      <a:endParaRPr lang="en-US" sz="1300" dirty="0">
                        <a:latin typeface="Calibri" charset="0"/>
                        <a:ea typeface="Calibri" charset="0"/>
                        <a:cs typeface="Calibri" charset="0"/>
                      </a:endParaRPr>
                    </a:p>
                  </a:txBody>
                  <a:tcPr marL="91440" marR="91440" marT="45720" marB="45720" anchor="ctr">
                    <a:lnL w="9525" cap="flat" cmpd="sng" algn="ctr">
                      <a:solidFill>
                        <a:srgbClr val="D5D9DC"/>
                      </a:solidFill>
                      <a:prstDash val="solid"/>
                      <a:round/>
                      <a:headEnd type="none" w="med" len="med"/>
                      <a:tailEnd type="none" w="med" len="med"/>
                    </a:lnL>
                    <a:lnR w="9525" cap="flat" cmpd="sng" algn="ctr">
                      <a:solidFill>
                        <a:srgbClr val="D5D9DC"/>
                      </a:solidFill>
                      <a:prstDash val="solid"/>
                      <a:round/>
                      <a:headEnd type="none" w="med" len="med"/>
                      <a:tailEnd type="none" w="med" len="med"/>
                    </a:lnR>
                    <a:lnT w="9525" cap="flat" cmpd="sng" algn="ctr">
                      <a:solidFill>
                        <a:srgbClr val="D5D9DC"/>
                      </a:solidFill>
                      <a:prstDash val="solid"/>
                      <a:round/>
                      <a:headEnd type="none" w="med" len="med"/>
                      <a:tailEnd type="none" w="med" len="med"/>
                    </a:lnT>
                    <a:lnB w="9525" cap="flat" cmpd="sng" algn="ctr">
                      <a:solidFill>
                        <a:srgbClr val="D5D9DC"/>
                      </a:solidFill>
                      <a:prstDash val="solid"/>
                      <a:round/>
                      <a:headEnd type="none" w="med" len="med"/>
                      <a:tailEnd type="none" w="med" len="med"/>
                    </a:lnB>
                  </a:tcPr>
                </a:tc>
                <a:tc>
                  <a:txBody>
                    <a:bodyPr/>
                    <a:lstStyle/>
                    <a:p>
                      <a:pPr indent="0" marL="0">
                        <a:buNone/>
                      </a:pPr>
                      <a:r>
                        <a:rPr lang="en-US" sz="1300" dirty="0">
                          <a:solidFill>
                            <a:srgbClr val="1E2226"/>
                          </a:solidFill>
                          <a:latin typeface="Calibri" pitchFamily="34" charset="0"/>
                          <a:ea typeface="Calibri" pitchFamily="34" charset="-122"/>
                          <a:cs typeface="Calibri" pitchFamily="34" charset="-120"/>
                        </a:rPr>
                        <a:t>Action latency</a:t>
                      </a:r>
                      <a:endParaRPr lang="en-US" sz="1300" dirty="0">
                        <a:latin typeface="Calibri" charset="0"/>
                        <a:ea typeface="Calibri" charset="0"/>
                        <a:cs typeface="Calibri" charset="0"/>
                      </a:endParaRPr>
                    </a:p>
                  </a:txBody>
                  <a:tcPr marL="91440" marR="91440" marT="45720" marB="45720" anchor="ctr">
                    <a:lnL w="9525" cap="flat" cmpd="sng" algn="ctr">
                      <a:solidFill>
                        <a:srgbClr val="D5D9DC"/>
                      </a:solidFill>
                      <a:prstDash val="solid"/>
                      <a:round/>
                      <a:headEnd type="none" w="med" len="med"/>
                      <a:tailEnd type="none" w="med" len="med"/>
                    </a:lnL>
                    <a:lnR w="9525" cap="flat" cmpd="sng" algn="ctr">
                      <a:solidFill>
                        <a:srgbClr val="D5D9DC"/>
                      </a:solidFill>
                      <a:prstDash val="solid"/>
                      <a:round/>
                      <a:headEnd type="none" w="med" len="med"/>
                      <a:tailEnd type="none" w="med" len="med"/>
                    </a:lnR>
                    <a:lnT w="9525" cap="flat" cmpd="sng" algn="ctr">
                      <a:solidFill>
                        <a:srgbClr val="D5D9DC"/>
                      </a:solidFill>
                      <a:prstDash val="solid"/>
                      <a:round/>
                      <a:headEnd type="none" w="med" len="med"/>
                      <a:tailEnd type="none" w="med" len="med"/>
                    </a:lnT>
                    <a:lnB w="9525" cap="flat" cmpd="sng" algn="ctr">
                      <a:solidFill>
                        <a:srgbClr val="D5D9DC"/>
                      </a:solidFill>
                      <a:prstDash val="solid"/>
                      <a:round/>
                      <a:headEnd type="none" w="med" len="med"/>
                      <a:tailEnd type="none" w="med" len="med"/>
                    </a:lnB>
                  </a:tcPr>
                </a:tc>
                <a:tc>
                  <a:txBody>
                    <a:bodyPr/>
                    <a:lstStyle/>
                    <a:p>
                      <a:pPr indent="0" marL="0">
                        <a:buNone/>
                      </a:pPr>
                      <a:r>
                        <a:rPr lang="en-US" sz="1300" dirty="0">
                          <a:solidFill>
                            <a:srgbClr val="1E2226"/>
                          </a:solidFill>
                          <a:latin typeface="Calibri" pitchFamily="34" charset="0"/>
                          <a:ea typeface="Calibri" pitchFamily="34" charset="-122"/>
                          <a:cs typeface="Calibri" pitchFamily="34" charset="-120"/>
                        </a:rPr>
                        <a:t>0–33 ms delay</a:t>
                      </a:r>
                      <a:endParaRPr lang="en-US" sz="1300" dirty="0">
                        <a:latin typeface="Calibri" charset="0"/>
                        <a:ea typeface="Calibri" charset="0"/>
                        <a:cs typeface="Calibri" charset="0"/>
                      </a:endParaRPr>
                    </a:p>
                  </a:txBody>
                  <a:tcPr marL="91440" marR="91440" marT="45720" marB="45720" anchor="ctr">
                    <a:lnL w="9525" cap="flat" cmpd="sng" algn="ctr">
                      <a:solidFill>
                        <a:srgbClr val="D5D9DC"/>
                      </a:solidFill>
                      <a:prstDash val="solid"/>
                      <a:round/>
                      <a:headEnd type="none" w="med" len="med"/>
                      <a:tailEnd type="none" w="med" len="med"/>
                    </a:lnL>
                    <a:lnR w="9525" cap="flat" cmpd="sng" algn="ctr">
                      <a:solidFill>
                        <a:srgbClr val="D5D9DC"/>
                      </a:solidFill>
                      <a:prstDash val="solid"/>
                      <a:round/>
                      <a:headEnd type="none" w="med" len="med"/>
                      <a:tailEnd type="none" w="med" len="med"/>
                    </a:lnR>
                    <a:lnT w="9525" cap="flat" cmpd="sng" algn="ctr">
                      <a:solidFill>
                        <a:srgbClr val="D5D9DC"/>
                      </a:solidFill>
                      <a:prstDash val="solid"/>
                      <a:round/>
                      <a:headEnd type="none" w="med" len="med"/>
                      <a:tailEnd type="none" w="med" len="med"/>
                    </a:lnT>
                    <a:lnB w="9525" cap="flat" cmpd="sng" algn="ctr">
                      <a:solidFill>
                        <a:srgbClr val="D5D9DC"/>
                      </a:solidFill>
                      <a:prstDash val="solid"/>
                      <a:round/>
                      <a:headEnd type="none" w="med" len="med"/>
                      <a:tailEnd type="none" w="med" len="med"/>
                    </a:lnB>
                  </a:tcPr>
                </a:tc>
                <a:tc>
                  <a:txBody>
                    <a:bodyPr/>
                    <a:lstStyle/>
                    <a:p>
                      <a:pPr algn="ctr" indent="0" marL="0">
                        <a:buNone/>
                      </a:pPr>
                      <a:r>
                        <a:rPr lang="en-US" sz="1300" dirty="0">
                          <a:solidFill>
                            <a:srgbClr val="1E2226"/>
                          </a:solidFill>
                          <a:latin typeface="Calibri" pitchFamily="34" charset="0"/>
                          <a:ea typeface="Calibri" pitchFamily="34" charset="-122"/>
                          <a:cs typeface="Calibri" pitchFamily="34" charset="-120"/>
                        </a:rPr>
                        <a:t>95.4%</a:t>
                      </a:r>
                      <a:endParaRPr lang="en-US" sz="1300" dirty="0">
                        <a:latin typeface="Calibri" charset="0"/>
                        <a:ea typeface="Calibri" charset="0"/>
                        <a:cs typeface="Calibri" charset="0"/>
                      </a:endParaRPr>
                    </a:p>
                  </a:txBody>
                  <a:tcPr marL="91440" marR="91440" marT="45720" marB="45720" anchor="ctr">
                    <a:lnL w="9525" cap="flat" cmpd="sng" algn="ctr">
                      <a:solidFill>
                        <a:srgbClr val="D5D9DC"/>
                      </a:solidFill>
                      <a:prstDash val="solid"/>
                      <a:round/>
                      <a:headEnd type="none" w="med" len="med"/>
                      <a:tailEnd type="none" w="med" len="med"/>
                    </a:lnL>
                    <a:lnR w="9525" cap="flat" cmpd="sng" algn="ctr">
                      <a:solidFill>
                        <a:srgbClr val="D5D9DC"/>
                      </a:solidFill>
                      <a:prstDash val="solid"/>
                      <a:round/>
                      <a:headEnd type="none" w="med" len="med"/>
                      <a:tailEnd type="none" w="med" len="med"/>
                    </a:lnR>
                    <a:lnT w="9525" cap="flat" cmpd="sng" algn="ctr">
                      <a:solidFill>
                        <a:srgbClr val="D5D9DC"/>
                      </a:solidFill>
                      <a:prstDash val="solid"/>
                      <a:round/>
                      <a:headEnd type="none" w="med" len="med"/>
                      <a:tailEnd type="none" w="med" len="med"/>
                    </a:lnT>
                    <a:lnB w="9525" cap="flat" cmpd="sng" algn="ctr">
                      <a:solidFill>
                        <a:srgbClr val="D5D9DC"/>
                      </a:solidFill>
                      <a:prstDash val="solid"/>
                      <a:round/>
                      <a:headEnd type="none" w="med" len="med"/>
                      <a:tailEnd type="none" w="med" len="med"/>
                    </a:lnB>
                  </a:tcPr>
                </a:tc>
              </a:tr>
              <a:tr h="384048">
                <a:tc>
                  <a:txBody>
                    <a:bodyPr/>
                    <a:lstStyle/>
                    <a:p>
                      <a:pPr algn="ctr" indent="0" marL="0">
                        <a:buNone/>
                      </a:pPr>
                      <a:r>
                        <a:rPr lang="en-US" sz="1300" dirty="0">
                          <a:solidFill>
                            <a:srgbClr val="1E2226"/>
                          </a:solidFill>
                          <a:latin typeface="Calibri" pitchFamily="34" charset="0"/>
                          <a:ea typeface="Calibri" pitchFamily="34" charset="-122"/>
                          <a:cs typeface="Calibri" pitchFamily="34" charset="-120"/>
                        </a:rPr>
                        <a:t>5</a:t>
                      </a:r>
                      <a:endParaRPr lang="en-US" sz="1300" dirty="0">
                        <a:latin typeface="Calibri" charset="0"/>
                        <a:ea typeface="Calibri" charset="0"/>
                        <a:cs typeface="Calibri" charset="0"/>
                      </a:endParaRPr>
                    </a:p>
                  </a:txBody>
                  <a:tcPr marL="91440" marR="91440" marT="45720" marB="45720" anchor="ctr">
                    <a:lnL w="9525" cap="flat" cmpd="sng" algn="ctr">
                      <a:solidFill>
                        <a:srgbClr val="D5D9DC"/>
                      </a:solidFill>
                      <a:prstDash val="solid"/>
                      <a:round/>
                      <a:headEnd type="none" w="med" len="med"/>
                      <a:tailEnd type="none" w="med" len="med"/>
                    </a:lnL>
                    <a:lnR w="9525" cap="flat" cmpd="sng" algn="ctr">
                      <a:solidFill>
                        <a:srgbClr val="D5D9DC"/>
                      </a:solidFill>
                      <a:prstDash val="solid"/>
                      <a:round/>
                      <a:headEnd type="none" w="med" len="med"/>
                      <a:tailEnd type="none" w="med" len="med"/>
                    </a:lnR>
                    <a:lnT w="9525" cap="flat" cmpd="sng" algn="ctr">
                      <a:solidFill>
                        <a:srgbClr val="D5D9DC"/>
                      </a:solidFill>
                      <a:prstDash val="solid"/>
                      <a:round/>
                      <a:headEnd type="none" w="med" len="med"/>
                      <a:tailEnd type="none" w="med" len="med"/>
                    </a:lnT>
                    <a:lnB w="9525" cap="flat" cmpd="sng" algn="ctr">
                      <a:solidFill>
                        <a:srgbClr val="D5D9DC"/>
                      </a:solidFill>
                      <a:prstDash val="solid"/>
                      <a:round/>
                      <a:headEnd type="none" w="med" len="med"/>
                      <a:tailEnd type="none" w="med" len="med"/>
                    </a:lnB>
                  </a:tcPr>
                </a:tc>
                <a:tc>
                  <a:txBody>
                    <a:bodyPr/>
                    <a:lstStyle/>
                    <a:p>
                      <a:pPr indent="0" marL="0">
                        <a:buNone/>
                      </a:pPr>
                      <a:r>
                        <a:rPr lang="en-US" sz="1300" dirty="0">
                          <a:solidFill>
                            <a:srgbClr val="1E2226"/>
                          </a:solidFill>
                          <a:latin typeface="Calibri" pitchFamily="34" charset="0"/>
                          <a:ea typeface="Calibri" pitchFamily="34" charset="-122"/>
                          <a:cs typeface="Calibri" pitchFamily="34" charset="-120"/>
                        </a:rPr>
                        <a:t>Ball and robot contact</a:t>
                      </a:r>
                      <a:endParaRPr lang="en-US" sz="1300" dirty="0">
                        <a:latin typeface="Calibri" charset="0"/>
                        <a:ea typeface="Calibri" charset="0"/>
                        <a:cs typeface="Calibri" charset="0"/>
                      </a:endParaRPr>
                    </a:p>
                  </a:txBody>
                  <a:tcPr marL="91440" marR="91440" marT="45720" marB="45720" anchor="ctr">
                    <a:lnL w="9525" cap="flat" cmpd="sng" algn="ctr">
                      <a:solidFill>
                        <a:srgbClr val="D5D9DC"/>
                      </a:solidFill>
                      <a:prstDash val="solid"/>
                      <a:round/>
                      <a:headEnd type="none" w="med" len="med"/>
                      <a:tailEnd type="none" w="med" len="med"/>
                    </a:lnL>
                    <a:lnR w="9525" cap="flat" cmpd="sng" algn="ctr">
                      <a:solidFill>
                        <a:srgbClr val="D5D9DC"/>
                      </a:solidFill>
                      <a:prstDash val="solid"/>
                      <a:round/>
                      <a:headEnd type="none" w="med" len="med"/>
                      <a:tailEnd type="none" w="med" len="med"/>
                    </a:lnR>
                    <a:lnT w="9525" cap="flat" cmpd="sng" algn="ctr">
                      <a:solidFill>
                        <a:srgbClr val="D5D9DC"/>
                      </a:solidFill>
                      <a:prstDash val="solid"/>
                      <a:round/>
                      <a:headEnd type="none" w="med" len="med"/>
                      <a:tailEnd type="none" w="med" len="med"/>
                    </a:lnT>
                    <a:lnB w="9525" cap="flat" cmpd="sng" algn="ctr">
                      <a:solidFill>
                        <a:srgbClr val="D5D9DC"/>
                      </a:solidFill>
                      <a:prstDash val="solid"/>
                      <a:round/>
                      <a:headEnd type="none" w="med" len="med"/>
                      <a:tailEnd type="none" w="med" len="med"/>
                    </a:lnB>
                  </a:tcPr>
                </a:tc>
                <a:tc>
                  <a:txBody>
                    <a:bodyPr/>
                    <a:lstStyle/>
                    <a:p>
                      <a:pPr indent="0" marL="0">
                        <a:buNone/>
                      </a:pPr>
                      <a:r>
                        <a:rPr lang="en-US" sz="1300" dirty="0">
                          <a:solidFill>
                            <a:srgbClr val="1E2226"/>
                          </a:solidFill>
                          <a:latin typeface="Calibri" pitchFamily="34" charset="0"/>
                          <a:ea typeface="Calibri" pitchFamily="34" charset="-122"/>
                          <a:cs typeface="Calibri" pitchFamily="34" charset="-120"/>
                        </a:rPr>
                        <a:t>ball friction / restitution; robot friction scale</a:t>
                      </a:r>
                      <a:endParaRPr lang="en-US" sz="1300" dirty="0">
                        <a:latin typeface="Calibri" charset="0"/>
                        <a:ea typeface="Calibri" charset="0"/>
                        <a:cs typeface="Calibri" charset="0"/>
                      </a:endParaRPr>
                    </a:p>
                  </a:txBody>
                  <a:tcPr marL="91440" marR="91440" marT="45720" marB="45720" anchor="ctr">
                    <a:lnL w="9525" cap="flat" cmpd="sng" algn="ctr">
                      <a:solidFill>
                        <a:srgbClr val="D5D9DC"/>
                      </a:solidFill>
                      <a:prstDash val="solid"/>
                      <a:round/>
                      <a:headEnd type="none" w="med" len="med"/>
                      <a:tailEnd type="none" w="med" len="med"/>
                    </a:lnL>
                    <a:lnR w="9525" cap="flat" cmpd="sng" algn="ctr">
                      <a:solidFill>
                        <a:srgbClr val="D5D9DC"/>
                      </a:solidFill>
                      <a:prstDash val="solid"/>
                      <a:round/>
                      <a:headEnd type="none" w="med" len="med"/>
                      <a:tailEnd type="none" w="med" len="med"/>
                    </a:lnR>
                    <a:lnT w="9525" cap="flat" cmpd="sng" algn="ctr">
                      <a:solidFill>
                        <a:srgbClr val="D5D9DC"/>
                      </a:solidFill>
                      <a:prstDash val="solid"/>
                      <a:round/>
                      <a:headEnd type="none" w="med" len="med"/>
                      <a:tailEnd type="none" w="med" len="med"/>
                    </a:lnT>
                    <a:lnB w="9525" cap="flat" cmpd="sng" algn="ctr">
                      <a:solidFill>
                        <a:srgbClr val="D5D9DC"/>
                      </a:solidFill>
                      <a:prstDash val="solid"/>
                      <a:round/>
                      <a:headEnd type="none" w="med" len="med"/>
                      <a:tailEnd type="none" w="med" len="med"/>
                    </a:lnB>
                  </a:tcPr>
                </a:tc>
                <a:tc>
                  <a:txBody>
                    <a:bodyPr/>
                    <a:lstStyle/>
                    <a:p>
                      <a:pPr algn="ctr" indent="0" marL="0">
                        <a:buNone/>
                      </a:pPr>
                      <a:r>
                        <a:rPr lang="en-US" sz="1300" dirty="0">
                          <a:solidFill>
                            <a:srgbClr val="1E2226"/>
                          </a:solidFill>
                          <a:latin typeface="Calibri" pitchFamily="34" charset="0"/>
                          <a:ea typeface="Calibri" pitchFamily="34" charset="-122"/>
                          <a:cs typeface="Calibri" pitchFamily="34" charset="-120"/>
                        </a:rPr>
                        <a:t>94.8 / 95.0%</a:t>
                      </a:r>
                      <a:endParaRPr lang="en-US" sz="1300" dirty="0">
                        <a:latin typeface="Calibri" charset="0"/>
                        <a:ea typeface="Calibri" charset="0"/>
                        <a:cs typeface="Calibri" charset="0"/>
                      </a:endParaRPr>
                    </a:p>
                  </a:txBody>
                  <a:tcPr marL="91440" marR="91440" marT="45720" marB="45720" anchor="ctr">
                    <a:lnL w="9525" cap="flat" cmpd="sng" algn="ctr">
                      <a:solidFill>
                        <a:srgbClr val="D5D9DC"/>
                      </a:solidFill>
                      <a:prstDash val="solid"/>
                      <a:round/>
                      <a:headEnd type="none" w="med" len="med"/>
                      <a:tailEnd type="none" w="med" len="med"/>
                    </a:lnL>
                    <a:lnR w="9525" cap="flat" cmpd="sng" algn="ctr">
                      <a:solidFill>
                        <a:srgbClr val="D5D9DC"/>
                      </a:solidFill>
                      <a:prstDash val="solid"/>
                      <a:round/>
                      <a:headEnd type="none" w="med" len="med"/>
                      <a:tailEnd type="none" w="med" len="med"/>
                    </a:lnR>
                    <a:lnT w="9525" cap="flat" cmpd="sng" algn="ctr">
                      <a:solidFill>
                        <a:srgbClr val="D5D9DC"/>
                      </a:solidFill>
                      <a:prstDash val="solid"/>
                      <a:round/>
                      <a:headEnd type="none" w="med" len="med"/>
                      <a:tailEnd type="none" w="med" len="med"/>
                    </a:lnT>
                    <a:lnB w="9525" cap="flat" cmpd="sng" algn="ctr">
                      <a:solidFill>
                        <a:srgbClr val="D5D9DC"/>
                      </a:solidFill>
                      <a:prstDash val="solid"/>
                      <a:round/>
                      <a:headEnd type="none" w="med" len="med"/>
                      <a:tailEnd type="none" w="med" len="med"/>
                    </a:lnB>
                  </a:tcPr>
                </a:tc>
              </a:tr>
              <a:tr h="384048">
                <a:tc>
                  <a:txBody>
                    <a:bodyPr/>
                    <a:lstStyle/>
                    <a:p>
                      <a:pPr algn="ctr" indent="0" marL="0">
                        <a:buNone/>
                      </a:pPr>
                      <a:r>
                        <a:rPr lang="en-US" sz="1300" dirty="0">
                          <a:solidFill>
                            <a:srgbClr val="1E2226"/>
                          </a:solidFill>
                          <a:latin typeface="Calibri" pitchFamily="34" charset="0"/>
                          <a:ea typeface="Calibri" pitchFamily="34" charset="-122"/>
                          <a:cs typeface="Calibri" pitchFamily="34" charset="-120"/>
                        </a:rPr>
                        <a:t>6</a:t>
                      </a:r>
                      <a:endParaRPr lang="en-US" sz="1300" dirty="0">
                        <a:latin typeface="Calibri" charset="0"/>
                        <a:ea typeface="Calibri" charset="0"/>
                        <a:cs typeface="Calibri" charset="0"/>
                      </a:endParaRPr>
                    </a:p>
                  </a:txBody>
                  <a:tcPr marL="91440" marR="91440" marT="45720" marB="45720" anchor="ctr">
                    <a:lnL w="9525" cap="flat" cmpd="sng" algn="ctr">
                      <a:solidFill>
                        <a:srgbClr val="D5D9DC"/>
                      </a:solidFill>
                      <a:prstDash val="solid"/>
                      <a:round/>
                      <a:headEnd type="none" w="med" len="med"/>
                      <a:tailEnd type="none" w="med" len="med"/>
                    </a:lnL>
                    <a:lnR w="9525" cap="flat" cmpd="sng" algn="ctr">
                      <a:solidFill>
                        <a:srgbClr val="D5D9DC"/>
                      </a:solidFill>
                      <a:prstDash val="solid"/>
                      <a:round/>
                      <a:headEnd type="none" w="med" len="med"/>
                      <a:tailEnd type="none" w="med" len="med"/>
                    </a:lnR>
                    <a:lnT w="9525" cap="flat" cmpd="sng" algn="ctr">
                      <a:solidFill>
                        <a:srgbClr val="D5D9DC"/>
                      </a:solidFill>
                      <a:prstDash val="solid"/>
                      <a:round/>
                      <a:headEnd type="none" w="med" len="med"/>
                      <a:tailEnd type="none" w="med" len="med"/>
                    </a:lnT>
                    <a:lnB w="9525" cap="flat" cmpd="sng" algn="ctr">
                      <a:solidFill>
                        <a:srgbClr val="D5D9DC"/>
                      </a:solidFill>
                      <a:prstDash val="solid"/>
                      <a:round/>
                      <a:headEnd type="none" w="med" len="med"/>
                      <a:tailEnd type="none" w="med" len="med"/>
                    </a:lnB>
                  </a:tcPr>
                </a:tc>
                <a:tc>
                  <a:txBody>
                    <a:bodyPr/>
                    <a:lstStyle/>
                    <a:p>
                      <a:pPr indent="0" marL="0">
                        <a:buNone/>
                      </a:pPr>
                      <a:r>
                        <a:rPr lang="en-US" sz="1300" dirty="0">
                          <a:solidFill>
                            <a:srgbClr val="1E2226"/>
                          </a:solidFill>
                          <a:latin typeface="Calibri" pitchFamily="34" charset="0"/>
                          <a:ea typeface="Calibri" pitchFamily="34" charset="-122"/>
                          <a:cs typeface="Calibri" pitchFamily="34" charset="-120"/>
                        </a:rPr>
                        <a:t>Measured base slip + dynamics, then re-search</a:t>
                      </a:r>
                      <a:endParaRPr lang="en-US" sz="1300" dirty="0">
                        <a:latin typeface="Calibri" charset="0"/>
                        <a:ea typeface="Calibri" charset="0"/>
                        <a:cs typeface="Calibri" charset="0"/>
                      </a:endParaRPr>
                    </a:p>
                  </a:txBody>
                  <a:tcPr marL="91440" marR="91440" marT="45720" marB="45720" anchor="ctr">
                    <a:lnL w="9525" cap="flat" cmpd="sng" algn="ctr">
                      <a:solidFill>
                        <a:srgbClr val="D5D9DC"/>
                      </a:solidFill>
                      <a:prstDash val="solid"/>
                      <a:round/>
                      <a:headEnd type="none" w="med" len="med"/>
                      <a:tailEnd type="none" w="med" len="med"/>
                    </a:lnL>
                    <a:lnR w="9525" cap="flat" cmpd="sng" algn="ctr">
                      <a:solidFill>
                        <a:srgbClr val="D5D9DC"/>
                      </a:solidFill>
                      <a:prstDash val="solid"/>
                      <a:round/>
                      <a:headEnd type="none" w="med" len="med"/>
                      <a:tailEnd type="none" w="med" len="med"/>
                    </a:lnR>
                    <a:lnT w="9525" cap="flat" cmpd="sng" algn="ctr">
                      <a:solidFill>
                        <a:srgbClr val="D5D9DC"/>
                      </a:solidFill>
                      <a:prstDash val="solid"/>
                      <a:round/>
                      <a:headEnd type="none" w="med" len="med"/>
                      <a:tailEnd type="none" w="med" len="med"/>
                    </a:lnT>
                    <a:lnB w="9525" cap="flat" cmpd="sng" algn="ctr">
                      <a:solidFill>
                        <a:srgbClr val="D5D9DC"/>
                      </a:solidFill>
                      <a:prstDash val="solid"/>
                      <a:round/>
                      <a:headEnd type="none" w="med" len="med"/>
                      <a:tailEnd type="none" w="med" len="med"/>
                    </a:lnB>
                  </a:tcPr>
                </a:tc>
                <a:tc>
                  <a:txBody>
                    <a:bodyPr/>
                    <a:lstStyle/>
                    <a:p>
                      <a:pPr indent="0" marL="0">
                        <a:buNone/>
                      </a:pPr>
                      <a:r>
                        <a:rPr lang="en-US" sz="1300" dirty="0">
                          <a:solidFill>
                            <a:srgbClr val="1E2226"/>
                          </a:solidFill>
                          <a:latin typeface="Calibri" pitchFamily="34" charset="0"/>
                          <a:ea typeface="Calibri" pitchFamily="34" charset="-122"/>
                          <a:cs typeface="Calibri" pitchFamily="34" charset="-120"/>
                        </a:rPr>
                        <a:t>speed ×0.9–1.1, 0.02 m/s noise, lag 0.05–0.2 s, accel 1.5 m/s²; all knobs on</a:t>
                      </a:r>
                      <a:endParaRPr lang="en-US" sz="1300" dirty="0">
                        <a:latin typeface="Calibri" charset="0"/>
                        <a:ea typeface="Calibri" charset="0"/>
                        <a:cs typeface="Calibri" charset="0"/>
                      </a:endParaRPr>
                    </a:p>
                  </a:txBody>
                  <a:tcPr marL="91440" marR="91440" marT="45720" marB="45720" anchor="ctr">
                    <a:lnL w="9525" cap="flat" cmpd="sng" algn="ctr">
                      <a:solidFill>
                        <a:srgbClr val="D5D9DC"/>
                      </a:solidFill>
                      <a:prstDash val="solid"/>
                      <a:round/>
                      <a:headEnd type="none" w="med" len="med"/>
                      <a:tailEnd type="none" w="med" len="med"/>
                    </a:lnL>
                    <a:lnR w="9525" cap="flat" cmpd="sng" algn="ctr">
                      <a:solidFill>
                        <a:srgbClr val="D5D9DC"/>
                      </a:solidFill>
                      <a:prstDash val="solid"/>
                      <a:round/>
                      <a:headEnd type="none" w="med" len="med"/>
                      <a:tailEnd type="none" w="med" len="med"/>
                    </a:lnR>
                    <a:lnT w="9525" cap="flat" cmpd="sng" algn="ctr">
                      <a:solidFill>
                        <a:srgbClr val="D5D9DC"/>
                      </a:solidFill>
                      <a:prstDash val="solid"/>
                      <a:round/>
                      <a:headEnd type="none" w="med" len="med"/>
                      <a:tailEnd type="none" w="med" len="med"/>
                    </a:lnT>
                    <a:lnB w="9525" cap="flat" cmpd="sng" algn="ctr">
                      <a:solidFill>
                        <a:srgbClr val="D5D9DC"/>
                      </a:solidFill>
                      <a:prstDash val="solid"/>
                      <a:round/>
                      <a:headEnd type="none" w="med" len="med"/>
                      <a:tailEnd type="none" w="med" len="med"/>
                    </a:lnB>
                  </a:tcPr>
                </a:tc>
                <a:tc>
                  <a:txBody>
                    <a:bodyPr/>
                    <a:lstStyle/>
                    <a:p>
                      <a:pPr algn="ctr" indent="0" marL="0">
                        <a:buNone/>
                      </a:pPr>
                      <a:r>
                        <a:rPr lang="en-US" sz="1300" b="1" dirty="0">
                          <a:solidFill>
                            <a:srgbClr val="1B9E77"/>
                          </a:solidFill>
                          <a:latin typeface="Calibri" pitchFamily="34" charset="0"/>
                          <a:ea typeface="Calibri" pitchFamily="34" charset="-122"/>
                          <a:cs typeface="Calibri" pitchFamily="34" charset="-120"/>
                        </a:rPr>
                        <a:t>97.6%</a:t>
                      </a:r>
                      <a:endParaRPr lang="en-US" sz="1300" dirty="0">
                        <a:latin typeface="Calibri" charset="0"/>
                        <a:ea typeface="Calibri" charset="0"/>
                        <a:cs typeface="Calibri" charset="0"/>
                      </a:endParaRPr>
                    </a:p>
                  </a:txBody>
                  <a:tcPr marL="91440" marR="91440" marT="45720" marB="45720" anchor="ctr">
                    <a:lnL w="9525" cap="flat" cmpd="sng" algn="ctr">
                      <a:solidFill>
                        <a:srgbClr val="D5D9DC"/>
                      </a:solidFill>
                      <a:prstDash val="solid"/>
                      <a:round/>
                      <a:headEnd type="none" w="med" len="med"/>
                      <a:tailEnd type="none" w="med" len="med"/>
                    </a:lnL>
                    <a:lnR w="9525" cap="flat" cmpd="sng" algn="ctr">
                      <a:solidFill>
                        <a:srgbClr val="D5D9DC"/>
                      </a:solidFill>
                      <a:prstDash val="solid"/>
                      <a:round/>
                      <a:headEnd type="none" w="med" len="med"/>
                      <a:tailEnd type="none" w="med" len="med"/>
                    </a:lnR>
                    <a:lnT w="9525" cap="flat" cmpd="sng" algn="ctr">
                      <a:solidFill>
                        <a:srgbClr val="D5D9DC"/>
                      </a:solidFill>
                      <a:prstDash val="solid"/>
                      <a:round/>
                      <a:headEnd type="none" w="med" len="med"/>
                      <a:tailEnd type="none" w="med" len="med"/>
                    </a:lnT>
                    <a:lnB w="9525" cap="flat" cmpd="sng" algn="ctr">
                      <a:solidFill>
                        <a:srgbClr val="D5D9DC"/>
                      </a:solidFill>
                      <a:prstDash val="solid"/>
                      <a:round/>
                      <a:headEnd type="none" w="med" len="med"/>
                      <a:tailEnd type="none" w="med" len="med"/>
                    </a:lnB>
                  </a:tcPr>
                </a:tc>
              </a:tr>
              <a:tr h="384048">
                <a:tc>
                  <a:txBody>
                    <a:bodyPr/>
                    <a:lstStyle/>
                    <a:p>
                      <a:pPr algn="ctr" indent="0" marL="0">
                        <a:buNone/>
                      </a:pPr>
                      <a:r>
                        <a:rPr lang="en-US" sz="1300" dirty="0">
                          <a:solidFill>
                            <a:srgbClr val="1E2226"/>
                          </a:solidFill>
                          <a:latin typeface="Calibri" pitchFamily="34" charset="0"/>
                          <a:ea typeface="Calibri" pitchFamily="34" charset="-122"/>
                          <a:cs typeface="Calibri" pitchFamily="34" charset="-120"/>
                        </a:rPr>
                        <a:t>7</a:t>
                      </a:r>
                      <a:endParaRPr lang="en-US" sz="1300" dirty="0">
                        <a:latin typeface="Calibri" charset="0"/>
                        <a:ea typeface="Calibri" charset="0"/>
                        <a:cs typeface="Calibri" charset="0"/>
                      </a:endParaRPr>
                    </a:p>
                  </a:txBody>
                  <a:tcPr marL="91440" marR="91440" marT="45720" marB="45720" anchor="ctr">
                    <a:lnL w="9525" cap="flat" cmpd="sng" algn="ctr">
                      <a:solidFill>
                        <a:srgbClr val="D5D9DC"/>
                      </a:solidFill>
                      <a:prstDash val="solid"/>
                      <a:round/>
                      <a:headEnd type="none" w="med" len="med"/>
                      <a:tailEnd type="none" w="med" len="med"/>
                    </a:lnL>
                    <a:lnR w="9525" cap="flat" cmpd="sng" algn="ctr">
                      <a:solidFill>
                        <a:srgbClr val="D5D9DC"/>
                      </a:solidFill>
                      <a:prstDash val="solid"/>
                      <a:round/>
                      <a:headEnd type="none" w="med" len="med"/>
                      <a:tailEnd type="none" w="med" len="med"/>
                    </a:lnR>
                    <a:lnT w="9525" cap="flat" cmpd="sng" algn="ctr">
                      <a:solidFill>
                        <a:srgbClr val="D5D9DC"/>
                      </a:solidFill>
                      <a:prstDash val="solid"/>
                      <a:round/>
                      <a:headEnd type="none" w="med" len="med"/>
                      <a:tailEnd type="none" w="med" len="med"/>
                    </a:lnT>
                    <a:lnB w="9525" cap="flat" cmpd="sng" algn="ctr">
                      <a:solidFill>
                        <a:srgbClr val="D5D9DC"/>
                      </a:solidFill>
                      <a:prstDash val="solid"/>
                      <a:round/>
                      <a:headEnd type="none" w="med" len="med"/>
                      <a:tailEnd type="none" w="med" len="med"/>
                    </a:lnB>
                  </a:tcPr>
                </a:tc>
                <a:tc>
                  <a:txBody>
                    <a:bodyPr/>
                    <a:lstStyle/>
                    <a:p>
                      <a:pPr indent="0" marL="0">
                        <a:buNone/>
                      </a:pPr>
                      <a:r>
                        <a:rPr lang="en-US" sz="1300" dirty="0">
                          <a:solidFill>
                            <a:srgbClr val="1E2226"/>
                          </a:solidFill>
                          <a:latin typeface="Calibri" pitchFamily="34" charset="0"/>
                          <a:ea typeface="Calibri" pitchFamily="34" charset="-122"/>
                          <a:cs typeface="Calibri" pitchFamily="34" charset="-120"/>
                        </a:rPr>
                        <a:t>Wheel-driven base, real 4.14 kg</a:t>
                      </a:r>
                      <a:endParaRPr lang="en-US" sz="1300" dirty="0">
                        <a:latin typeface="Calibri" charset="0"/>
                        <a:ea typeface="Calibri" charset="0"/>
                        <a:cs typeface="Calibri" charset="0"/>
                      </a:endParaRPr>
                    </a:p>
                  </a:txBody>
                  <a:tcPr marL="91440" marR="91440" marT="45720" marB="45720" anchor="ctr">
                    <a:lnL w="9525" cap="flat" cmpd="sng" algn="ctr">
                      <a:solidFill>
                        <a:srgbClr val="D5D9DC"/>
                      </a:solidFill>
                      <a:prstDash val="solid"/>
                      <a:round/>
                      <a:headEnd type="none" w="med" len="med"/>
                      <a:tailEnd type="none" w="med" len="med"/>
                    </a:lnL>
                    <a:lnR w="9525" cap="flat" cmpd="sng" algn="ctr">
                      <a:solidFill>
                        <a:srgbClr val="D5D9DC"/>
                      </a:solidFill>
                      <a:prstDash val="solid"/>
                      <a:round/>
                      <a:headEnd type="none" w="med" len="med"/>
                      <a:tailEnd type="none" w="med" len="med"/>
                    </a:lnR>
                    <a:lnT w="9525" cap="flat" cmpd="sng" algn="ctr">
                      <a:solidFill>
                        <a:srgbClr val="D5D9DC"/>
                      </a:solidFill>
                      <a:prstDash val="solid"/>
                      <a:round/>
                      <a:headEnd type="none" w="med" len="med"/>
                      <a:tailEnd type="none" w="med" len="med"/>
                    </a:lnT>
                    <a:lnB w="9525" cap="flat" cmpd="sng" algn="ctr">
                      <a:solidFill>
                        <a:srgbClr val="D5D9DC"/>
                      </a:solidFill>
                      <a:prstDash val="solid"/>
                      <a:round/>
                      <a:headEnd type="none" w="med" len="med"/>
                      <a:tailEnd type="none" w="med" len="med"/>
                    </a:lnB>
                  </a:tcPr>
                </a:tc>
                <a:tc>
                  <a:txBody>
                    <a:bodyPr/>
                    <a:lstStyle/>
                    <a:p>
                      <a:pPr indent="0" marL="0">
                        <a:buNone/>
                      </a:pPr>
                      <a:r>
                        <a:rPr lang="en-US" sz="1300" dirty="0">
                          <a:solidFill>
                            <a:srgbClr val="1E2226"/>
                          </a:solidFill>
                          <a:latin typeface="Calibri" pitchFamily="34" charset="0"/>
                          <a:ea typeface="Calibri" pitchFamily="34" charset="-122"/>
                          <a:cs typeface="Calibri" pitchFamily="34" charset="-120"/>
                        </a:rPr>
                        <a:t>wheels + exact cylinder colliders; all knobs on</a:t>
                      </a:r>
                      <a:endParaRPr lang="en-US" sz="1300" dirty="0">
                        <a:latin typeface="Calibri" charset="0"/>
                        <a:ea typeface="Calibri" charset="0"/>
                        <a:cs typeface="Calibri" charset="0"/>
                      </a:endParaRPr>
                    </a:p>
                  </a:txBody>
                  <a:tcPr marL="91440" marR="91440" marT="45720" marB="45720" anchor="ctr">
                    <a:lnL w="9525" cap="flat" cmpd="sng" algn="ctr">
                      <a:solidFill>
                        <a:srgbClr val="D5D9DC"/>
                      </a:solidFill>
                      <a:prstDash val="solid"/>
                      <a:round/>
                      <a:headEnd type="none" w="med" len="med"/>
                      <a:tailEnd type="none" w="med" len="med"/>
                    </a:lnL>
                    <a:lnR w="9525" cap="flat" cmpd="sng" algn="ctr">
                      <a:solidFill>
                        <a:srgbClr val="D5D9DC"/>
                      </a:solidFill>
                      <a:prstDash val="solid"/>
                      <a:round/>
                      <a:headEnd type="none" w="med" len="med"/>
                      <a:tailEnd type="none" w="med" len="med"/>
                    </a:lnR>
                    <a:lnT w="9525" cap="flat" cmpd="sng" algn="ctr">
                      <a:solidFill>
                        <a:srgbClr val="D5D9DC"/>
                      </a:solidFill>
                      <a:prstDash val="solid"/>
                      <a:round/>
                      <a:headEnd type="none" w="med" len="med"/>
                      <a:tailEnd type="none" w="med" len="med"/>
                    </a:lnT>
                    <a:lnB w="9525" cap="flat" cmpd="sng" algn="ctr">
                      <a:solidFill>
                        <a:srgbClr val="D5D9DC"/>
                      </a:solidFill>
                      <a:prstDash val="solid"/>
                      <a:round/>
                      <a:headEnd type="none" w="med" len="med"/>
                      <a:tailEnd type="none" w="med" len="med"/>
                    </a:lnB>
                  </a:tcPr>
                </a:tc>
                <a:tc>
                  <a:txBody>
                    <a:bodyPr/>
                    <a:lstStyle/>
                    <a:p>
                      <a:pPr algn="ctr" indent="0" marL="0">
                        <a:buNone/>
                      </a:pPr>
                      <a:r>
                        <a:rPr lang="en-US" sz="1300" b="1" dirty="0">
                          <a:solidFill>
                            <a:srgbClr val="1B9E77"/>
                          </a:solidFill>
                          <a:latin typeface="Calibri" pitchFamily="34" charset="0"/>
                          <a:ea typeface="Calibri" pitchFamily="34" charset="-122"/>
                          <a:cs typeface="Calibri" pitchFamily="34" charset="-120"/>
                        </a:rPr>
                        <a:t>300 / 300</a:t>
                      </a:r>
                      <a:endParaRPr lang="en-US" sz="1300" dirty="0">
                        <a:latin typeface="Calibri" charset="0"/>
                        <a:ea typeface="Calibri" charset="0"/>
                        <a:cs typeface="Calibri" charset="0"/>
                      </a:endParaRPr>
                    </a:p>
                  </a:txBody>
                  <a:tcPr marL="91440" marR="91440" marT="45720" marB="45720" anchor="ctr">
                    <a:lnL w="9525" cap="flat" cmpd="sng" algn="ctr">
                      <a:solidFill>
                        <a:srgbClr val="D5D9DC"/>
                      </a:solidFill>
                      <a:prstDash val="solid"/>
                      <a:round/>
                      <a:headEnd type="none" w="med" len="med"/>
                      <a:tailEnd type="none" w="med" len="med"/>
                    </a:lnL>
                    <a:lnR w="9525" cap="flat" cmpd="sng" algn="ctr">
                      <a:solidFill>
                        <a:srgbClr val="D5D9DC"/>
                      </a:solidFill>
                      <a:prstDash val="solid"/>
                      <a:round/>
                      <a:headEnd type="none" w="med" len="med"/>
                      <a:tailEnd type="none" w="med" len="med"/>
                    </a:lnR>
                    <a:lnT w="9525" cap="flat" cmpd="sng" algn="ctr">
                      <a:solidFill>
                        <a:srgbClr val="D5D9DC"/>
                      </a:solidFill>
                      <a:prstDash val="solid"/>
                      <a:round/>
                      <a:headEnd type="none" w="med" len="med"/>
                      <a:tailEnd type="none" w="med" len="med"/>
                    </a:lnT>
                    <a:lnB w="9525" cap="flat" cmpd="sng" algn="ctr">
                      <a:solidFill>
                        <a:srgbClr val="D5D9DC"/>
                      </a:solidFill>
                      <a:prstDash val="solid"/>
                      <a:round/>
                      <a:headEnd type="none" w="med" len="med"/>
                      <a:tailEnd type="none" w="med" len="med"/>
                    </a:lnB>
                  </a:tcPr>
                </a:tc>
              </a:tr>
              <a:tr h="384048">
                <a:tc>
                  <a:txBody>
                    <a:bodyPr/>
                    <a:lstStyle/>
                    <a:p>
                      <a:pPr algn="ctr" indent="0" marL="0">
                        <a:buNone/>
                      </a:pPr>
                      <a:r>
                        <a:rPr lang="en-US" sz="1300" dirty="0">
                          <a:solidFill>
                            <a:srgbClr val="1E2226"/>
                          </a:solidFill>
                          <a:latin typeface="Calibri" pitchFamily="34" charset="0"/>
                          <a:ea typeface="Calibri" pitchFamily="34" charset="-122"/>
                          <a:cs typeface="Calibri" pitchFamily="34" charset="-120"/>
                        </a:rPr>
                        <a:t>8</a:t>
                      </a:r>
                      <a:endParaRPr lang="en-US" sz="1300" dirty="0">
                        <a:latin typeface="Calibri" charset="0"/>
                        <a:ea typeface="Calibri" charset="0"/>
                        <a:cs typeface="Calibri" charset="0"/>
                      </a:endParaRPr>
                    </a:p>
                  </a:txBody>
                  <a:tcPr marL="91440" marR="91440" marT="45720" marB="45720" anchor="ctr">
                    <a:lnL w="9525" cap="flat" cmpd="sng" algn="ctr">
                      <a:solidFill>
                        <a:srgbClr val="D5D9DC"/>
                      </a:solidFill>
                      <a:prstDash val="solid"/>
                      <a:round/>
                      <a:headEnd type="none" w="med" len="med"/>
                      <a:tailEnd type="none" w="med" len="med"/>
                    </a:lnL>
                    <a:lnR w="9525" cap="flat" cmpd="sng" algn="ctr">
                      <a:solidFill>
                        <a:srgbClr val="D5D9DC"/>
                      </a:solidFill>
                      <a:prstDash val="solid"/>
                      <a:round/>
                      <a:headEnd type="none" w="med" len="med"/>
                      <a:tailEnd type="none" w="med" len="med"/>
                    </a:lnR>
                    <a:lnT w="9525" cap="flat" cmpd="sng" algn="ctr">
                      <a:solidFill>
                        <a:srgbClr val="D5D9DC"/>
                      </a:solidFill>
                      <a:prstDash val="solid"/>
                      <a:round/>
                      <a:headEnd type="none" w="med" len="med"/>
                      <a:tailEnd type="none" w="med" len="med"/>
                    </a:lnT>
                    <a:lnB w="9525" cap="flat" cmpd="sng" algn="ctr">
                      <a:solidFill>
                        <a:srgbClr val="D5D9DC"/>
                      </a:solidFill>
                      <a:prstDash val="solid"/>
                      <a:round/>
                      <a:headEnd type="none" w="med" len="med"/>
                      <a:tailEnd type="none" w="med" len="med"/>
                    </a:lnB>
                  </a:tcPr>
                </a:tc>
                <a:tc>
                  <a:txBody>
                    <a:bodyPr/>
                    <a:lstStyle/>
                    <a:p>
                      <a:pPr indent="0" marL="0">
                        <a:buNone/>
                      </a:pPr>
                      <a:r>
                        <a:rPr lang="en-US" sz="1300" dirty="0">
                          <a:solidFill>
                            <a:srgbClr val="1E2226"/>
                          </a:solidFill>
                          <a:latin typeface="Calibri" pitchFamily="34" charset="0"/>
                          <a:ea typeface="Calibri" pitchFamily="34" charset="-122"/>
                          <a:cs typeface="Calibri" pitchFamily="34" charset="-120"/>
                        </a:rPr>
                        <a:t>Ball placement, finer physics</a:t>
                      </a:r>
                      <a:endParaRPr lang="en-US" sz="1300" dirty="0">
                        <a:latin typeface="Calibri" charset="0"/>
                        <a:ea typeface="Calibri" charset="0"/>
                        <a:cs typeface="Calibri" charset="0"/>
                      </a:endParaRPr>
                    </a:p>
                  </a:txBody>
                  <a:tcPr marL="91440" marR="91440" marT="45720" marB="45720" anchor="ctr">
                    <a:lnL w="9525" cap="flat" cmpd="sng" algn="ctr">
                      <a:solidFill>
                        <a:srgbClr val="D5D9DC"/>
                      </a:solidFill>
                      <a:prstDash val="solid"/>
                      <a:round/>
                      <a:headEnd type="none" w="med" len="med"/>
                      <a:tailEnd type="none" w="med" len="med"/>
                    </a:lnL>
                    <a:lnR w="9525" cap="flat" cmpd="sng" algn="ctr">
                      <a:solidFill>
                        <a:srgbClr val="D5D9DC"/>
                      </a:solidFill>
                      <a:prstDash val="solid"/>
                      <a:round/>
                      <a:headEnd type="none" w="med" len="med"/>
                      <a:tailEnd type="none" w="med" len="med"/>
                    </a:lnR>
                    <a:lnT w="9525" cap="flat" cmpd="sng" algn="ctr">
                      <a:solidFill>
                        <a:srgbClr val="D5D9DC"/>
                      </a:solidFill>
                      <a:prstDash val="solid"/>
                      <a:round/>
                      <a:headEnd type="none" w="med" len="med"/>
                      <a:tailEnd type="none" w="med" len="med"/>
                    </a:lnT>
                    <a:lnB w="9525" cap="flat" cmpd="sng" algn="ctr">
                      <a:solidFill>
                        <a:srgbClr val="D5D9DC"/>
                      </a:solidFill>
                      <a:prstDash val="solid"/>
                      <a:round/>
                      <a:headEnd type="none" w="med" len="med"/>
                      <a:tailEnd type="none" w="med" len="med"/>
                    </a:lnB>
                  </a:tcPr>
                </a:tc>
                <a:tc>
                  <a:txBody>
                    <a:bodyPr/>
                    <a:lstStyle/>
                    <a:p>
                      <a:pPr indent="0" marL="0">
                        <a:buNone/>
                      </a:pPr>
                      <a:r>
                        <a:rPr lang="en-US" sz="1300" dirty="0">
                          <a:solidFill>
                            <a:srgbClr val="1E2226"/>
                          </a:solidFill>
                          <a:latin typeface="Calibri" pitchFamily="34" charset="0"/>
                          <a:ea typeface="Calibri" pitchFamily="34" charset="-122"/>
                          <a:cs typeface="Calibri" pitchFamily="34" charset="-120"/>
                        </a:rPr>
                        <a:t>±3 cm along / ±1 cm across, 1200 Hz</a:t>
                      </a:r>
                      <a:endParaRPr lang="en-US" sz="1300" dirty="0">
                        <a:latin typeface="Calibri" charset="0"/>
                        <a:ea typeface="Calibri" charset="0"/>
                        <a:cs typeface="Calibri" charset="0"/>
                      </a:endParaRPr>
                    </a:p>
                  </a:txBody>
                  <a:tcPr marL="91440" marR="91440" marT="45720" marB="45720" anchor="ctr">
                    <a:lnL w="9525" cap="flat" cmpd="sng" algn="ctr">
                      <a:solidFill>
                        <a:srgbClr val="D5D9DC"/>
                      </a:solidFill>
                      <a:prstDash val="solid"/>
                      <a:round/>
                      <a:headEnd type="none" w="med" len="med"/>
                      <a:tailEnd type="none" w="med" len="med"/>
                    </a:lnL>
                    <a:lnR w="9525" cap="flat" cmpd="sng" algn="ctr">
                      <a:solidFill>
                        <a:srgbClr val="D5D9DC"/>
                      </a:solidFill>
                      <a:prstDash val="solid"/>
                      <a:round/>
                      <a:headEnd type="none" w="med" len="med"/>
                      <a:tailEnd type="none" w="med" len="med"/>
                    </a:lnR>
                    <a:lnT w="9525" cap="flat" cmpd="sng" algn="ctr">
                      <a:solidFill>
                        <a:srgbClr val="D5D9DC"/>
                      </a:solidFill>
                      <a:prstDash val="solid"/>
                      <a:round/>
                      <a:headEnd type="none" w="med" len="med"/>
                      <a:tailEnd type="none" w="med" len="med"/>
                    </a:lnT>
                    <a:lnB w="9525" cap="flat" cmpd="sng" algn="ctr">
                      <a:solidFill>
                        <a:srgbClr val="D5D9DC"/>
                      </a:solidFill>
                      <a:prstDash val="solid"/>
                      <a:round/>
                      <a:headEnd type="none" w="med" len="med"/>
                      <a:tailEnd type="none" w="med" len="med"/>
                    </a:lnB>
                  </a:tcPr>
                </a:tc>
                <a:tc>
                  <a:txBody>
                    <a:bodyPr/>
                    <a:lstStyle/>
                    <a:p>
                      <a:pPr algn="ctr" indent="0" marL="0">
                        <a:buNone/>
                      </a:pPr>
                      <a:r>
                        <a:rPr lang="en-US" sz="1300" b="1" dirty="0">
                          <a:solidFill>
                            <a:srgbClr val="1B9E77"/>
                          </a:solidFill>
                          <a:latin typeface="Calibri" pitchFamily="34" charset="0"/>
                          <a:ea typeface="Calibri" pitchFamily="34" charset="-122"/>
                          <a:cs typeface="Calibri" pitchFamily="34" charset="-120"/>
                        </a:rPr>
                        <a:t>98.3%</a:t>
                      </a:r>
                      <a:endParaRPr lang="en-US" sz="1300" dirty="0">
                        <a:latin typeface="Calibri" charset="0"/>
                        <a:ea typeface="Calibri" charset="0"/>
                        <a:cs typeface="Calibri" charset="0"/>
                      </a:endParaRPr>
                    </a:p>
                  </a:txBody>
                  <a:tcPr marL="91440" marR="91440" marT="45720" marB="45720" anchor="ctr">
                    <a:lnL w="9525" cap="flat" cmpd="sng" algn="ctr">
                      <a:solidFill>
                        <a:srgbClr val="D5D9DC"/>
                      </a:solidFill>
                      <a:prstDash val="solid"/>
                      <a:round/>
                      <a:headEnd type="none" w="med" len="med"/>
                      <a:tailEnd type="none" w="med" len="med"/>
                    </a:lnL>
                    <a:lnR w="9525" cap="flat" cmpd="sng" algn="ctr">
                      <a:solidFill>
                        <a:srgbClr val="D5D9DC"/>
                      </a:solidFill>
                      <a:prstDash val="solid"/>
                      <a:round/>
                      <a:headEnd type="none" w="med" len="med"/>
                      <a:tailEnd type="none" w="med" len="med"/>
                    </a:lnR>
                    <a:lnT w="9525" cap="flat" cmpd="sng" algn="ctr">
                      <a:solidFill>
                        <a:srgbClr val="D5D9DC"/>
                      </a:solidFill>
                      <a:prstDash val="solid"/>
                      <a:round/>
                      <a:headEnd type="none" w="med" len="med"/>
                      <a:tailEnd type="none" w="med" len="med"/>
                    </a:lnT>
                    <a:lnB w="9525" cap="flat" cmpd="sng" algn="ctr">
                      <a:solidFill>
                        <a:srgbClr val="D5D9DC"/>
                      </a:solidFill>
                      <a:prstDash val="solid"/>
                      <a:round/>
                      <a:headEnd type="none" w="med" len="med"/>
                      <a:tailEnd type="none" w="med" len="med"/>
                    </a:lnB>
                  </a:tcPr>
                </a:tc>
              </a:tr>
              <a:tr h="384048">
                <a:tc>
                  <a:txBody>
                    <a:bodyPr/>
                    <a:lstStyle/>
                    <a:p>
                      <a:pPr algn="ctr" indent="0" marL="0">
                        <a:buNone/>
                      </a:pPr>
                      <a:r>
                        <a:rPr lang="en-US" sz="1300" dirty="0">
                          <a:solidFill>
                            <a:srgbClr val="1E2226"/>
                          </a:solidFill>
                          <a:latin typeface="Calibri" pitchFamily="34" charset="0"/>
                          <a:ea typeface="Calibri" pitchFamily="34" charset="-122"/>
                          <a:cs typeface="Calibri" pitchFamily="34" charset="-120"/>
                        </a:rPr>
                        <a:t>9</a:t>
                      </a:r>
                      <a:endParaRPr lang="en-US" sz="1300" dirty="0">
                        <a:latin typeface="Calibri" charset="0"/>
                        <a:ea typeface="Calibri" charset="0"/>
                        <a:cs typeface="Calibri" charset="0"/>
                      </a:endParaRPr>
                    </a:p>
                  </a:txBody>
                  <a:tcPr marL="91440" marR="91440" marT="45720" marB="45720" anchor="ctr">
                    <a:lnL w="9525" cap="flat" cmpd="sng" algn="ctr">
                      <a:solidFill>
                        <a:srgbClr val="D5D9DC"/>
                      </a:solidFill>
                      <a:prstDash val="solid"/>
                      <a:round/>
                      <a:headEnd type="none" w="med" len="med"/>
                      <a:tailEnd type="none" w="med" len="med"/>
                    </a:lnL>
                    <a:lnR w="9525" cap="flat" cmpd="sng" algn="ctr">
                      <a:solidFill>
                        <a:srgbClr val="D5D9DC"/>
                      </a:solidFill>
                      <a:prstDash val="solid"/>
                      <a:round/>
                      <a:headEnd type="none" w="med" len="med"/>
                      <a:tailEnd type="none" w="med" len="med"/>
                    </a:lnR>
                    <a:lnT w="9525" cap="flat" cmpd="sng" algn="ctr">
                      <a:solidFill>
                        <a:srgbClr val="D5D9DC"/>
                      </a:solidFill>
                      <a:prstDash val="solid"/>
                      <a:round/>
                      <a:headEnd type="none" w="med" len="med"/>
                      <a:tailEnd type="none" w="med" len="med"/>
                    </a:lnT>
                    <a:lnB w="9525" cap="flat" cmpd="sng" algn="ctr">
                      <a:solidFill>
                        <a:srgbClr val="D5D9DC"/>
                      </a:solidFill>
                      <a:prstDash val="solid"/>
                      <a:round/>
                      <a:headEnd type="none" w="med" len="med"/>
                      <a:tailEnd type="none" w="med" len="med"/>
                    </a:lnB>
                  </a:tcPr>
                </a:tc>
                <a:tc>
                  <a:txBody>
                    <a:bodyPr/>
                    <a:lstStyle/>
                    <a:p>
                      <a:pPr indent="0" marL="0">
                        <a:buNone/>
                      </a:pPr>
                      <a:r>
                        <a:rPr lang="en-US" sz="1300" dirty="0">
                          <a:solidFill>
                            <a:srgbClr val="1E2226"/>
                          </a:solidFill>
                          <a:latin typeface="Calibri" pitchFamily="34" charset="0"/>
                          <a:ea typeface="Calibri" pitchFamily="34" charset="-122"/>
                          <a:cs typeface="Calibri" pitchFamily="34" charset="-120"/>
                        </a:rPr>
                        <a:t>Floor tilt</a:t>
                      </a:r>
                      <a:endParaRPr lang="en-US" sz="1300" dirty="0">
                        <a:latin typeface="Calibri" charset="0"/>
                        <a:ea typeface="Calibri" charset="0"/>
                        <a:cs typeface="Calibri" charset="0"/>
                      </a:endParaRPr>
                    </a:p>
                  </a:txBody>
                  <a:tcPr marL="91440" marR="91440" marT="45720" marB="45720" anchor="ctr">
                    <a:lnL w="9525" cap="flat" cmpd="sng" algn="ctr">
                      <a:solidFill>
                        <a:srgbClr val="D5D9DC"/>
                      </a:solidFill>
                      <a:prstDash val="solid"/>
                      <a:round/>
                      <a:headEnd type="none" w="med" len="med"/>
                      <a:tailEnd type="none" w="med" len="med"/>
                    </a:lnL>
                    <a:lnR w="9525" cap="flat" cmpd="sng" algn="ctr">
                      <a:solidFill>
                        <a:srgbClr val="D5D9DC"/>
                      </a:solidFill>
                      <a:prstDash val="solid"/>
                      <a:round/>
                      <a:headEnd type="none" w="med" len="med"/>
                      <a:tailEnd type="none" w="med" len="med"/>
                    </a:lnR>
                    <a:lnT w="9525" cap="flat" cmpd="sng" algn="ctr">
                      <a:solidFill>
                        <a:srgbClr val="D5D9DC"/>
                      </a:solidFill>
                      <a:prstDash val="solid"/>
                      <a:round/>
                      <a:headEnd type="none" w="med" len="med"/>
                      <a:tailEnd type="none" w="med" len="med"/>
                    </a:lnT>
                    <a:lnB w="9525" cap="flat" cmpd="sng" algn="ctr">
                      <a:solidFill>
                        <a:srgbClr val="D5D9DC"/>
                      </a:solidFill>
                      <a:prstDash val="solid"/>
                      <a:round/>
                      <a:headEnd type="none" w="med" len="med"/>
                      <a:tailEnd type="none" w="med" len="med"/>
                    </a:lnB>
                  </a:tcPr>
                </a:tc>
                <a:tc>
                  <a:txBody>
                    <a:bodyPr/>
                    <a:lstStyle/>
                    <a:p>
                      <a:pPr indent="0" marL="0">
                        <a:buNone/>
                      </a:pPr>
                      <a:r>
                        <a:rPr lang="en-US" sz="1300" dirty="0">
                          <a:solidFill>
                            <a:srgbClr val="1E2226"/>
                          </a:solidFill>
                          <a:latin typeface="Calibri" pitchFamily="34" charset="0"/>
                          <a:ea typeface="Calibri" pitchFamily="34" charset="-122"/>
                          <a:cs typeface="Calibri" pitchFamily="34" charset="-120"/>
                        </a:rPr>
                        <a:t>random roll/pitch ±0.2° / ±0.3°</a:t>
                      </a:r>
                      <a:endParaRPr lang="en-US" sz="1300" dirty="0">
                        <a:latin typeface="Calibri" charset="0"/>
                        <a:ea typeface="Calibri" charset="0"/>
                        <a:cs typeface="Calibri" charset="0"/>
                      </a:endParaRPr>
                    </a:p>
                  </a:txBody>
                  <a:tcPr marL="91440" marR="91440" marT="45720" marB="45720" anchor="ctr">
                    <a:lnL w="9525" cap="flat" cmpd="sng" algn="ctr">
                      <a:solidFill>
                        <a:srgbClr val="D5D9DC"/>
                      </a:solidFill>
                      <a:prstDash val="solid"/>
                      <a:round/>
                      <a:headEnd type="none" w="med" len="med"/>
                      <a:tailEnd type="none" w="med" len="med"/>
                    </a:lnL>
                    <a:lnR w="9525" cap="flat" cmpd="sng" algn="ctr">
                      <a:solidFill>
                        <a:srgbClr val="D5D9DC"/>
                      </a:solidFill>
                      <a:prstDash val="solid"/>
                      <a:round/>
                      <a:headEnd type="none" w="med" len="med"/>
                      <a:tailEnd type="none" w="med" len="med"/>
                    </a:lnR>
                    <a:lnT w="9525" cap="flat" cmpd="sng" algn="ctr">
                      <a:solidFill>
                        <a:srgbClr val="D5D9DC"/>
                      </a:solidFill>
                      <a:prstDash val="solid"/>
                      <a:round/>
                      <a:headEnd type="none" w="med" len="med"/>
                      <a:tailEnd type="none" w="med" len="med"/>
                    </a:lnT>
                    <a:lnB w="9525" cap="flat" cmpd="sng" algn="ctr">
                      <a:solidFill>
                        <a:srgbClr val="D5D9DC"/>
                      </a:solidFill>
                      <a:prstDash val="solid"/>
                      <a:round/>
                      <a:headEnd type="none" w="med" len="med"/>
                      <a:tailEnd type="none" w="med" len="med"/>
                    </a:lnB>
                  </a:tcPr>
                </a:tc>
                <a:tc>
                  <a:txBody>
                    <a:bodyPr/>
                    <a:lstStyle/>
                    <a:p>
                      <a:pPr algn="ctr" indent="0" marL="0">
                        <a:buNone/>
                      </a:pPr>
                      <a:r>
                        <a:rPr lang="en-US" sz="1300" dirty="0">
                          <a:solidFill>
                            <a:srgbClr val="1E2226"/>
                          </a:solidFill>
                          <a:latin typeface="Calibri" pitchFamily="34" charset="0"/>
                          <a:ea typeface="Calibri" pitchFamily="34" charset="-122"/>
                          <a:cs typeface="Calibri" pitchFamily="34" charset="-120"/>
                        </a:rPr>
                        <a:t>99.3 / 94.0%</a:t>
                      </a:r>
                      <a:endParaRPr lang="en-US" sz="1300" dirty="0">
                        <a:latin typeface="Calibri" charset="0"/>
                        <a:ea typeface="Calibri" charset="0"/>
                        <a:cs typeface="Calibri" charset="0"/>
                      </a:endParaRPr>
                    </a:p>
                  </a:txBody>
                  <a:tcPr marL="91440" marR="91440" marT="45720" marB="45720" anchor="ctr">
                    <a:lnL w="9525" cap="flat" cmpd="sng" algn="ctr">
                      <a:solidFill>
                        <a:srgbClr val="D5D9DC"/>
                      </a:solidFill>
                      <a:prstDash val="solid"/>
                      <a:round/>
                      <a:headEnd type="none" w="med" len="med"/>
                      <a:tailEnd type="none" w="med" len="med"/>
                    </a:lnL>
                    <a:lnR w="9525" cap="flat" cmpd="sng" algn="ctr">
                      <a:solidFill>
                        <a:srgbClr val="D5D9DC"/>
                      </a:solidFill>
                      <a:prstDash val="solid"/>
                      <a:round/>
                      <a:headEnd type="none" w="med" len="med"/>
                      <a:tailEnd type="none" w="med" len="med"/>
                    </a:lnR>
                    <a:lnT w="9525" cap="flat" cmpd="sng" algn="ctr">
                      <a:solidFill>
                        <a:srgbClr val="D5D9DC"/>
                      </a:solidFill>
                      <a:prstDash val="solid"/>
                      <a:round/>
                      <a:headEnd type="none" w="med" len="med"/>
                      <a:tailEnd type="none" w="med" len="med"/>
                    </a:lnT>
                    <a:lnB w="9525" cap="flat" cmpd="sng" algn="ctr">
                      <a:solidFill>
                        <a:srgbClr val="D5D9DC"/>
                      </a:solidFill>
                      <a:prstDash val="solid"/>
                      <a:round/>
                      <a:headEnd type="none" w="med" len="med"/>
                      <a:tailEnd type="none" w="med" len="med"/>
                    </a:lnB>
                  </a:tcPr>
                </a:tc>
              </a:tr>
              <a:tr h="384048">
                <a:tc>
                  <a:txBody>
                    <a:bodyPr/>
                    <a:lstStyle/>
                    <a:p>
                      <a:pPr algn="ctr" indent="0" marL="0">
                        <a:buNone/>
                      </a:pPr>
                      <a:r>
                        <a:rPr lang="en-US" sz="1300" dirty="0">
                          <a:solidFill>
                            <a:srgbClr val="1E2226"/>
                          </a:solidFill>
                          <a:latin typeface="Calibri" pitchFamily="34" charset="0"/>
                          <a:ea typeface="Calibri" pitchFamily="34" charset="-122"/>
                          <a:cs typeface="Calibri" pitchFamily="34" charset="-120"/>
                        </a:rPr>
                        <a:t>10</a:t>
                      </a:r>
                      <a:endParaRPr lang="en-US" sz="1300" dirty="0">
                        <a:latin typeface="Calibri" charset="0"/>
                        <a:ea typeface="Calibri" charset="0"/>
                        <a:cs typeface="Calibri" charset="0"/>
                      </a:endParaRPr>
                    </a:p>
                  </a:txBody>
                  <a:tcPr marL="91440" marR="91440" marT="45720" marB="45720" anchor="ctr">
                    <a:lnL w="9525" cap="flat" cmpd="sng" algn="ctr">
                      <a:solidFill>
                        <a:srgbClr val="D5D9DC"/>
                      </a:solidFill>
                      <a:prstDash val="solid"/>
                      <a:round/>
                      <a:headEnd type="none" w="med" len="med"/>
                      <a:tailEnd type="none" w="med" len="med"/>
                    </a:lnL>
                    <a:lnR w="9525" cap="flat" cmpd="sng" algn="ctr">
                      <a:solidFill>
                        <a:srgbClr val="D5D9DC"/>
                      </a:solidFill>
                      <a:prstDash val="solid"/>
                      <a:round/>
                      <a:headEnd type="none" w="med" len="med"/>
                      <a:tailEnd type="none" w="med" len="med"/>
                    </a:lnR>
                    <a:lnT w="9525" cap="flat" cmpd="sng" algn="ctr">
                      <a:solidFill>
                        <a:srgbClr val="D5D9DC"/>
                      </a:solidFill>
                      <a:prstDash val="solid"/>
                      <a:round/>
                      <a:headEnd type="none" w="med" len="med"/>
                      <a:tailEnd type="none" w="med" len="med"/>
                    </a:lnT>
                    <a:lnB w="9525" cap="flat" cmpd="sng" algn="ctr">
                      <a:solidFill>
                        <a:srgbClr val="D5D9DC"/>
                      </a:solidFill>
                      <a:prstDash val="solid"/>
                      <a:round/>
                      <a:headEnd type="none" w="med" len="med"/>
                      <a:tailEnd type="none" w="med" len="med"/>
                    </a:lnB>
                  </a:tcPr>
                </a:tc>
                <a:tc>
                  <a:txBody>
                    <a:bodyPr/>
                    <a:lstStyle/>
                    <a:p>
                      <a:pPr indent="0" marL="0">
                        <a:buNone/>
                      </a:pPr>
                      <a:r>
                        <a:rPr lang="en-US" sz="1300" dirty="0">
                          <a:solidFill>
                            <a:srgbClr val="1E2226"/>
                          </a:solidFill>
                          <a:latin typeface="Calibri" pitchFamily="34" charset="0"/>
                          <a:ea typeface="Calibri" pitchFamily="34" charset="-122"/>
                          <a:cs typeface="Calibri" pitchFamily="34" charset="-120"/>
                        </a:rPr>
                        <a:t>Ball variation</a:t>
                      </a:r>
                      <a:endParaRPr lang="en-US" sz="1300" dirty="0">
                        <a:latin typeface="Calibri" charset="0"/>
                        <a:ea typeface="Calibri" charset="0"/>
                        <a:cs typeface="Calibri" charset="0"/>
                      </a:endParaRPr>
                    </a:p>
                  </a:txBody>
                  <a:tcPr marL="91440" marR="91440" marT="45720" marB="45720" anchor="ctr">
                    <a:lnL w="9525" cap="flat" cmpd="sng" algn="ctr">
                      <a:solidFill>
                        <a:srgbClr val="D5D9DC"/>
                      </a:solidFill>
                      <a:prstDash val="solid"/>
                      <a:round/>
                      <a:headEnd type="none" w="med" len="med"/>
                      <a:tailEnd type="none" w="med" len="med"/>
                    </a:lnL>
                    <a:lnR w="9525" cap="flat" cmpd="sng" algn="ctr">
                      <a:solidFill>
                        <a:srgbClr val="D5D9DC"/>
                      </a:solidFill>
                      <a:prstDash val="solid"/>
                      <a:round/>
                      <a:headEnd type="none" w="med" len="med"/>
                      <a:tailEnd type="none" w="med" len="med"/>
                    </a:lnR>
                    <a:lnT w="9525" cap="flat" cmpd="sng" algn="ctr">
                      <a:solidFill>
                        <a:srgbClr val="D5D9DC"/>
                      </a:solidFill>
                      <a:prstDash val="solid"/>
                      <a:round/>
                      <a:headEnd type="none" w="med" len="med"/>
                      <a:tailEnd type="none" w="med" len="med"/>
                    </a:lnT>
                    <a:lnB w="9525" cap="flat" cmpd="sng" algn="ctr">
                      <a:solidFill>
                        <a:srgbClr val="D5D9DC"/>
                      </a:solidFill>
                      <a:prstDash val="solid"/>
                      <a:round/>
                      <a:headEnd type="none" w="med" len="med"/>
                      <a:tailEnd type="none" w="med" len="med"/>
                    </a:lnB>
                  </a:tcPr>
                </a:tc>
                <a:tc>
                  <a:txBody>
                    <a:bodyPr/>
                    <a:lstStyle/>
                    <a:p>
                      <a:pPr indent="0" marL="0">
                        <a:buNone/>
                      </a:pPr>
                      <a:r>
                        <a:rPr lang="en-US" sz="1300" dirty="0">
                          <a:solidFill>
                            <a:srgbClr val="1E2226"/>
                          </a:solidFill>
                          <a:latin typeface="Calibri" pitchFamily="34" charset="0"/>
                          <a:ea typeface="Calibri" pitchFamily="34" charset="-122"/>
                          <a:cs typeface="Calibri" pitchFamily="34" charset="-120"/>
                        </a:rPr>
                        <a:t>137–145 g, CoM offset ≤2 mm, radius 31–33 mm</a:t>
                      </a:r>
                      <a:endParaRPr lang="en-US" sz="1300" dirty="0">
                        <a:latin typeface="Calibri" charset="0"/>
                        <a:ea typeface="Calibri" charset="0"/>
                        <a:cs typeface="Calibri" charset="0"/>
                      </a:endParaRPr>
                    </a:p>
                  </a:txBody>
                  <a:tcPr marL="91440" marR="91440" marT="45720" marB="45720" anchor="ctr">
                    <a:lnL w="9525" cap="flat" cmpd="sng" algn="ctr">
                      <a:solidFill>
                        <a:srgbClr val="D5D9DC"/>
                      </a:solidFill>
                      <a:prstDash val="solid"/>
                      <a:round/>
                      <a:headEnd type="none" w="med" len="med"/>
                      <a:tailEnd type="none" w="med" len="med"/>
                    </a:lnL>
                    <a:lnR w="9525" cap="flat" cmpd="sng" algn="ctr">
                      <a:solidFill>
                        <a:srgbClr val="D5D9DC"/>
                      </a:solidFill>
                      <a:prstDash val="solid"/>
                      <a:round/>
                      <a:headEnd type="none" w="med" len="med"/>
                      <a:tailEnd type="none" w="med" len="med"/>
                    </a:lnR>
                    <a:lnT w="9525" cap="flat" cmpd="sng" algn="ctr">
                      <a:solidFill>
                        <a:srgbClr val="D5D9DC"/>
                      </a:solidFill>
                      <a:prstDash val="solid"/>
                      <a:round/>
                      <a:headEnd type="none" w="med" len="med"/>
                      <a:tailEnd type="none" w="med" len="med"/>
                    </a:lnT>
                    <a:lnB w="9525" cap="flat" cmpd="sng" algn="ctr">
                      <a:solidFill>
                        <a:srgbClr val="D5D9DC"/>
                      </a:solidFill>
                      <a:prstDash val="solid"/>
                      <a:round/>
                      <a:headEnd type="none" w="med" len="med"/>
                      <a:tailEnd type="none" w="med" len="med"/>
                    </a:lnB>
                  </a:tcPr>
                </a:tc>
                <a:tc>
                  <a:txBody>
                    <a:bodyPr/>
                    <a:lstStyle/>
                    <a:p>
                      <a:pPr algn="ctr" indent="0" marL="0">
                        <a:buNone/>
                      </a:pPr>
                      <a:r>
                        <a:rPr lang="en-US" sz="1300" b="1" dirty="0">
                          <a:solidFill>
                            <a:srgbClr val="1B9E77"/>
                          </a:solidFill>
                          <a:latin typeface="Calibri" pitchFamily="34" charset="0"/>
                          <a:ea typeface="Calibri" pitchFamily="34" charset="-122"/>
                          <a:cs typeface="Calibri" pitchFamily="34" charset="-120"/>
                        </a:rPr>
                        <a:t>100%</a:t>
                      </a:r>
                      <a:endParaRPr lang="en-US" sz="1300" dirty="0">
                        <a:latin typeface="Calibri" charset="0"/>
                        <a:ea typeface="Calibri" charset="0"/>
                        <a:cs typeface="Calibri" charset="0"/>
                      </a:endParaRPr>
                    </a:p>
                  </a:txBody>
                  <a:tcPr marL="91440" marR="91440" marT="45720" marB="45720" anchor="ctr">
                    <a:lnL w="9525" cap="flat" cmpd="sng" algn="ctr">
                      <a:solidFill>
                        <a:srgbClr val="D5D9DC"/>
                      </a:solidFill>
                      <a:prstDash val="solid"/>
                      <a:round/>
                      <a:headEnd type="none" w="med" len="med"/>
                      <a:tailEnd type="none" w="med" len="med"/>
                    </a:lnL>
                    <a:lnR w="9525" cap="flat" cmpd="sng" algn="ctr">
                      <a:solidFill>
                        <a:srgbClr val="D5D9DC"/>
                      </a:solidFill>
                      <a:prstDash val="solid"/>
                      <a:round/>
                      <a:headEnd type="none" w="med" len="med"/>
                      <a:tailEnd type="none" w="med" len="med"/>
                    </a:lnR>
                    <a:lnT w="9525" cap="flat" cmpd="sng" algn="ctr">
                      <a:solidFill>
                        <a:srgbClr val="D5D9DC"/>
                      </a:solidFill>
                      <a:prstDash val="solid"/>
                      <a:round/>
                      <a:headEnd type="none" w="med" len="med"/>
                      <a:tailEnd type="none" w="med" len="med"/>
                    </a:lnT>
                    <a:lnB w="9525" cap="flat" cmpd="sng" algn="ctr">
                      <a:solidFill>
                        <a:srgbClr val="D5D9DC"/>
                      </a:solidFill>
                      <a:prstDash val="solid"/>
                      <a:round/>
                      <a:headEnd type="none" w="med" len="med"/>
                      <a:tailEnd type="none" w="med" len="med"/>
                    </a:lnB>
                  </a:tcPr>
                </a:tc>
              </a:tr>
            </a:tbl>
          </a:graphicData>
        </a:graphic>
      </p:graphicFrame>
      <p:sp>
        <p:nvSpPr>
          <p:cNvPr id="4" name="Text 1"/>
          <p:cNvSpPr txBox="1"/>
          <p:nvPr/>
        </p:nvSpPr>
        <p:spPr>
          <a:xfrm>
            <a:off x="548640" y="6172200"/>
            <a:ext cx="11094415" cy="320040"/>
          </a:xfrm>
          <a:prstGeom prst="rect">
            <a:avLst/>
          </a:prstGeom>
          <a:noFill/>
          <a:ln/>
        </p:spPr>
        <p:txBody>
          <a:bodyPr wrap="square" lIns="0" tIns="0" rIns="0" bIns="0" rtlCol="0" anchor="ctr"/>
          <a:lstStyle/>
          <a:p>
            <a:pPr indent="0" marL="0">
              <a:buNone/>
            </a:pPr>
            <a:r>
              <a:rPr lang="en-US" sz="1100" i="1" dirty="0">
                <a:solidFill>
                  <a:schemeClr val="accent6"/>
                </a:solidFill>
              </a:rPr>
              <a:t>Rows 2–5: one knob at a time on the MIT trajectory, 500 runs each. Rows 6–10 keep all realistic knobs on; 300–500 runs (400 for row 8).</a:t>
            </a:r>
            <a:endParaRPr lang="en-US" sz="1100" dirty="0"/>
          </a:p>
        </p:txBody>
      </p:sp>
      <p:sp>
        <p:nvSpPr>
          <p:cNvPr id="25" name="Slide Number Placeholder 0"/>
          <p:cNvSpPr>
            <a:spLocks noGrp="1"/>
          </p:cNvSpPr>
          <p:nvPr>
            <p:ph type="sldNum" sz="quarter" idx="4294967295"/>
          </p:nvPr>
        </p:nvSpPr>
        <p:spPr>
          <a:xfrm>
            <a:off x="1136873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31520"/>
          </a:xfrm>
          <a:prstGeom prst="rect">
            <a:avLst/>
          </a:prstGeom>
          <a:noFill/>
          <a:ln/>
        </p:spPr>
        <p:txBody>
          <a:bodyPr wrap="square" lIns="0" tIns="0" rIns="0" bIns="0" rtlCol="0" anchor="ctr"/>
          <a:lstStyle/>
          <a:p>
            <a:pPr algn="l" indent="0" marL="0">
              <a:buNone/>
            </a:pPr>
            <a:r>
              <a:rPr lang="en-US" sz="3000" b="1" dirty="0">
                <a:solidFill>
                  <a:schemeClr val="tx1"/>
                </a:solidFill>
              </a:rPr>
              <a:t>Some randomizations could not be added, or are not modeled yet</a:t>
            </a:r>
            <a:endParaRPr lang="en-US" sz="3000" dirty="0"/>
          </a:p>
        </p:txBody>
      </p:sp>
      <p:sp>
        <p:nvSpPr>
          <p:cNvPr id="3" name="Shape 1"/>
          <p:cNvSpPr/>
          <p:nvPr/>
        </p:nvSpPr>
        <p:spPr>
          <a:xfrm>
            <a:off x="548640" y="1371600"/>
            <a:ext cx="3520440" cy="4663440"/>
          </a:xfrm>
          <a:prstGeom prst="roundRect">
            <a:avLst>
              <a:gd name="adj" fmla="val 2078"/>
            </a:avLst>
          </a:prstGeom>
          <a:solidFill>
            <a:schemeClr val="bg2"/>
          </a:solidFill>
          <a:ln/>
        </p:spPr>
      </p:sp>
      <p:sp>
        <p:nvSpPr>
          <p:cNvPr id="4" name="Shape 2"/>
          <p:cNvSpPr/>
          <p:nvPr/>
        </p:nvSpPr>
        <p:spPr>
          <a:xfrm>
            <a:off x="777240" y="1645920"/>
            <a:ext cx="274320" cy="274320"/>
          </a:xfrm>
          <a:prstGeom prst="ellipse">
            <a:avLst/>
          </a:prstGeom>
          <a:solidFill>
            <a:schemeClr val="accent3"/>
          </a:solidFill>
          <a:ln/>
        </p:spPr>
      </p:sp>
      <p:sp>
        <p:nvSpPr>
          <p:cNvPr id="5" name="Text 3"/>
          <p:cNvSpPr txBox="1"/>
          <p:nvPr/>
        </p:nvSpPr>
        <p:spPr>
          <a:xfrm>
            <a:off x="1188720" y="1554480"/>
            <a:ext cx="2697480" cy="502920"/>
          </a:xfrm>
          <a:prstGeom prst="rect">
            <a:avLst/>
          </a:prstGeom>
          <a:noFill/>
          <a:ln/>
        </p:spPr>
        <p:txBody>
          <a:bodyPr wrap="square" lIns="0" tIns="0" rIns="0" bIns="0" rtlCol="0" anchor="ctr"/>
          <a:lstStyle/>
          <a:p>
            <a:pPr indent="0" marL="0">
              <a:buNone/>
            </a:pPr>
            <a:r>
              <a:rPr lang="en-US" sz="1600" b="1" dirty="0">
                <a:solidFill>
                  <a:schemeClr val="tx1"/>
                </a:solidFill>
              </a:rPr>
              <a:t>Breaks the open-loop scoop</a:t>
            </a:r>
            <a:endParaRPr lang="en-US" sz="1600" dirty="0"/>
          </a:p>
        </p:txBody>
      </p:sp>
      <p:sp>
        <p:nvSpPr>
          <p:cNvPr id="6" name="Text 4"/>
          <p:cNvSpPr txBox="1"/>
          <p:nvPr/>
        </p:nvSpPr>
        <p:spPr>
          <a:xfrm>
            <a:off x="777240" y="2240280"/>
            <a:ext cx="3063240" cy="3657600"/>
          </a:xfrm>
          <a:prstGeom prst="rect">
            <a:avLst/>
          </a:prstGeom>
          <a:noFill/>
          <a:ln/>
        </p:spPr>
        <p:txBody>
          <a:bodyPr wrap="square" lIns="0" tIns="0" rIns="0" bIns="0" rtlCol="0" anchor="t"/>
          <a:lstStyle/>
          <a:p>
            <a:pPr indent="0" marL="0">
              <a:buNone/>
            </a:pPr>
            <a:r>
              <a:rPr lang="en-US" sz="1300" b="1" dirty="0">
                <a:solidFill>
                  <a:schemeClr val="tx1"/>
                </a:solidFill>
              </a:rPr>
              <a:t>Lateral / heading misalignment</a:t>
            </a:r>
            <a:endParaRPr lang="en-US" sz="1300" dirty="0"/>
          </a:p>
          <a:p>
            <a:pPr indent="0" marL="0">
              <a:spcAft>
                <a:spcPts val="1000"/>
              </a:spcAft>
              <a:buNone/>
            </a:pPr>
            <a:r>
              <a:rPr lang="en-US" sz="1300" dirty="0">
                <a:solidFill>
                  <a:schemeClr val="tx2"/>
                </a:solidFill>
              </a:rPr>
              <a:t>beyond ±2 cm / ±1° success collapses: an open-loop motion cannot absorb it</a:t>
            </a:r>
            <a:endParaRPr lang="en-US" sz="1300" dirty="0"/>
          </a:p>
          <a:p>
            <a:pPr indent="0" marL="0">
              <a:buNone/>
            </a:pPr>
            <a:r>
              <a:rPr lang="en-US" sz="1300" b="1" dirty="0">
                <a:solidFill>
                  <a:schemeClr val="tx1"/>
                </a:solidFill>
              </a:rPr>
              <a:t>Floor tilt ±1°</a:t>
            </a:r>
            <a:endParaRPr lang="en-US" sz="1300" dirty="0"/>
          </a:p>
          <a:p>
            <a:pPr indent="0" marL="0">
              <a:spcAft>
                <a:spcPts val="1000"/>
              </a:spcAft>
              <a:buNone/>
            </a:pPr>
            <a:r>
              <a:rPr lang="en-US" sz="1300" dirty="0">
                <a:solidFill>
                  <a:schemeClr val="tx2"/>
                </a:solidFill>
              </a:rPr>
              <a:t>61%: the ball rolls ~5 cm before contact (indoor floors are ~0.1–0.3°)</a:t>
            </a:r>
            <a:endParaRPr lang="en-US" sz="1300" dirty="0"/>
          </a:p>
          <a:p>
            <a:pPr indent="0" marL="0">
              <a:buNone/>
            </a:pPr>
            <a:r>
              <a:rPr lang="en-US" sz="1300" b="1" dirty="0">
                <a:solidFill>
                  <a:schemeClr val="tx1"/>
                </a:solidFill>
              </a:rPr>
              <a:t>Old base-slip model</a:t>
            </a:r>
            <a:endParaRPr lang="en-US" sz="1300" dirty="0"/>
          </a:p>
          <a:p>
            <a:pPr indent="0" marL="0">
              <a:spcAft>
                <a:spcPts val="1000"/>
              </a:spcAft>
              <a:buNone/>
            </a:pPr>
            <a:r>
              <a:rPr lang="en-US" sz="1300" dirty="0">
                <a:solidFill>
                  <a:schemeClr val="tx2"/>
                </a:solidFill>
              </a:rPr>
              <a:t>speed ×0.7–1.2 + drift gave 43.8%; replaced by the measured ±10%</a:t>
            </a:r>
            <a:endParaRPr lang="en-US" sz="1300" dirty="0"/>
          </a:p>
        </p:txBody>
      </p:sp>
      <p:sp>
        <p:nvSpPr>
          <p:cNvPr id="7" name="Shape 5"/>
          <p:cNvSpPr/>
          <p:nvPr/>
        </p:nvSpPr>
        <p:spPr>
          <a:xfrm>
            <a:off x="4297680" y="1371600"/>
            <a:ext cx="3520440" cy="4663440"/>
          </a:xfrm>
          <a:prstGeom prst="roundRect">
            <a:avLst>
              <a:gd name="adj" fmla="val 2078"/>
            </a:avLst>
          </a:prstGeom>
          <a:solidFill>
            <a:schemeClr val="bg2"/>
          </a:solidFill>
          <a:ln/>
        </p:spPr>
      </p:sp>
      <p:sp>
        <p:nvSpPr>
          <p:cNvPr id="8" name="Shape 6"/>
          <p:cNvSpPr/>
          <p:nvPr/>
        </p:nvSpPr>
        <p:spPr>
          <a:xfrm>
            <a:off x="4526280" y="1645920"/>
            <a:ext cx="274320" cy="274320"/>
          </a:xfrm>
          <a:prstGeom prst="ellipse">
            <a:avLst/>
          </a:prstGeom>
          <a:solidFill>
            <a:schemeClr val="accent1"/>
          </a:solidFill>
          <a:ln/>
        </p:spPr>
      </p:sp>
      <p:sp>
        <p:nvSpPr>
          <p:cNvPr id="9" name="Text 7"/>
          <p:cNvSpPr txBox="1"/>
          <p:nvPr/>
        </p:nvSpPr>
        <p:spPr>
          <a:xfrm>
            <a:off x="4937760" y="1554480"/>
            <a:ext cx="2697480" cy="502920"/>
          </a:xfrm>
          <a:prstGeom prst="rect">
            <a:avLst/>
          </a:prstGeom>
          <a:noFill/>
          <a:ln/>
        </p:spPr>
        <p:txBody>
          <a:bodyPr wrap="square" lIns="0" tIns="0" rIns="0" bIns="0" rtlCol="0" anchor="ctr"/>
          <a:lstStyle/>
          <a:p>
            <a:pPr indent="0" marL="0">
              <a:buNone/>
            </a:pPr>
            <a:r>
              <a:rPr lang="en-US" sz="1600" b="1" dirty="0">
                <a:solidFill>
                  <a:schemeClr val="tx1"/>
                </a:solidFill>
              </a:rPr>
              <a:t>Simulator cannot represent it reliably</a:t>
            </a:r>
            <a:endParaRPr lang="en-US" sz="1600" dirty="0"/>
          </a:p>
        </p:txBody>
      </p:sp>
      <p:sp>
        <p:nvSpPr>
          <p:cNvPr id="10" name="Text 8"/>
          <p:cNvSpPr txBox="1"/>
          <p:nvPr/>
        </p:nvSpPr>
        <p:spPr>
          <a:xfrm>
            <a:off x="4526280" y="2240280"/>
            <a:ext cx="3063240" cy="3657600"/>
          </a:xfrm>
          <a:prstGeom prst="rect">
            <a:avLst/>
          </a:prstGeom>
          <a:noFill/>
          <a:ln/>
        </p:spPr>
        <p:txBody>
          <a:bodyPr wrap="square" lIns="0" tIns="0" rIns="0" bIns="0" rtlCol="0" anchor="t"/>
          <a:lstStyle/>
          <a:p>
            <a:pPr indent="0" marL="0">
              <a:buNone/>
            </a:pPr>
            <a:r>
              <a:rPr lang="en-US" sz="1300" b="1" dirty="0">
                <a:solidFill>
                  <a:schemeClr val="tx1"/>
                </a:solidFill>
              </a:rPr>
              <a:t>Mesh / ellipsoid ball</a:t>
            </a:r>
            <a:endParaRPr lang="en-US" sz="1300" dirty="0"/>
          </a:p>
          <a:p>
            <a:pPr indent="0" marL="0">
              <a:spcAft>
                <a:spcPts val="1000"/>
              </a:spcAft>
              <a:buNone/>
            </a:pPr>
            <a:r>
              <a:rPr lang="en-US" sz="1300" dirty="0">
                <a:solidFill>
                  <a:schemeClr val="tx2"/>
                </a:solidFill>
              </a:rPr>
              <a:t>convex-mesh balls sink 2–5 mm into the floor; even a round one drops to 85%</a:t>
            </a:r>
            <a:endParaRPr lang="en-US" sz="1300" dirty="0"/>
          </a:p>
          <a:p>
            <a:pPr indent="0" marL="0">
              <a:buNone/>
            </a:pPr>
            <a:r>
              <a:rPr lang="en-US" sz="1300" b="1" dirty="0">
                <a:solidFill>
                  <a:schemeClr val="tx1"/>
                </a:solidFill>
              </a:rPr>
              <a:t>Ball resting with off-center CoM</a:t>
            </a:r>
            <a:endParaRPr lang="en-US" sz="1300" dirty="0"/>
          </a:p>
          <a:p>
            <a:pPr indent="0" marL="0">
              <a:spcAft>
                <a:spcPts val="1000"/>
              </a:spcAft>
              <a:buNone/>
            </a:pPr>
            <a:r>
              <a:rPr lang="en-US" sz="1300" dirty="0">
                <a:solidFill>
                  <a:schemeClr val="tx2"/>
                </a:solidFill>
              </a:rPr>
              <a:t>random orientation makes it roll up to 10 cm to settle; placed CoM-down instead</a:t>
            </a:r>
            <a:endParaRPr lang="en-US" sz="1300" dirty="0"/>
          </a:p>
          <a:p>
            <a:pPr indent="0" marL="0">
              <a:buNone/>
            </a:pPr>
            <a:r>
              <a:rPr lang="en-US" sz="1300" b="1" dirty="0">
                <a:solidFill>
                  <a:schemeClr val="tx1"/>
                </a:solidFill>
              </a:rPr>
              <a:t>Turning, lateral drive</a:t>
            </a:r>
            <a:endParaRPr lang="en-US" sz="1300" dirty="0"/>
          </a:p>
          <a:p>
            <a:pPr indent="0" marL="0">
              <a:spcAft>
                <a:spcPts val="1000"/>
              </a:spcAft>
              <a:buNone/>
            </a:pPr>
            <a:r>
              <a:rPr lang="en-US" sz="1300" dirty="0">
                <a:solidFill>
                  <a:schemeClr val="tx2"/>
                </a:solidFill>
              </a:rPr>
              <a:t>skid-steer cylinder wheels cannot turn in place and vy is ignored (real base: mecanum)</a:t>
            </a:r>
            <a:endParaRPr lang="en-US" sz="1300" dirty="0"/>
          </a:p>
        </p:txBody>
      </p:sp>
      <p:sp>
        <p:nvSpPr>
          <p:cNvPr id="11" name="Shape 9"/>
          <p:cNvSpPr/>
          <p:nvPr/>
        </p:nvSpPr>
        <p:spPr>
          <a:xfrm>
            <a:off x="8046720" y="1371600"/>
            <a:ext cx="3520440" cy="4663440"/>
          </a:xfrm>
          <a:prstGeom prst="roundRect">
            <a:avLst>
              <a:gd name="adj" fmla="val 2078"/>
            </a:avLst>
          </a:prstGeom>
          <a:solidFill>
            <a:schemeClr val="bg2"/>
          </a:solidFill>
          <a:ln/>
        </p:spPr>
      </p:sp>
      <p:sp>
        <p:nvSpPr>
          <p:cNvPr id="12" name="Shape 10"/>
          <p:cNvSpPr/>
          <p:nvPr/>
        </p:nvSpPr>
        <p:spPr>
          <a:xfrm>
            <a:off x="8275320" y="1645920"/>
            <a:ext cx="274320" cy="274320"/>
          </a:xfrm>
          <a:prstGeom prst="ellipse">
            <a:avLst/>
          </a:prstGeom>
          <a:solidFill>
            <a:schemeClr val="accent6"/>
          </a:solidFill>
          <a:ln/>
        </p:spPr>
      </p:sp>
      <p:sp>
        <p:nvSpPr>
          <p:cNvPr id="13" name="Text 11"/>
          <p:cNvSpPr txBox="1"/>
          <p:nvPr/>
        </p:nvSpPr>
        <p:spPr>
          <a:xfrm>
            <a:off x="8686800" y="1554480"/>
            <a:ext cx="2697480" cy="502920"/>
          </a:xfrm>
          <a:prstGeom prst="rect">
            <a:avLst/>
          </a:prstGeom>
          <a:noFill/>
          <a:ln/>
        </p:spPr>
        <p:txBody>
          <a:bodyPr wrap="square" lIns="0" tIns="0" rIns="0" bIns="0" rtlCol="0" anchor="ctr"/>
          <a:lstStyle/>
          <a:p>
            <a:pPr indent="0" marL="0">
              <a:buNone/>
            </a:pPr>
            <a:r>
              <a:rPr lang="en-US" sz="1600" b="1" dirty="0">
                <a:solidFill>
                  <a:schemeClr val="tx1"/>
                </a:solidFill>
              </a:rPr>
              <a:t>Not modeled yet</a:t>
            </a:r>
            <a:endParaRPr lang="en-US" sz="1600" dirty="0"/>
          </a:p>
        </p:txBody>
      </p:sp>
      <p:sp>
        <p:nvSpPr>
          <p:cNvPr id="14" name="Text 12"/>
          <p:cNvSpPr txBox="1"/>
          <p:nvPr/>
        </p:nvSpPr>
        <p:spPr>
          <a:xfrm>
            <a:off x="8275320" y="2240280"/>
            <a:ext cx="3063240" cy="3657600"/>
          </a:xfrm>
          <a:prstGeom prst="rect">
            <a:avLst/>
          </a:prstGeom>
          <a:noFill/>
          <a:ln/>
        </p:spPr>
        <p:txBody>
          <a:bodyPr wrap="square" lIns="0" tIns="0" rIns="0" bIns="0" rtlCol="0" anchor="t"/>
          <a:lstStyle/>
          <a:p>
            <a:pPr indent="0" marL="0">
              <a:buNone/>
            </a:pPr>
            <a:r>
              <a:rPr lang="en-US" sz="1300" b="1" dirty="0">
                <a:solidFill>
                  <a:schemeClr val="tx1"/>
                </a:solidFill>
              </a:rPr>
              <a:t>Torque sensing</a:t>
            </a:r>
            <a:endParaRPr lang="en-US" sz="1300" dirty="0"/>
          </a:p>
          <a:p>
            <a:pPr indent="0" marL="0">
              <a:spcAft>
                <a:spcPts val="1000"/>
              </a:spcAft>
              <a:buNone/>
            </a:pPr>
            <a:r>
              <a:rPr lang="en-US" sz="1300" dirty="0">
                <a:solidFill>
                  <a:schemeClr val="tx2"/>
                </a:solidFill>
              </a:rPr>
              <a:t>motor torque/current noise, bandwidth and delay: needed before torque-based control</a:t>
            </a:r>
            <a:endParaRPr lang="en-US" sz="1300" dirty="0"/>
          </a:p>
          <a:p>
            <a:pPr indent="0" marL="0">
              <a:buNone/>
            </a:pPr>
            <a:r>
              <a:rPr lang="en-US" sz="1300" b="1" dirty="0">
                <a:solidFill>
                  <a:schemeClr val="tx1"/>
                </a:solidFill>
              </a:rPr>
              <a:t>Net and pocket compliance</a:t>
            </a:r>
            <a:endParaRPr lang="en-US" sz="1300" dirty="0"/>
          </a:p>
          <a:p>
            <a:pPr indent="0" marL="0">
              <a:spcAft>
                <a:spcPts val="1000"/>
              </a:spcAft>
              <a:buNone/>
            </a:pPr>
            <a:r>
              <a:rPr lang="en-US" sz="1300" dirty="0">
                <a:solidFill>
                  <a:schemeClr val="tx2"/>
                </a:solidFill>
              </a:rPr>
              <a:t>stick and net are rigid bodies in sim, so impact is likely stiffer than real</a:t>
            </a:r>
            <a:endParaRPr lang="en-US" sz="1300" dirty="0"/>
          </a:p>
          <a:p>
            <a:pPr indent="0" marL="0">
              <a:buNone/>
            </a:pPr>
            <a:r>
              <a:rPr lang="en-US" sz="1300" b="1" dirty="0">
                <a:solidFill>
                  <a:schemeClr val="tx1"/>
                </a:solidFill>
              </a:rPr>
              <a:t>Yaw acceleration limit</a:t>
            </a:r>
            <a:endParaRPr lang="en-US" sz="1300" dirty="0"/>
          </a:p>
          <a:p>
            <a:pPr indent="0" marL="0">
              <a:spcAft>
                <a:spcPts val="1000"/>
              </a:spcAft>
              <a:buNone/>
            </a:pPr>
            <a:r>
              <a:rPr lang="en-US" sz="1300" dirty="0">
                <a:solidFill>
                  <a:schemeClr val="tx2"/>
                </a:solidFill>
              </a:rPr>
              <a:t>4 rad/s² is assumed, not measured</a:t>
            </a:r>
            <a:endParaRPr lang="en-US" sz="1300" dirty="0"/>
          </a:p>
        </p:txBody>
      </p:sp>
      <p:sp>
        <p:nvSpPr>
          <p:cNvPr id="25" name="Slide Number Placeholder 0"/>
          <p:cNvSpPr>
            <a:spLocks noGrp="1"/>
          </p:cNvSpPr>
          <p:nvPr>
            <p:ph type="sldNum" sz="quarter" idx="4294967295"/>
          </p:nvPr>
        </p:nvSpPr>
        <p:spPr>
          <a:xfrm>
            <a:off x="1136873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31520"/>
          </a:xfrm>
          <a:prstGeom prst="rect">
            <a:avLst/>
          </a:prstGeom>
          <a:noFill/>
          <a:ln/>
        </p:spPr>
        <p:txBody>
          <a:bodyPr wrap="square" lIns="0" tIns="0" rIns="0" bIns="0" rtlCol="0" anchor="ctr"/>
          <a:lstStyle/>
          <a:p>
            <a:pPr algn="l" indent="0" marL="0">
              <a:buNone/>
            </a:pPr>
            <a:r>
              <a:rPr lang="en-US" sz="3000" b="1" dirty="0">
                <a:solidFill>
                  <a:schemeClr val="tx1"/>
                </a:solidFill>
              </a:rPr>
              <a:t>Watch: the scoop at each step of model fidelity</a:t>
            </a:r>
            <a:endParaRPr lang="en-US" sz="3000" dirty="0"/>
          </a:p>
        </p:txBody>
      </p:sp>
      <p:pic>
        <p:nvPicPr>
          <p:cNvPr id="3" name="video-soft_slow" descr="/tmp/claude-1000/-home-yifan-IsaacLab/02e1a1d7-61f9-5921-a435-b68e19ec6560/scratchpad/deck/img/vid/soft_slow.jpg">
            <a:hlinkClick r:id="rId2" tooltip="Open video on Google Drive"/>
          </p:cNvPr>
          <p:cNvPicPr>
            <a:picLocks noChangeAspect="1"/>
          </p:cNvPicPr>
          <p:nvPr/>
        </p:nvPicPr>
        <p:blipFill>
          <a:blip r:embed="rId1"/>
          <a:stretch>
            <a:fillRect/>
          </a:stretch>
        </p:blipFill>
        <p:spPr>
          <a:xfrm>
            <a:off x="1463040" y="1280160"/>
            <a:ext cx="3566160" cy="2005965"/>
          </a:xfrm>
          <a:prstGeom prst="rect">
            <a:avLst/>
          </a:prstGeom>
        </p:spPr>
      </p:pic>
      <p:sp>
        <p:nvSpPr>
          <p:cNvPr id="4" name="Shape 1">
            <a:hlinkClick r:id="rId3" tooltip=""/>
          </p:cNvPr>
          <p:cNvSpPr/>
          <p:nvPr/>
        </p:nvSpPr>
        <p:spPr>
          <a:xfrm>
            <a:off x="2960827" y="1997850"/>
            <a:ext cx="570586" cy="570586"/>
          </a:xfrm>
          <a:prstGeom prst="ellipse">
            <a:avLst/>
          </a:prstGeom>
          <a:solidFill>
            <a:schemeClr val="tx1">
              <a:alpha val="75000"/>
            </a:schemeClr>
          </a:solidFill>
          <a:ln w="19050">
            <a:solidFill>
              <a:schemeClr val="bg1"/>
            </a:solidFill>
            <a:prstDash val="solid"/>
          </a:ln>
        </p:spPr>
      </p:sp>
      <p:sp>
        <p:nvSpPr>
          <p:cNvPr id="5" name="Shape 2"/>
          <p:cNvSpPr/>
          <p:nvPr/>
        </p:nvSpPr>
        <p:spPr>
          <a:xfrm rot="5400000">
            <a:off x="3154826" y="2169025"/>
            <a:ext cx="228234" cy="228234"/>
          </a:xfrm>
          <a:prstGeom prst="triangle">
            <a:avLst/>
          </a:prstGeom>
          <a:solidFill>
            <a:schemeClr val="bg1"/>
          </a:solidFill>
          <a:ln/>
        </p:spPr>
      </p:sp>
      <p:sp>
        <p:nvSpPr>
          <p:cNvPr id="6" name="Text 3"/>
          <p:cNvSpPr txBox="1"/>
          <p:nvPr/>
        </p:nvSpPr>
        <p:spPr>
          <a:xfrm>
            <a:off x="1463040" y="3359277"/>
            <a:ext cx="3566160" cy="548640"/>
          </a:xfrm>
          <a:prstGeom prst="rect">
            <a:avLst/>
          </a:prstGeom>
          <a:noFill/>
          <a:ln/>
        </p:spPr>
        <p:txBody>
          <a:bodyPr wrap="square" lIns="0" tIns="0" rIns="0" bIns="0" rtlCol="0" anchor="t"/>
          <a:lstStyle/>
          <a:p>
            <a:pPr indent="0" marL="0">
              <a:buNone/>
            </a:pPr>
            <a:r>
              <a:rPr lang="en-US" sz="1200" b="1" dirty="0">
                <a:solidFill>
                  <a:schemeClr val="tx1"/>
                </a:solidFill>
              </a:rPr>
              <a:t>1. Soft arm PD (deterministic)</a:t>
            </a:r>
            <a:endParaRPr lang="en-US" sz="1200" dirty="0"/>
          </a:p>
          <a:p>
            <a:pPr indent="0" marL="0">
              <a:buNone/>
            </a:pPr>
            <a:r>
              <a:rPr lang="en-US" sz="1200" u="sng" dirty="0">
                <a:solidFill>
                  <a:schemeClr val="accent4"/>
                </a:solidFill>
                <a:hlinkClick r:id="rId4" invalidUrl="" action="" tgtFrame="" tooltip="" history="1" highlightClick="0" endSnd="0">
                  <a:extLst>
                    <a:ext uri="{A12FA001-AC4F-418D-AE19-62706E023703}">
                      <ahyp:hlinkClr xmlns:ahyp="http://schemas.microsoft.com/office/drawing/2018/hyperlinkcolor" val="tx"/>
                    </a:ext>
                  </a:extLst>
                </a:hlinkClick>
              </a:rPr>
              <a:t>▶ Watch on Google Drive (12 s, 4× slow)</a:t>
            </a:r>
            <a:endParaRPr lang="en-US" sz="1200" dirty="0"/>
          </a:p>
        </p:txBody>
      </p:sp>
      <p:pic>
        <p:nvPicPr>
          <p:cNvPr id="7" name="video-mit_slow" descr="/tmp/claude-1000/-home-yifan-IsaacLab/02e1a1d7-61f9-5921-a435-b68e19ec6560/scratchpad/deck/img/vid/mit_slow.jpg">
            <a:hlinkClick r:id="rId6" tooltip="Open video on Google Drive"/>
          </p:cNvPr>
          <p:cNvPicPr>
            <a:picLocks noChangeAspect="1"/>
          </p:cNvPicPr>
          <p:nvPr/>
        </p:nvPicPr>
        <p:blipFill>
          <a:blip r:embed="rId5"/>
          <a:stretch>
            <a:fillRect/>
          </a:stretch>
        </p:blipFill>
        <p:spPr>
          <a:xfrm>
            <a:off x="7086600" y="1280160"/>
            <a:ext cx="3566160" cy="2005965"/>
          </a:xfrm>
          <a:prstGeom prst="rect">
            <a:avLst/>
          </a:prstGeom>
        </p:spPr>
      </p:pic>
      <p:sp>
        <p:nvSpPr>
          <p:cNvPr id="8" name="Shape 4">
            <a:hlinkClick r:id="rId7" tooltip=""/>
          </p:cNvPr>
          <p:cNvSpPr/>
          <p:nvPr/>
        </p:nvSpPr>
        <p:spPr>
          <a:xfrm>
            <a:off x="8584387" y="1997850"/>
            <a:ext cx="570586" cy="570586"/>
          </a:xfrm>
          <a:prstGeom prst="ellipse">
            <a:avLst/>
          </a:prstGeom>
          <a:solidFill>
            <a:schemeClr val="tx1">
              <a:alpha val="75000"/>
            </a:schemeClr>
          </a:solidFill>
          <a:ln w="19050">
            <a:solidFill>
              <a:schemeClr val="bg1"/>
            </a:solidFill>
            <a:prstDash val="solid"/>
          </a:ln>
        </p:spPr>
      </p:sp>
      <p:sp>
        <p:nvSpPr>
          <p:cNvPr id="9" name="Shape 5"/>
          <p:cNvSpPr/>
          <p:nvPr/>
        </p:nvSpPr>
        <p:spPr>
          <a:xfrm rot="5400000">
            <a:off x="8778386" y="2169025"/>
            <a:ext cx="228234" cy="228234"/>
          </a:xfrm>
          <a:prstGeom prst="triangle">
            <a:avLst/>
          </a:prstGeom>
          <a:solidFill>
            <a:schemeClr val="bg1"/>
          </a:solidFill>
          <a:ln/>
        </p:spPr>
      </p:sp>
      <p:sp>
        <p:nvSpPr>
          <p:cNvPr id="10" name="Text 6"/>
          <p:cNvSpPr txBox="1"/>
          <p:nvPr/>
        </p:nvSpPr>
        <p:spPr>
          <a:xfrm>
            <a:off x="7086600" y="3359277"/>
            <a:ext cx="3566160" cy="548640"/>
          </a:xfrm>
          <a:prstGeom prst="rect">
            <a:avLst/>
          </a:prstGeom>
          <a:noFill/>
          <a:ln/>
        </p:spPr>
        <p:txBody>
          <a:bodyPr wrap="square" lIns="0" tIns="0" rIns="0" bIns="0" rtlCol="0" anchor="t"/>
          <a:lstStyle/>
          <a:p>
            <a:pPr indent="0" marL="0">
              <a:buNone/>
            </a:pPr>
            <a:r>
              <a:rPr lang="en-US" sz="1200" b="1" dirty="0">
                <a:solidFill>
                  <a:schemeClr val="tx1"/>
                </a:solidFill>
              </a:rPr>
              <a:t>2. MIT motors + real masses</a:t>
            </a:r>
            <a:endParaRPr lang="en-US" sz="1200" dirty="0"/>
          </a:p>
          <a:p>
            <a:pPr indent="0" marL="0">
              <a:buNone/>
            </a:pPr>
            <a:r>
              <a:rPr lang="en-US" sz="1200" u="sng" dirty="0">
                <a:solidFill>
                  <a:schemeClr val="accent4"/>
                </a:solidFill>
                <a:hlinkClick r:id="rId8" invalidUrl="" action="" tgtFrame="" tooltip="" history="1" highlightClick="0" endSnd="0">
                  <a:extLst>
                    <a:ext uri="{A12FA001-AC4F-418D-AE19-62706E023703}">
                      <ahyp:hlinkClr xmlns:ahyp="http://schemas.microsoft.com/office/drawing/2018/hyperlinkcolor" val="tx"/>
                    </a:ext>
                  </a:extLst>
                </a:hlinkClick>
              </a:rPr>
              <a:t>▶ Watch on Google Drive (12 s, 4× slow)</a:t>
            </a:r>
            <a:endParaRPr lang="en-US" sz="1200" dirty="0"/>
          </a:p>
        </p:txBody>
      </p:sp>
      <p:pic>
        <p:nvPicPr>
          <p:cNvPr id="11" name="video-robust_slow" descr="/tmp/claude-1000/-home-yifan-IsaacLab/02e1a1d7-61f9-5921-a435-b68e19ec6560/scratchpad/deck/img/vid/robust_slow.jpg">
            <a:hlinkClick r:id="rId10" tooltip="Open video on Google Drive"/>
          </p:cNvPr>
          <p:cNvPicPr>
            <a:picLocks noChangeAspect="1"/>
          </p:cNvPicPr>
          <p:nvPr/>
        </p:nvPicPr>
        <p:blipFill>
          <a:blip r:embed="rId9"/>
          <a:stretch>
            <a:fillRect/>
          </a:stretch>
        </p:blipFill>
        <p:spPr>
          <a:xfrm>
            <a:off x="1463040" y="3886200"/>
            <a:ext cx="3566160" cy="2005965"/>
          </a:xfrm>
          <a:prstGeom prst="rect">
            <a:avLst/>
          </a:prstGeom>
        </p:spPr>
      </p:pic>
      <p:sp>
        <p:nvSpPr>
          <p:cNvPr id="12" name="Shape 7">
            <a:hlinkClick r:id="rId11" tooltip=""/>
          </p:cNvPr>
          <p:cNvSpPr/>
          <p:nvPr/>
        </p:nvSpPr>
        <p:spPr>
          <a:xfrm>
            <a:off x="2960827" y="4603890"/>
            <a:ext cx="570586" cy="570586"/>
          </a:xfrm>
          <a:prstGeom prst="ellipse">
            <a:avLst/>
          </a:prstGeom>
          <a:solidFill>
            <a:schemeClr val="tx1">
              <a:alpha val="75000"/>
            </a:schemeClr>
          </a:solidFill>
          <a:ln w="19050">
            <a:solidFill>
              <a:schemeClr val="bg1"/>
            </a:solidFill>
            <a:prstDash val="solid"/>
          </a:ln>
        </p:spPr>
      </p:sp>
      <p:sp>
        <p:nvSpPr>
          <p:cNvPr id="13" name="Shape 8"/>
          <p:cNvSpPr/>
          <p:nvPr/>
        </p:nvSpPr>
        <p:spPr>
          <a:xfrm rot="5400000">
            <a:off x="3154826" y="4775065"/>
            <a:ext cx="228234" cy="228234"/>
          </a:xfrm>
          <a:prstGeom prst="triangle">
            <a:avLst/>
          </a:prstGeom>
          <a:solidFill>
            <a:schemeClr val="bg1"/>
          </a:solidFill>
          <a:ln/>
        </p:spPr>
      </p:sp>
      <p:sp>
        <p:nvSpPr>
          <p:cNvPr id="14" name="Text 9"/>
          <p:cNvSpPr txBox="1"/>
          <p:nvPr/>
        </p:nvSpPr>
        <p:spPr>
          <a:xfrm>
            <a:off x="1463040" y="5965317"/>
            <a:ext cx="3566160" cy="548640"/>
          </a:xfrm>
          <a:prstGeom prst="rect">
            <a:avLst/>
          </a:prstGeom>
          <a:noFill/>
          <a:ln/>
        </p:spPr>
        <p:txBody>
          <a:bodyPr wrap="square" lIns="0" tIns="0" rIns="0" bIns="0" rtlCol="0" anchor="t"/>
          <a:lstStyle/>
          <a:p>
            <a:pPr indent="0" marL="0">
              <a:buNone/>
            </a:pPr>
            <a:r>
              <a:rPr lang="en-US" sz="1200" b="1" dirty="0">
                <a:solidFill>
                  <a:schemeClr val="tx1"/>
                </a:solidFill>
              </a:rPr>
              <a:t>3. Robust re-search, all knobs on</a:t>
            </a:r>
            <a:endParaRPr lang="en-US" sz="1200" dirty="0"/>
          </a:p>
          <a:p>
            <a:pPr indent="0" marL="0">
              <a:buNone/>
            </a:pPr>
            <a:r>
              <a:rPr lang="en-US" sz="1200" u="sng" dirty="0">
                <a:solidFill>
                  <a:schemeClr val="accent4"/>
                </a:solidFill>
                <a:hlinkClick r:id="rId12" invalidUrl="" action="" tgtFrame="" tooltip="" history="1" highlightClick="0" endSnd="0">
                  <a:extLst>
                    <a:ext uri="{A12FA001-AC4F-418D-AE19-62706E023703}">
                      <ahyp:hlinkClr xmlns:ahyp="http://schemas.microsoft.com/office/drawing/2018/hyperlinkcolor" val="tx"/>
                    </a:ext>
                  </a:extLst>
                </a:hlinkClick>
              </a:rPr>
              <a:t>▶ Watch on Google Drive (12 s, 4× slow)</a:t>
            </a:r>
            <a:endParaRPr lang="en-US" sz="1200" dirty="0"/>
          </a:p>
        </p:txBody>
      </p:sp>
      <p:pic>
        <p:nvPicPr>
          <p:cNvPr id="15" name="video-wheels_slow" descr="/tmp/claude-1000/-home-yifan-IsaacLab/02e1a1d7-61f9-5921-a435-b68e19ec6560/scratchpad/deck/img/vid/wheels_slow.jpg">
            <a:hlinkClick r:id="rId14" tooltip="Open video on Google Drive"/>
          </p:cNvPr>
          <p:cNvPicPr>
            <a:picLocks noChangeAspect="1"/>
          </p:cNvPicPr>
          <p:nvPr/>
        </p:nvPicPr>
        <p:blipFill>
          <a:blip r:embed="rId13"/>
          <a:stretch>
            <a:fillRect/>
          </a:stretch>
        </p:blipFill>
        <p:spPr>
          <a:xfrm>
            <a:off x="7086600" y="3886200"/>
            <a:ext cx="3566160" cy="2005965"/>
          </a:xfrm>
          <a:prstGeom prst="rect">
            <a:avLst/>
          </a:prstGeom>
        </p:spPr>
      </p:pic>
      <p:sp>
        <p:nvSpPr>
          <p:cNvPr id="16" name="Shape 10">
            <a:hlinkClick r:id="rId15" tooltip=""/>
          </p:cNvPr>
          <p:cNvSpPr/>
          <p:nvPr/>
        </p:nvSpPr>
        <p:spPr>
          <a:xfrm>
            <a:off x="8584387" y="4603890"/>
            <a:ext cx="570586" cy="570586"/>
          </a:xfrm>
          <a:prstGeom prst="ellipse">
            <a:avLst/>
          </a:prstGeom>
          <a:solidFill>
            <a:schemeClr val="tx1">
              <a:alpha val="75000"/>
            </a:schemeClr>
          </a:solidFill>
          <a:ln w="19050">
            <a:solidFill>
              <a:schemeClr val="bg1"/>
            </a:solidFill>
            <a:prstDash val="solid"/>
          </a:ln>
        </p:spPr>
      </p:sp>
      <p:sp>
        <p:nvSpPr>
          <p:cNvPr id="17" name="Shape 11"/>
          <p:cNvSpPr/>
          <p:nvPr/>
        </p:nvSpPr>
        <p:spPr>
          <a:xfrm rot="5400000">
            <a:off x="8778386" y="4775065"/>
            <a:ext cx="228234" cy="228234"/>
          </a:xfrm>
          <a:prstGeom prst="triangle">
            <a:avLst/>
          </a:prstGeom>
          <a:solidFill>
            <a:schemeClr val="bg1"/>
          </a:solidFill>
          <a:ln/>
        </p:spPr>
      </p:sp>
      <p:sp>
        <p:nvSpPr>
          <p:cNvPr id="18" name="Text 12"/>
          <p:cNvSpPr txBox="1"/>
          <p:nvPr/>
        </p:nvSpPr>
        <p:spPr>
          <a:xfrm>
            <a:off x="7086600" y="5965317"/>
            <a:ext cx="3566160" cy="548640"/>
          </a:xfrm>
          <a:prstGeom prst="rect">
            <a:avLst/>
          </a:prstGeom>
          <a:noFill/>
          <a:ln/>
        </p:spPr>
        <p:txBody>
          <a:bodyPr wrap="square" lIns="0" tIns="0" rIns="0" bIns="0" rtlCol="0" anchor="t"/>
          <a:lstStyle/>
          <a:p>
            <a:pPr indent="0" marL="0">
              <a:buNone/>
            </a:pPr>
            <a:r>
              <a:rPr lang="en-US" sz="1200" b="1" dirty="0">
                <a:solidFill>
                  <a:schemeClr val="tx1"/>
                </a:solidFill>
              </a:rPr>
              <a:t>4. Wheel-driven 4.14 kg base</a:t>
            </a:r>
            <a:endParaRPr lang="en-US" sz="1200" dirty="0"/>
          </a:p>
          <a:p>
            <a:pPr indent="0" marL="0">
              <a:buNone/>
            </a:pPr>
            <a:r>
              <a:rPr lang="en-US" sz="1200" u="sng" dirty="0">
                <a:solidFill>
                  <a:schemeClr val="accent4"/>
                </a:solidFill>
                <a:hlinkClick r:id="rId16" invalidUrl="" action="" tgtFrame="" tooltip="" history="1" highlightClick="0" endSnd="0">
                  <a:extLst>
                    <a:ext uri="{A12FA001-AC4F-418D-AE19-62706E023703}">
                      <ahyp:hlinkClr xmlns:ahyp="http://schemas.microsoft.com/office/drawing/2018/hyperlinkcolor" val="tx"/>
                    </a:ext>
                  </a:extLst>
                </a:hlinkClick>
              </a:rPr>
              <a:t>▶ Watch on Google Drive (12 s, 4× slow)</a:t>
            </a:r>
            <a:endParaRPr lang="en-US" sz="1200" dirty="0"/>
          </a:p>
        </p:txBody>
      </p:sp>
      <p:sp>
        <p:nvSpPr>
          <p:cNvPr id="25" name="Slide Number Placeholder 0"/>
          <p:cNvSpPr>
            <a:spLocks noGrp="1"/>
          </p:cNvSpPr>
          <p:nvPr>
            <p:ph type="sldNum" sz="quarter" idx="4294967295"/>
          </p:nvPr>
        </p:nvSpPr>
        <p:spPr>
          <a:xfrm>
            <a:off x="1136873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31520"/>
          </a:xfrm>
          <a:prstGeom prst="rect">
            <a:avLst/>
          </a:prstGeom>
          <a:noFill/>
          <a:ln/>
        </p:spPr>
        <p:txBody>
          <a:bodyPr wrap="square" lIns="0" tIns="0" rIns="0" bIns="0" rtlCol="0" anchor="ctr"/>
          <a:lstStyle/>
          <a:p>
            <a:pPr algn="l" indent="0" marL="0">
              <a:buNone/>
            </a:pPr>
            <a:r>
              <a:rPr lang="en-US" sz="3000" b="1" dirty="0">
                <a:solidFill>
                  <a:schemeClr val="tx1"/>
                </a:solidFill>
              </a:rPr>
              <a:t>The scoop tolerates actuator and contact uncertainty</a:t>
            </a:r>
            <a:endParaRPr lang="en-US" sz="3000" dirty="0"/>
          </a:p>
        </p:txBody>
      </p:sp>
      <p:graphicFrame>
        <p:nvGraphicFramePr>
          <p:cNvPr id="3" name="robustness-chart" descr=""/>
          <p:cNvGraphicFramePr/>
          <p:nvPr/>
        </p:nvGraphicFramePr>
        <p:xfrm>
          <a:off x="548640" y="1325880"/>
          <a:ext cx="7315200" cy="4754880"/>
        </p:xfrm>
        <a:graphic xmlns:a="http://schemas.openxmlformats.org/drawingml/2006/main">
          <a:graphicData uri="http://schemas.openxmlformats.org/drawingml/2006/chart">
            <c:chart xmlns:c="http://schemas.openxmlformats.org/drawingml/2006/chart" r:id="rId1"/>
          </a:graphicData>
        </a:graphic>
      </p:graphicFrame>
      <p:sp>
        <p:nvSpPr>
          <p:cNvPr id="4" name="Shape 1"/>
          <p:cNvSpPr/>
          <p:nvPr/>
        </p:nvSpPr>
        <p:spPr>
          <a:xfrm>
            <a:off x="8229600" y="1463040"/>
            <a:ext cx="3383280" cy="4389120"/>
          </a:xfrm>
          <a:prstGeom prst="roundRect">
            <a:avLst>
              <a:gd name="adj" fmla="val 2162"/>
            </a:avLst>
          </a:prstGeom>
          <a:solidFill>
            <a:schemeClr val="bg2"/>
          </a:solidFill>
          <a:ln/>
        </p:spPr>
      </p:sp>
      <p:sp>
        <p:nvSpPr>
          <p:cNvPr id="5" name="Text 2"/>
          <p:cNvSpPr txBox="1"/>
          <p:nvPr/>
        </p:nvSpPr>
        <p:spPr>
          <a:xfrm>
            <a:off x="8458200" y="1691640"/>
            <a:ext cx="2926080" cy="4023360"/>
          </a:xfrm>
          <a:prstGeom prst="rect">
            <a:avLst/>
          </a:prstGeom>
          <a:noFill/>
          <a:ln/>
        </p:spPr>
        <p:txBody>
          <a:bodyPr wrap="square" lIns="0" tIns="0" rIns="0" bIns="0" rtlCol="0" anchor="t"/>
          <a:lstStyle/>
          <a:p>
            <a:pPr indent="0" marL="0">
              <a:spcAft>
                <a:spcPts val="800"/>
              </a:spcAft>
              <a:buNone/>
            </a:pPr>
            <a:r>
              <a:rPr lang="en-US" sz="1800" b="1" dirty="0">
                <a:solidFill>
                  <a:schemeClr val="tx1"/>
                </a:solidFill>
              </a:rPr>
              <a:t>Reading the chart</a:t>
            </a:r>
            <a:endParaRPr lang="en-US" sz="1400" dirty="0"/>
          </a:p>
          <a:p>
            <a:pPr marL="342900" indent="-342900">
              <a:spcAft>
                <a:spcPts val="800"/>
              </a:spcAft>
              <a:buSzPct val="100000"/>
              <a:buChar char="•"/>
            </a:pPr>
            <a:r>
              <a:rPr lang="en-US" sz="1400" dirty="0">
                <a:solidFill>
                  <a:schemeClr val="tx2"/>
                </a:solidFill>
              </a:rPr>
              <a:t>Each knob alone costs ≤1.2 points</a:t>
            </a:r>
            <a:endParaRPr lang="en-US" sz="1400" dirty="0"/>
          </a:p>
          <a:p>
            <a:pPr marL="342900" indent="-342900">
              <a:spcAft>
                <a:spcPts val="800"/>
              </a:spcAft>
              <a:buSzPct val="100000"/>
              <a:buChar char="•"/>
            </a:pPr>
            <a:r>
              <a:rPr lang="en-US" sz="1400" dirty="0">
                <a:solidFill>
                  <a:schemeClr val="tx2"/>
                </a:solidFill>
              </a:rPr>
              <a:t>Only the old base-slip model (×0.7–1.2 speed, drift) broke it, and that model was unrealistic</a:t>
            </a:r>
            <a:endParaRPr lang="en-US" sz="1400" dirty="0"/>
          </a:p>
          <a:p>
            <a:pPr marL="342900" indent="-342900">
              <a:spcAft>
                <a:spcPts val="800"/>
              </a:spcAft>
              <a:buSzPct val="100000"/>
              <a:buChar char="•"/>
            </a:pPr>
            <a:r>
              <a:rPr lang="en-US" sz="1400" b="1" dirty="0">
                <a:solidFill>
                  <a:schemeClr val="tx2"/>
                </a:solidFill>
              </a:rPr>
              <a:t>With the measured slip (±10%) and the robust re-search: 97.6%, then 300/300 on the wheel-driven base</a:t>
            </a:r>
            <a:endParaRPr lang="en-US" sz="1400" dirty="0"/>
          </a:p>
        </p:txBody>
      </p:sp>
      <p:sp>
        <p:nvSpPr>
          <p:cNvPr id="25" name="Slide Number Placeholder 0"/>
          <p:cNvSpPr>
            <a:spLocks noGrp="1"/>
          </p:cNvSpPr>
          <p:nvPr>
            <p:ph type="sldNum" sz="quarter" idx="4294967295"/>
          </p:nvPr>
        </p:nvSpPr>
        <p:spPr>
          <a:xfrm>
            <a:off x="1136873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31520"/>
          </a:xfrm>
          <a:prstGeom prst="rect">
            <a:avLst/>
          </a:prstGeom>
          <a:noFill/>
          <a:ln/>
        </p:spPr>
        <p:txBody>
          <a:bodyPr wrap="square" lIns="0" tIns="0" rIns="0" bIns="0" rtlCol="0" anchor="ctr"/>
          <a:lstStyle/>
          <a:p>
            <a:pPr algn="l" indent="0" marL="0">
              <a:buNone/>
            </a:pPr>
            <a:r>
              <a:rPr lang="en-US" sz="3000" b="1" dirty="0">
                <a:solidFill>
                  <a:schemeClr val="tx1"/>
                </a:solidFill>
              </a:rPr>
              <a:t>Alignment with the ball is now the main limit</a:t>
            </a:r>
            <a:endParaRPr lang="en-US" sz="3000" dirty="0"/>
          </a:p>
        </p:txBody>
      </p:sp>
      <p:graphicFrame>
        <p:nvGraphicFramePr>
          <p:cNvPr id="3" name="align-0" descr=""/>
          <p:cNvGraphicFramePr/>
          <p:nvPr/>
        </p:nvGraphicFramePr>
        <p:xfrm>
          <a:off x="548640" y="1325880"/>
          <a:ext cx="3566160" cy="3566160"/>
        </p:xfrm>
        <a:graphic xmlns:a="http://schemas.openxmlformats.org/drawingml/2006/main">
          <a:graphicData uri="http://schemas.openxmlformats.org/drawingml/2006/chart">
            <c:chart xmlns:c="http://schemas.openxmlformats.org/drawingml/2006/chart" r:id="rId1"/>
          </a:graphicData>
        </a:graphic>
      </p:graphicFrame>
      <p:graphicFrame>
        <p:nvGraphicFramePr>
          <p:cNvPr id="4" name="align-1" descr=""/>
          <p:cNvGraphicFramePr/>
          <p:nvPr/>
        </p:nvGraphicFramePr>
        <p:xfrm>
          <a:off x="4297680" y="1325880"/>
          <a:ext cx="3566160" cy="3566160"/>
        </p:xfrm>
        <a:graphic xmlns:a="http://schemas.openxmlformats.org/drawingml/2006/main">
          <a:graphicData uri="http://schemas.openxmlformats.org/drawingml/2006/chart">
            <c:chart xmlns:c="http://schemas.openxmlformats.org/drawingml/2006/chart" r:id="rId2"/>
          </a:graphicData>
        </a:graphic>
      </p:graphicFrame>
      <p:graphicFrame>
        <p:nvGraphicFramePr>
          <p:cNvPr id="5" name="align-2" descr=""/>
          <p:cNvGraphicFramePr/>
          <p:nvPr/>
        </p:nvGraphicFramePr>
        <p:xfrm>
          <a:off x="8046720" y="1325880"/>
          <a:ext cx="3566160" cy="3566160"/>
        </p:xfrm>
        <a:graphic xmlns:a="http://schemas.openxmlformats.org/drawingml/2006/main">
          <a:graphicData uri="http://schemas.openxmlformats.org/drawingml/2006/chart">
            <c:chart xmlns:c="http://schemas.openxmlformats.org/drawingml/2006/chart" r:id="rId3"/>
          </a:graphicData>
        </a:graphic>
      </p:graphicFrame>
      <p:sp>
        <p:nvSpPr>
          <p:cNvPr id="6" name="Text 1"/>
          <p:cNvSpPr txBox="1"/>
          <p:nvPr/>
        </p:nvSpPr>
        <p:spPr>
          <a:xfrm>
            <a:off x="548640" y="5120640"/>
            <a:ext cx="11094415" cy="731520"/>
          </a:xfrm>
          <a:prstGeom prst="rect">
            <a:avLst/>
          </a:prstGeom>
          <a:noFill/>
          <a:ln/>
        </p:spPr>
        <p:txBody>
          <a:bodyPr wrap="square" lIns="0" tIns="0" rIns="0" bIns="0" rtlCol="0" anchor="t"/>
          <a:lstStyle/>
          <a:p>
            <a:pPr indent="0" marL="0">
              <a:buNone/>
            </a:pPr>
            <a:r>
              <a:rPr lang="en-US" sz="1500" b="1" dirty="0">
                <a:solidFill>
                  <a:schemeClr val="tx1"/>
                </a:solidFill>
              </a:rPr>
              <a:t>Open loop needs the robot lined up within ~2 cm and ~1°, and the ball not much farther than planned. </a:t>
            </a:r>
            <a:pPr indent="0" marL="0">
              <a:buNone/>
            </a:pPr>
            <a:r>
              <a:rPr lang="en-US" sz="1500" dirty="0">
                <a:solidFill>
                  <a:schemeClr val="tx2"/>
                </a:solidFill>
              </a:rPr>
              <a:t>A farther ball means late contact while the lift has already started; that is exactly what a contact (torque) trigger would fix.</a:t>
            </a:r>
            <a:endParaRPr lang="en-US" sz="1500" dirty="0"/>
          </a:p>
        </p:txBody>
      </p:sp>
      <p:sp>
        <p:nvSpPr>
          <p:cNvPr id="7" name="Text 2"/>
          <p:cNvSpPr txBox="1"/>
          <p:nvPr/>
        </p:nvSpPr>
        <p:spPr>
          <a:xfrm>
            <a:off x="548640" y="5943600"/>
            <a:ext cx="11094415" cy="320040"/>
          </a:xfrm>
          <a:prstGeom prst="rect">
            <a:avLst/>
          </a:prstGeom>
          <a:noFill/>
          <a:ln/>
        </p:spPr>
        <p:txBody>
          <a:bodyPr wrap="square" lIns="0" tIns="0" rIns="0" bIns="0" rtlCol="0" anchor="ctr"/>
          <a:lstStyle/>
          <a:p>
            <a:pPr indent="0" marL="0">
              <a:buNone/>
            </a:pPr>
            <a:r>
              <a:rPr lang="en-US" sz="1100" i="1" dirty="0">
                <a:solidFill>
                  <a:schemeClr val="accent6"/>
                </a:solidFill>
              </a:rPr>
              <a:t>Realistic uncertainty on. Where a range was measured (e.g. 95–98%), the bar shows its midpoint.</a:t>
            </a:r>
            <a:endParaRPr lang="en-US" sz="1100" dirty="0"/>
          </a:p>
        </p:txBody>
      </p:sp>
      <p:sp>
        <p:nvSpPr>
          <p:cNvPr id="25" name="Slide Number Placeholder 0"/>
          <p:cNvSpPr>
            <a:spLocks noGrp="1"/>
          </p:cNvSpPr>
          <p:nvPr>
            <p:ph type="sldNum" sz="quarter" idx="4294967295"/>
          </p:nvPr>
        </p:nvSpPr>
        <p:spPr>
          <a:xfrm>
            <a:off x="1136873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31520"/>
          </a:xfrm>
          <a:prstGeom prst="rect">
            <a:avLst/>
          </a:prstGeom>
          <a:noFill/>
          <a:ln/>
        </p:spPr>
        <p:txBody>
          <a:bodyPr wrap="square" lIns="0" tIns="0" rIns="0" bIns="0" rtlCol="0" anchor="ctr"/>
          <a:lstStyle/>
          <a:p>
            <a:pPr algn="l" indent="0" marL="0">
              <a:buNone/>
            </a:pPr>
            <a:r>
              <a:rPr lang="en-US" sz="3000" b="1" dirty="0">
                <a:solidFill>
                  <a:schemeClr val="tx1"/>
                </a:solidFill>
              </a:rPr>
              <a:t>Floor tilt matters, ball variation does not</a:t>
            </a:r>
            <a:endParaRPr lang="en-US" sz="3000" dirty="0"/>
          </a:p>
        </p:txBody>
      </p:sp>
      <p:graphicFrame>
        <p:nvGraphicFramePr>
          <p:cNvPr id="3" name="tilt-chart" descr=""/>
          <p:cNvGraphicFramePr/>
          <p:nvPr/>
        </p:nvGraphicFramePr>
        <p:xfrm>
          <a:off x="548640" y="1325880"/>
          <a:ext cx="5120640" cy="4206240"/>
        </p:xfrm>
        <a:graphic xmlns:a="http://schemas.openxmlformats.org/drawingml/2006/main">
          <a:graphicData uri="http://schemas.openxmlformats.org/drawingml/2006/chart">
            <c:chart xmlns:c="http://schemas.openxmlformats.org/drawingml/2006/chart" r:id="rId1"/>
          </a:graphicData>
        </a:graphic>
      </p:graphicFrame>
      <p:sp>
        <p:nvSpPr>
          <p:cNvPr id="4" name="Shape 1"/>
          <p:cNvSpPr/>
          <p:nvPr/>
        </p:nvSpPr>
        <p:spPr>
          <a:xfrm>
            <a:off x="6217920" y="1417320"/>
            <a:ext cx="5394960" cy="1280160"/>
          </a:xfrm>
          <a:prstGeom prst="roundRect">
            <a:avLst>
              <a:gd name="adj" fmla="val 5714"/>
            </a:avLst>
          </a:prstGeom>
          <a:solidFill>
            <a:schemeClr val="bg2"/>
          </a:solidFill>
          <a:ln/>
        </p:spPr>
      </p:sp>
      <p:sp>
        <p:nvSpPr>
          <p:cNvPr id="5" name="Shape 2"/>
          <p:cNvSpPr/>
          <p:nvPr/>
        </p:nvSpPr>
        <p:spPr>
          <a:xfrm>
            <a:off x="6446520" y="1645920"/>
            <a:ext cx="274320" cy="274320"/>
          </a:xfrm>
          <a:prstGeom prst="ellipse">
            <a:avLst/>
          </a:prstGeom>
          <a:solidFill>
            <a:schemeClr val="accent1"/>
          </a:solidFill>
          <a:ln/>
        </p:spPr>
      </p:sp>
      <p:sp>
        <p:nvSpPr>
          <p:cNvPr id="6" name="Text 3"/>
          <p:cNvSpPr txBox="1"/>
          <p:nvPr/>
        </p:nvSpPr>
        <p:spPr>
          <a:xfrm>
            <a:off x="6858000" y="1581912"/>
            <a:ext cx="4572000" cy="365760"/>
          </a:xfrm>
          <a:prstGeom prst="rect">
            <a:avLst/>
          </a:prstGeom>
          <a:noFill/>
          <a:ln/>
        </p:spPr>
        <p:txBody>
          <a:bodyPr wrap="square" lIns="0" tIns="0" rIns="0" bIns="0" rtlCol="0" anchor="ctr"/>
          <a:lstStyle/>
          <a:p>
            <a:pPr indent="0" marL="0">
              <a:buNone/>
            </a:pPr>
            <a:r>
              <a:rPr lang="en-US" sz="1600" b="1" dirty="0">
                <a:solidFill>
                  <a:schemeClr val="tx1"/>
                </a:solidFill>
              </a:rPr>
              <a:t>Tilt</a:t>
            </a:r>
            <a:endParaRPr lang="en-US" sz="1600" dirty="0"/>
          </a:p>
        </p:txBody>
      </p:sp>
      <p:sp>
        <p:nvSpPr>
          <p:cNvPr id="7" name="Text 4"/>
          <p:cNvSpPr txBox="1"/>
          <p:nvPr/>
        </p:nvSpPr>
        <p:spPr>
          <a:xfrm>
            <a:off x="6858000" y="1947672"/>
            <a:ext cx="4572000" cy="685800"/>
          </a:xfrm>
          <a:prstGeom prst="rect">
            <a:avLst/>
          </a:prstGeom>
          <a:noFill/>
          <a:ln/>
        </p:spPr>
        <p:txBody>
          <a:bodyPr wrap="square" lIns="0" tIns="0" rIns="0" bIns="0" rtlCol="0" anchor="t"/>
          <a:lstStyle/>
          <a:p>
            <a:pPr indent="0" marL="0">
              <a:buNone/>
            </a:pPr>
            <a:r>
              <a:rPr lang="en-US" sz="1300" dirty="0">
                <a:solidFill>
                  <a:schemeClr val="tx2"/>
                </a:solidFill>
              </a:rPr>
              <a:t>A sphere rolls ~5 cm in 0.9 s on a 1° slope. Indoor floors are typically 0.1–0.3°, inside the safe range.</a:t>
            </a:r>
            <a:endParaRPr lang="en-US" sz="1300" dirty="0"/>
          </a:p>
        </p:txBody>
      </p:sp>
      <p:sp>
        <p:nvSpPr>
          <p:cNvPr id="8" name="Shape 5"/>
          <p:cNvSpPr/>
          <p:nvPr/>
        </p:nvSpPr>
        <p:spPr>
          <a:xfrm>
            <a:off x="6217920" y="2880360"/>
            <a:ext cx="5394960" cy="1280160"/>
          </a:xfrm>
          <a:prstGeom prst="roundRect">
            <a:avLst>
              <a:gd name="adj" fmla="val 5714"/>
            </a:avLst>
          </a:prstGeom>
          <a:solidFill>
            <a:schemeClr val="bg2"/>
          </a:solidFill>
          <a:ln/>
        </p:spPr>
      </p:sp>
      <p:sp>
        <p:nvSpPr>
          <p:cNvPr id="9" name="Shape 6"/>
          <p:cNvSpPr/>
          <p:nvPr/>
        </p:nvSpPr>
        <p:spPr>
          <a:xfrm>
            <a:off x="6446520" y="3108960"/>
            <a:ext cx="274320" cy="274320"/>
          </a:xfrm>
          <a:prstGeom prst="ellipse">
            <a:avLst/>
          </a:prstGeom>
          <a:solidFill>
            <a:schemeClr val="accent2"/>
          </a:solidFill>
          <a:ln/>
        </p:spPr>
      </p:sp>
      <p:sp>
        <p:nvSpPr>
          <p:cNvPr id="10" name="Text 7"/>
          <p:cNvSpPr txBox="1"/>
          <p:nvPr/>
        </p:nvSpPr>
        <p:spPr>
          <a:xfrm>
            <a:off x="6858000" y="3044952"/>
            <a:ext cx="4572000" cy="365760"/>
          </a:xfrm>
          <a:prstGeom prst="rect">
            <a:avLst/>
          </a:prstGeom>
          <a:noFill/>
          <a:ln/>
        </p:spPr>
        <p:txBody>
          <a:bodyPr wrap="square" lIns="0" tIns="0" rIns="0" bIns="0" rtlCol="0" anchor="ctr"/>
          <a:lstStyle/>
          <a:p>
            <a:pPr indent="0" marL="0">
              <a:buNone/>
            </a:pPr>
            <a:r>
              <a:rPr lang="en-US" sz="1600" b="1" dirty="0">
                <a:solidFill>
                  <a:schemeClr val="tx1"/>
                </a:solidFill>
              </a:rPr>
              <a:t>Ball mass, CoM, size</a:t>
            </a:r>
            <a:endParaRPr lang="en-US" sz="1600" dirty="0"/>
          </a:p>
        </p:txBody>
      </p:sp>
      <p:sp>
        <p:nvSpPr>
          <p:cNvPr id="11" name="Text 8"/>
          <p:cNvSpPr txBox="1"/>
          <p:nvPr/>
        </p:nvSpPr>
        <p:spPr>
          <a:xfrm>
            <a:off x="6858000" y="3410712"/>
            <a:ext cx="4572000" cy="685800"/>
          </a:xfrm>
          <a:prstGeom prst="rect">
            <a:avLst/>
          </a:prstGeom>
          <a:noFill/>
          <a:ln/>
        </p:spPr>
        <p:txBody>
          <a:bodyPr wrap="square" lIns="0" tIns="0" rIns="0" bIns="0" rtlCol="0" anchor="t"/>
          <a:lstStyle/>
          <a:p>
            <a:pPr indent="0" marL="0">
              <a:buNone/>
            </a:pPr>
            <a:r>
              <a:rPr lang="en-US" sz="1300" dirty="0">
                <a:solidFill>
                  <a:schemeClr val="tx2"/>
                </a:solidFill>
              </a:rPr>
              <a:t>137–145 g, CoM offset ≤2 mm, radius 31–33 mm: 100% in every case.</a:t>
            </a:r>
            <a:endParaRPr lang="en-US" sz="1300" dirty="0"/>
          </a:p>
        </p:txBody>
      </p:sp>
      <p:sp>
        <p:nvSpPr>
          <p:cNvPr id="12" name="Shape 9"/>
          <p:cNvSpPr/>
          <p:nvPr/>
        </p:nvSpPr>
        <p:spPr>
          <a:xfrm>
            <a:off x="6217920" y="4343400"/>
            <a:ext cx="5394960" cy="1280160"/>
          </a:xfrm>
          <a:prstGeom prst="roundRect">
            <a:avLst>
              <a:gd name="adj" fmla="val 5714"/>
            </a:avLst>
          </a:prstGeom>
          <a:solidFill>
            <a:schemeClr val="bg2"/>
          </a:solidFill>
          <a:ln/>
        </p:spPr>
      </p:sp>
      <p:sp>
        <p:nvSpPr>
          <p:cNvPr id="13" name="Shape 10"/>
          <p:cNvSpPr/>
          <p:nvPr/>
        </p:nvSpPr>
        <p:spPr>
          <a:xfrm>
            <a:off x="6446520" y="4572000"/>
            <a:ext cx="274320" cy="274320"/>
          </a:xfrm>
          <a:prstGeom prst="ellipse">
            <a:avLst/>
          </a:prstGeom>
          <a:solidFill>
            <a:schemeClr val="accent6"/>
          </a:solidFill>
          <a:ln/>
        </p:spPr>
      </p:sp>
      <p:sp>
        <p:nvSpPr>
          <p:cNvPr id="14" name="Text 11"/>
          <p:cNvSpPr txBox="1"/>
          <p:nvPr/>
        </p:nvSpPr>
        <p:spPr>
          <a:xfrm>
            <a:off x="6858000" y="4507992"/>
            <a:ext cx="4572000" cy="365760"/>
          </a:xfrm>
          <a:prstGeom prst="rect">
            <a:avLst/>
          </a:prstGeom>
          <a:noFill/>
          <a:ln/>
        </p:spPr>
        <p:txBody>
          <a:bodyPr wrap="square" lIns="0" tIns="0" rIns="0" bIns="0" rtlCol="0" anchor="ctr"/>
          <a:lstStyle/>
          <a:p>
            <a:pPr indent="0" marL="0">
              <a:buNone/>
            </a:pPr>
            <a:r>
              <a:rPr lang="en-US" sz="1600" b="1" dirty="0">
                <a:solidFill>
                  <a:schemeClr val="tx1"/>
                </a:solidFill>
              </a:rPr>
              <a:t>Mesh-ball caveat</a:t>
            </a:r>
            <a:endParaRPr lang="en-US" sz="1600" dirty="0"/>
          </a:p>
        </p:txBody>
      </p:sp>
      <p:sp>
        <p:nvSpPr>
          <p:cNvPr id="15" name="Text 12"/>
          <p:cNvSpPr txBox="1"/>
          <p:nvPr/>
        </p:nvSpPr>
        <p:spPr>
          <a:xfrm>
            <a:off x="6858000" y="4873752"/>
            <a:ext cx="4572000" cy="685800"/>
          </a:xfrm>
          <a:prstGeom prst="rect">
            <a:avLst/>
          </a:prstGeom>
          <a:noFill/>
          <a:ln/>
        </p:spPr>
        <p:txBody>
          <a:bodyPr wrap="square" lIns="0" tIns="0" rIns="0" bIns="0" rtlCol="0" anchor="t"/>
          <a:lstStyle/>
          <a:p>
            <a:pPr indent="0" marL="0">
              <a:buNone/>
            </a:pPr>
            <a:r>
              <a:rPr lang="en-US" sz="1300" dirty="0">
                <a:solidFill>
                  <a:schemeClr val="tx2"/>
                </a:solidFill>
              </a:rPr>
              <a:t>Convex-mesh balls sink 2–5 mm into the floor; even a round mesh ball drops to 85%. A PhysX artifact, so ellipsoid results (64–78%) are not trusted.</a:t>
            </a:r>
            <a:endParaRPr lang="en-US" sz="1300" dirty="0"/>
          </a:p>
        </p:txBody>
      </p:sp>
      <p:sp>
        <p:nvSpPr>
          <p:cNvPr id="25" name="Slide Number Placeholder 0"/>
          <p:cNvSpPr>
            <a:spLocks noGrp="1"/>
          </p:cNvSpPr>
          <p:nvPr>
            <p:ph type="sldNum" sz="quarter" idx="4294967295"/>
          </p:nvPr>
        </p:nvSpPr>
        <p:spPr>
          <a:xfrm>
            <a:off x="1136873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31520"/>
          </a:xfrm>
          <a:prstGeom prst="rect">
            <a:avLst/>
          </a:prstGeom>
          <a:noFill/>
          <a:ln/>
        </p:spPr>
        <p:txBody>
          <a:bodyPr wrap="square" lIns="0" tIns="0" rIns="0" bIns="0" rtlCol="0" anchor="ctr"/>
          <a:lstStyle/>
          <a:p>
            <a:pPr algn="l" indent="0" marL="0">
              <a:buNone/>
            </a:pPr>
            <a:r>
              <a:rPr lang="en-US" sz="3000" b="1" dirty="0">
                <a:solidFill>
                  <a:schemeClr val="tx1"/>
                </a:solidFill>
              </a:rPr>
              <a:t>Watch: 400 robots at 1200 Hz physics, 393 hold the ball</a:t>
            </a:r>
            <a:endParaRPr lang="en-US" sz="3000" dirty="0"/>
          </a:p>
        </p:txBody>
      </p:sp>
      <p:pic>
        <p:nvPicPr>
          <p:cNvPr id="3" name="video-array" descr="/tmp/claude-1000/-home-yifan-IsaacLab/02e1a1d7-61f9-5921-a435-b68e19ec6560/scratchpad/deck/img/vid/array.jpg">
            <a:hlinkClick r:id="rId2" tooltip="Open video on Google Drive"/>
          </p:cNvPr>
          <p:cNvPicPr>
            <a:picLocks noChangeAspect="1"/>
          </p:cNvPicPr>
          <p:nvPr/>
        </p:nvPicPr>
        <p:blipFill>
          <a:blip r:embed="rId1"/>
          <a:stretch>
            <a:fillRect/>
          </a:stretch>
        </p:blipFill>
        <p:spPr>
          <a:xfrm>
            <a:off x="548640" y="1325880"/>
            <a:ext cx="6766560" cy="3806190"/>
          </a:xfrm>
          <a:prstGeom prst="rect">
            <a:avLst/>
          </a:prstGeom>
        </p:spPr>
      </p:pic>
      <p:sp>
        <p:nvSpPr>
          <p:cNvPr id="4" name="Shape 1">
            <a:hlinkClick r:id="rId3" tooltip=""/>
          </p:cNvPr>
          <p:cNvSpPr/>
          <p:nvPr/>
        </p:nvSpPr>
        <p:spPr>
          <a:xfrm>
            <a:off x="3611880" y="2908935"/>
            <a:ext cx="640080" cy="640080"/>
          </a:xfrm>
          <a:prstGeom prst="ellipse">
            <a:avLst/>
          </a:prstGeom>
          <a:solidFill>
            <a:schemeClr val="tx1">
              <a:alpha val="75000"/>
            </a:schemeClr>
          </a:solidFill>
          <a:ln w="19050">
            <a:solidFill>
              <a:schemeClr val="bg1"/>
            </a:solidFill>
            <a:prstDash val="solid"/>
          </a:ln>
        </p:spPr>
      </p:sp>
      <p:sp>
        <p:nvSpPr>
          <p:cNvPr id="5" name="Shape 2"/>
          <p:cNvSpPr/>
          <p:nvPr/>
        </p:nvSpPr>
        <p:spPr>
          <a:xfrm rot="5400000">
            <a:off x="3829507" y="3100959"/>
            <a:ext cx="256032" cy="256032"/>
          </a:xfrm>
          <a:prstGeom prst="triangle">
            <a:avLst/>
          </a:prstGeom>
          <a:solidFill>
            <a:schemeClr val="bg1"/>
          </a:solidFill>
          <a:ln/>
        </p:spPr>
      </p:sp>
      <p:sp>
        <p:nvSpPr>
          <p:cNvPr id="6" name="Text 3"/>
          <p:cNvSpPr txBox="1"/>
          <p:nvPr/>
        </p:nvSpPr>
        <p:spPr>
          <a:xfrm>
            <a:off x="548640" y="5205222"/>
            <a:ext cx="6766560" cy="548640"/>
          </a:xfrm>
          <a:prstGeom prst="rect">
            <a:avLst/>
          </a:prstGeom>
          <a:noFill/>
          <a:ln/>
        </p:spPr>
        <p:txBody>
          <a:bodyPr wrap="square" lIns="0" tIns="0" rIns="0" bIns="0" rtlCol="0" anchor="t"/>
          <a:lstStyle/>
          <a:p>
            <a:pPr indent="0" marL="0">
              <a:buNone/>
            </a:pPr>
            <a:r>
              <a:rPr lang="en-US" sz="1200" b="1" dirty="0">
                <a:solidFill>
                  <a:schemeClr val="tx1"/>
                </a:solidFill>
              </a:rPr>
              <a:t>10 × 10 slice of the 400-robot run, 5× slow motion</a:t>
            </a:r>
            <a:endParaRPr lang="en-US" sz="1200" dirty="0"/>
          </a:p>
          <a:p>
            <a:pPr indent="0" marL="0">
              <a:buNone/>
            </a:pPr>
            <a:r>
              <a:rPr lang="en-US" sz="1200" u="sng" dirty="0">
                <a:solidFill>
                  <a:schemeClr val="accent4"/>
                </a:solidFill>
                <a:hlinkClick r:id="rId4" invalidUrl="" action="" tgtFrame="" tooltip="" history="1" highlightClick="0" endSnd="0">
                  <a:extLst>
                    <a:ext uri="{A12FA001-AC4F-418D-AE19-62706E023703}">
                      <ahyp:hlinkClr xmlns:ahyp="http://schemas.microsoft.com/office/drawing/2018/hyperlinkcolor" val="tx"/>
                    </a:ext>
                  </a:extLst>
                </a:hlinkClick>
              </a:rPr>
              <a:t>▶ Watch on Google Drive (18 s)</a:t>
            </a:r>
            <a:endParaRPr lang="en-US" sz="1200" dirty="0"/>
          </a:p>
        </p:txBody>
      </p:sp>
      <p:sp>
        <p:nvSpPr>
          <p:cNvPr id="7" name="Shape 4"/>
          <p:cNvSpPr/>
          <p:nvPr/>
        </p:nvSpPr>
        <p:spPr>
          <a:xfrm>
            <a:off x="7680960" y="1325880"/>
            <a:ext cx="3931920" cy="4389120"/>
          </a:xfrm>
          <a:prstGeom prst="roundRect">
            <a:avLst>
              <a:gd name="adj" fmla="val 1860"/>
            </a:avLst>
          </a:prstGeom>
          <a:solidFill>
            <a:schemeClr val="bg2"/>
          </a:solidFill>
          <a:ln/>
        </p:spPr>
      </p:sp>
      <p:sp>
        <p:nvSpPr>
          <p:cNvPr id="8" name="Text 5"/>
          <p:cNvSpPr txBox="1"/>
          <p:nvPr/>
        </p:nvSpPr>
        <p:spPr>
          <a:xfrm>
            <a:off x="7955280" y="1554480"/>
            <a:ext cx="3474720" cy="4023360"/>
          </a:xfrm>
          <a:prstGeom prst="rect">
            <a:avLst/>
          </a:prstGeom>
          <a:noFill/>
          <a:ln/>
        </p:spPr>
        <p:txBody>
          <a:bodyPr wrap="square" lIns="0" tIns="0" rIns="0" bIns="0" rtlCol="0" anchor="t"/>
          <a:lstStyle/>
          <a:p>
            <a:pPr indent="0" marL="0">
              <a:spcAft>
                <a:spcPts val="400"/>
              </a:spcAft>
              <a:buNone/>
            </a:pPr>
            <a:r>
              <a:rPr lang="en-US" sz="1800" b="1" dirty="0">
                <a:solidFill>
                  <a:schemeClr val="tx1"/>
                </a:solidFill>
              </a:rPr>
              <a:t>Setup</a:t>
            </a:r>
            <a:endParaRPr lang="en-US" sz="1400" dirty="0"/>
          </a:p>
          <a:p>
            <a:pPr marL="342900" indent="-342900">
              <a:spcAft>
                <a:spcPts val="400"/>
              </a:spcAft>
              <a:buSzPct val="100000"/>
              <a:buChar char="•"/>
            </a:pPr>
            <a:r>
              <a:rPr lang="en-US" sz="1400" dirty="0">
                <a:solidFill>
                  <a:schemeClr val="tx2"/>
                </a:solidFill>
              </a:rPr>
              <a:t>Robust trajectory, all realistic knobs</a:t>
            </a:r>
            <a:endParaRPr lang="en-US" sz="1400" dirty="0"/>
          </a:p>
          <a:p>
            <a:pPr marL="342900" indent="-342900">
              <a:spcAft>
                <a:spcPts val="400"/>
              </a:spcAft>
              <a:buSzPct val="100000"/>
              <a:buChar char="•"/>
            </a:pPr>
            <a:r>
              <a:rPr lang="en-US" sz="1400" dirty="0">
                <a:solidFill>
                  <a:schemeClr val="tx2"/>
                </a:solidFill>
              </a:rPr>
              <a:t>Physics 1200 Hz, control 60 Hz</a:t>
            </a:r>
            <a:endParaRPr lang="en-US" sz="1400" dirty="0"/>
          </a:p>
          <a:p>
            <a:pPr marL="342900" indent="-342900">
              <a:spcAft>
                <a:spcPts val="400"/>
              </a:spcAft>
              <a:buSzPct val="100000"/>
              <a:buChar char="•"/>
            </a:pPr>
            <a:r>
              <a:rPr lang="en-US" sz="1400" dirty="0">
                <a:solidFill>
                  <a:schemeClr val="tx2"/>
                </a:solidFill>
              </a:rPr>
              <a:t>Ball offset up to ±3 cm along, ±1 cm across</a:t>
            </a:r>
            <a:endParaRPr lang="en-US" sz="1400" dirty="0"/>
          </a:p>
          <a:p>
            <a:pPr indent="0" marL="0">
              <a:spcAft>
                <a:spcPts val="400"/>
              </a:spcAft>
              <a:buNone/>
            </a:pPr>
            <a:r>
              <a:rPr lang="en-US" sz="800" dirty="0">
                <a:solidFill>
                  <a:schemeClr val="tx2"/>
                </a:solidFill>
              </a:rPr>
              <a:t> </a:t>
            </a:r>
            <a:endParaRPr lang="en-US" sz="1400" dirty="0"/>
          </a:p>
          <a:p>
            <a:pPr indent="0" marL="0">
              <a:spcAft>
                <a:spcPts val="400"/>
              </a:spcAft>
              <a:buNone/>
            </a:pPr>
            <a:r>
              <a:rPr lang="en-US" sz="1800" b="1" dirty="0">
                <a:solidFill>
                  <a:schemeClr val="tx1"/>
                </a:solidFill>
              </a:rPr>
              <a:t>Result</a:t>
            </a:r>
            <a:endParaRPr lang="en-US" sz="1400" dirty="0"/>
          </a:p>
          <a:p>
            <a:pPr marL="342900" indent="-342900">
              <a:spcAft>
                <a:spcPts val="400"/>
              </a:spcAft>
              <a:buSzPct val="100000"/>
              <a:buChar char="•"/>
            </a:pPr>
            <a:r>
              <a:rPr lang="en-US" sz="1400" b="1" dirty="0">
                <a:solidFill>
                  <a:schemeClr val="accent2"/>
                </a:solidFill>
              </a:rPr>
              <a:t>393 / 400 (98.3%) hold the ball</a:t>
            </a:r>
            <a:endParaRPr lang="en-US" sz="1400" dirty="0"/>
          </a:p>
          <a:p>
            <a:pPr marL="342900" indent="-342900">
              <a:spcAft>
                <a:spcPts val="400"/>
              </a:spcAft>
              <a:buSzPct val="100000"/>
              <a:buChar char="•"/>
            </a:pPr>
            <a:r>
              <a:rPr lang="en-US" sz="1400" dirty="0">
                <a:solidFill>
                  <a:schemeClr val="tx2"/>
                </a:solidFill>
              </a:rPr>
              <a:t>No tipping, no physics blow-ups</a:t>
            </a:r>
            <a:endParaRPr lang="en-US" sz="1400" dirty="0"/>
          </a:p>
          <a:p>
            <a:pPr marL="342900" indent="-342900">
              <a:spcAft>
                <a:spcPts val="400"/>
              </a:spcAft>
              <a:buSzPct val="100000"/>
              <a:buChar char="•"/>
            </a:pPr>
            <a:r>
              <a:rPr lang="en-US" sz="1400" dirty="0">
                <a:solidFill>
                  <a:schemeClr val="tx2"/>
                </a:solidFill>
              </a:rPr>
              <a:t>All 7 failures: ball ends &gt; 3 m away</a:t>
            </a:r>
            <a:endParaRPr lang="en-US" sz="1400" dirty="0"/>
          </a:p>
        </p:txBody>
      </p:sp>
      <p:sp>
        <p:nvSpPr>
          <p:cNvPr id="25" name="Slide Number Placeholder 0"/>
          <p:cNvSpPr>
            <a:spLocks noGrp="1"/>
          </p:cNvSpPr>
          <p:nvPr>
            <p:ph type="sldNum" sz="quarter" idx="4294967295"/>
          </p:nvPr>
        </p:nvSpPr>
        <p:spPr>
          <a:xfrm>
            <a:off x="1136873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31520"/>
          </a:xfrm>
          <a:prstGeom prst="rect">
            <a:avLst/>
          </a:prstGeom>
          <a:noFill/>
          <a:ln/>
        </p:spPr>
        <p:txBody>
          <a:bodyPr wrap="square" lIns="0" tIns="0" rIns="0" bIns="0" rtlCol="0" anchor="ctr"/>
          <a:lstStyle/>
          <a:p>
            <a:pPr algn="l" indent="0" marL="0">
              <a:buNone/>
            </a:pPr>
            <a:r>
              <a:rPr lang="en-US" sz="3000" b="1" dirty="0">
                <a:solidFill>
                  <a:schemeClr val="tx1"/>
                </a:solidFill>
              </a:rPr>
              <a:t>Watch: the 7 failures fall into two modes</a:t>
            </a:r>
            <a:endParaRPr lang="en-US" sz="3000" dirty="0"/>
          </a:p>
        </p:txBody>
      </p:sp>
      <p:sp>
        <p:nvSpPr>
          <p:cNvPr id="3" name="Text 1"/>
          <p:cNvSpPr txBox="1"/>
          <p:nvPr/>
        </p:nvSpPr>
        <p:spPr>
          <a:xfrm>
            <a:off x="548640" y="1234440"/>
            <a:ext cx="5486400" cy="365760"/>
          </a:xfrm>
          <a:prstGeom prst="rect">
            <a:avLst/>
          </a:prstGeom>
          <a:noFill/>
          <a:ln/>
        </p:spPr>
        <p:txBody>
          <a:bodyPr wrap="square" lIns="0" tIns="0" rIns="0" bIns="0" rtlCol="0" anchor="ctr"/>
          <a:lstStyle/>
          <a:p>
            <a:pPr indent="0" marL="0">
              <a:buNone/>
            </a:pPr>
            <a:r>
              <a:rPr lang="en-US" sz="1400" b="1" dirty="0">
                <a:solidFill>
                  <a:schemeClr val="accent3"/>
                </a:solidFill>
              </a:rPr>
              <a:t>A · Late contact: ball ~2 cm farther, slides off the lip</a:t>
            </a:r>
            <a:endParaRPr lang="en-US" sz="1400" dirty="0"/>
          </a:p>
        </p:txBody>
      </p:sp>
      <p:sp>
        <p:nvSpPr>
          <p:cNvPr id="4" name="Text 2"/>
          <p:cNvSpPr txBox="1"/>
          <p:nvPr/>
        </p:nvSpPr>
        <p:spPr>
          <a:xfrm>
            <a:off x="6172200" y="1234440"/>
            <a:ext cx="5486400" cy="365760"/>
          </a:xfrm>
          <a:prstGeom prst="rect">
            <a:avLst/>
          </a:prstGeom>
          <a:noFill/>
          <a:ln/>
        </p:spPr>
        <p:txBody>
          <a:bodyPr wrap="square" lIns="0" tIns="0" rIns="0" bIns="0" rtlCol="0" anchor="ctr"/>
          <a:lstStyle/>
          <a:p>
            <a:pPr indent="0" marL="0">
              <a:buNone/>
            </a:pPr>
            <a:r>
              <a:rPr lang="en-US" sz="1400" b="1" dirty="0">
                <a:solidFill>
                  <a:schemeClr val="accent5"/>
                </a:solidFill>
              </a:rPr>
              <a:t>B · Lifted to ~43 cm, thrown out of the pocket side</a:t>
            </a:r>
            <a:endParaRPr lang="en-US" sz="1400" dirty="0"/>
          </a:p>
        </p:txBody>
      </p:sp>
      <p:pic>
        <p:nvPicPr>
          <p:cNvPr id="5" name="video-f145x" descr="/tmp/claude-1000/-home-yifan-IsaacLab/02e1a1d7-61f9-5921-a435-b68e19ec6560/scratchpad/deck/img/vid/f145x.jpg">
            <a:hlinkClick r:id="rId2" tooltip="Open video on Google Drive"/>
          </p:cNvPr>
          <p:cNvPicPr>
            <a:picLocks noChangeAspect="1"/>
          </p:cNvPicPr>
          <p:nvPr/>
        </p:nvPicPr>
        <p:blipFill>
          <a:blip r:embed="rId1"/>
          <a:stretch>
            <a:fillRect/>
          </a:stretch>
        </p:blipFill>
        <p:spPr>
          <a:xfrm>
            <a:off x="548640" y="1737360"/>
            <a:ext cx="2651760" cy="1491615"/>
          </a:xfrm>
          <a:prstGeom prst="rect">
            <a:avLst/>
          </a:prstGeom>
        </p:spPr>
      </p:pic>
      <p:sp>
        <p:nvSpPr>
          <p:cNvPr id="6" name="Shape 3">
            <a:hlinkClick r:id="rId3" tooltip=""/>
          </p:cNvPr>
          <p:cNvSpPr/>
          <p:nvPr/>
        </p:nvSpPr>
        <p:spPr>
          <a:xfrm>
            <a:off x="1662379" y="2271027"/>
            <a:ext cx="424282" cy="424282"/>
          </a:xfrm>
          <a:prstGeom prst="ellipse">
            <a:avLst/>
          </a:prstGeom>
          <a:solidFill>
            <a:schemeClr val="tx1">
              <a:alpha val="75000"/>
            </a:schemeClr>
          </a:solidFill>
          <a:ln w="19050">
            <a:solidFill>
              <a:schemeClr val="bg1"/>
            </a:solidFill>
            <a:prstDash val="solid"/>
          </a:ln>
        </p:spPr>
      </p:sp>
      <p:sp>
        <p:nvSpPr>
          <p:cNvPr id="7" name="Shape 4"/>
          <p:cNvSpPr/>
          <p:nvPr/>
        </p:nvSpPr>
        <p:spPr>
          <a:xfrm rot="5400000">
            <a:off x="1806635" y="2398311"/>
            <a:ext cx="169713" cy="169713"/>
          </a:xfrm>
          <a:prstGeom prst="triangle">
            <a:avLst/>
          </a:prstGeom>
          <a:solidFill>
            <a:schemeClr val="bg1"/>
          </a:solidFill>
          <a:ln/>
        </p:spPr>
      </p:sp>
      <p:sp>
        <p:nvSpPr>
          <p:cNvPr id="8" name="Text 5"/>
          <p:cNvSpPr txBox="1"/>
          <p:nvPr/>
        </p:nvSpPr>
        <p:spPr>
          <a:xfrm>
            <a:off x="548640" y="3302127"/>
            <a:ext cx="2651760" cy="548640"/>
          </a:xfrm>
          <a:prstGeom prst="rect">
            <a:avLst/>
          </a:prstGeom>
          <a:noFill/>
          <a:ln/>
        </p:spPr>
        <p:txBody>
          <a:bodyPr wrap="square" lIns="0" tIns="0" rIns="0" bIns="0" rtlCol="0" anchor="t"/>
          <a:lstStyle/>
          <a:p>
            <a:pPr indent="0" marL="0">
              <a:buNone/>
            </a:pPr>
            <a:r>
              <a:rPr lang="en-US" sz="1200" b="1" dirty="0">
                <a:solidFill>
                  <a:schemeClr val="tx1"/>
                </a:solidFill>
              </a:rPr>
              <a:t>Robot #145: ball 2.6 cm farther</a:t>
            </a:r>
            <a:endParaRPr lang="en-US" sz="1200" dirty="0"/>
          </a:p>
          <a:p>
            <a:pPr indent="0" marL="0">
              <a:buNone/>
            </a:pPr>
            <a:r>
              <a:rPr lang="en-US" sz="1200" u="sng" dirty="0">
                <a:solidFill>
                  <a:schemeClr val="accent4"/>
                </a:solidFill>
                <a:hlinkClick r:id="rId4" invalidUrl="" action="" tgtFrame="" tooltip="" history="1" highlightClick="0" endSnd="0">
                  <a:extLst>
                    <a:ext uri="{A12FA001-AC4F-418D-AE19-62706E023703}">
                      <ahyp:hlinkClr xmlns:ahyp="http://schemas.microsoft.com/office/drawing/2018/hyperlinkcolor" val="tx"/>
                    </a:ext>
                  </a:extLst>
                </a:hlinkClick>
              </a:rPr>
              <a:t>▶ Watch on Google Drive (8 s)</a:t>
            </a:r>
            <a:endParaRPr lang="en-US" sz="1200" dirty="0"/>
          </a:p>
        </p:txBody>
      </p:sp>
      <p:pic>
        <p:nvPicPr>
          <p:cNvPr id="9" name="video-f203x" descr="/tmp/claude-1000/-home-yifan-IsaacLab/02e1a1d7-61f9-5921-a435-b68e19ec6560/scratchpad/deck/img/vid/f203x.jpg">
            <a:hlinkClick r:id="rId6" tooltip="Open video on Google Drive"/>
          </p:cNvPr>
          <p:cNvPicPr>
            <a:picLocks noChangeAspect="1"/>
          </p:cNvPicPr>
          <p:nvPr/>
        </p:nvPicPr>
        <p:blipFill>
          <a:blip r:embed="rId5"/>
          <a:stretch>
            <a:fillRect/>
          </a:stretch>
        </p:blipFill>
        <p:spPr>
          <a:xfrm>
            <a:off x="3337560" y="1737360"/>
            <a:ext cx="2651760" cy="1491615"/>
          </a:xfrm>
          <a:prstGeom prst="rect">
            <a:avLst/>
          </a:prstGeom>
        </p:spPr>
      </p:pic>
      <p:sp>
        <p:nvSpPr>
          <p:cNvPr id="10" name="Shape 6">
            <a:hlinkClick r:id="rId7" tooltip=""/>
          </p:cNvPr>
          <p:cNvSpPr/>
          <p:nvPr/>
        </p:nvSpPr>
        <p:spPr>
          <a:xfrm>
            <a:off x="4451299" y="2271027"/>
            <a:ext cx="424282" cy="424282"/>
          </a:xfrm>
          <a:prstGeom prst="ellipse">
            <a:avLst/>
          </a:prstGeom>
          <a:solidFill>
            <a:schemeClr val="tx1">
              <a:alpha val="75000"/>
            </a:schemeClr>
          </a:solidFill>
          <a:ln w="19050">
            <a:solidFill>
              <a:schemeClr val="bg1"/>
            </a:solidFill>
            <a:prstDash val="solid"/>
          </a:ln>
        </p:spPr>
      </p:sp>
      <p:sp>
        <p:nvSpPr>
          <p:cNvPr id="11" name="Shape 7"/>
          <p:cNvSpPr/>
          <p:nvPr/>
        </p:nvSpPr>
        <p:spPr>
          <a:xfrm rot="5400000">
            <a:off x="4595555" y="2398311"/>
            <a:ext cx="169713" cy="169713"/>
          </a:xfrm>
          <a:prstGeom prst="triangle">
            <a:avLst/>
          </a:prstGeom>
          <a:solidFill>
            <a:schemeClr val="bg1"/>
          </a:solidFill>
          <a:ln/>
        </p:spPr>
      </p:sp>
      <p:sp>
        <p:nvSpPr>
          <p:cNvPr id="12" name="Text 8"/>
          <p:cNvSpPr txBox="1"/>
          <p:nvPr/>
        </p:nvSpPr>
        <p:spPr>
          <a:xfrm>
            <a:off x="3337560" y="3302127"/>
            <a:ext cx="2651760" cy="548640"/>
          </a:xfrm>
          <a:prstGeom prst="rect">
            <a:avLst/>
          </a:prstGeom>
          <a:noFill/>
          <a:ln/>
        </p:spPr>
        <p:txBody>
          <a:bodyPr wrap="square" lIns="0" tIns="0" rIns="0" bIns="0" rtlCol="0" anchor="t"/>
          <a:lstStyle/>
          <a:p>
            <a:pPr indent="0" marL="0">
              <a:buNone/>
            </a:pPr>
            <a:r>
              <a:rPr lang="en-US" sz="1200" b="1" dirty="0">
                <a:solidFill>
                  <a:schemeClr val="tx1"/>
                </a:solidFill>
              </a:rPr>
              <a:t>Robot #203: ball 2.2 cm farther, lifted 21 cm then lost</a:t>
            </a:r>
            <a:endParaRPr lang="en-US" sz="1200" dirty="0"/>
          </a:p>
          <a:p>
            <a:pPr indent="0" marL="0">
              <a:buNone/>
            </a:pPr>
            <a:r>
              <a:rPr lang="en-US" sz="1200" u="sng" dirty="0">
                <a:solidFill>
                  <a:schemeClr val="accent4"/>
                </a:solidFill>
                <a:hlinkClick r:id="rId8" invalidUrl="" action="" tgtFrame="" tooltip="" history="1" highlightClick="0" endSnd="0">
                  <a:extLst>
                    <a:ext uri="{A12FA001-AC4F-418D-AE19-62706E023703}">
                      <ahyp:hlinkClr xmlns:ahyp="http://schemas.microsoft.com/office/drawing/2018/hyperlinkcolor" val="tx"/>
                    </a:ext>
                  </a:extLst>
                </a:hlinkClick>
              </a:rPr>
              <a:t>▶ Watch on Google Drive (8 s)</a:t>
            </a:r>
            <a:endParaRPr lang="en-US" sz="1200" dirty="0"/>
          </a:p>
        </p:txBody>
      </p:sp>
      <p:pic>
        <p:nvPicPr>
          <p:cNvPr id="13" name="video-f172x" descr="/tmp/claude-1000/-home-yifan-IsaacLab/02e1a1d7-61f9-5921-a435-b68e19ec6560/scratchpad/deck/img/vid/f172x.jpg">
            <a:hlinkClick r:id="rId10" tooltip="Open video on Google Drive"/>
          </p:cNvPr>
          <p:cNvPicPr>
            <a:picLocks noChangeAspect="1"/>
          </p:cNvPicPr>
          <p:nvPr/>
        </p:nvPicPr>
        <p:blipFill>
          <a:blip r:embed="rId9"/>
          <a:stretch>
            <a:fillRect/>
          </a:stretch>
        </p:blipFill>
        <p:spPr>
          <a:xfrm>
            <a:off x="6172200" y="1737360"/>
            <a:ext cx="2651760" cy="1491615"/>
          </a:xfrm>
          <a:prstGeom prst="rect">
            <a:avLst/>
          </a:prstGeom>
        </p:spPr>
      </p:pic>
      <p:sp>
        <p:nvSpPr>
          <p:cNvPr id="14" name="Shape 9">
            <a:hlinkClick r:id="rId11" tooltip=""/>
          </p:cNvPr>
          <p:cNvSpPr/>
          <p:nvPr/>
        </p:nvSpPr>
        <p:spPr>
          <a:xfrm>
            <a:off x="7285939" y="2271027"/>
            <a:ext cx="424282" cy="424282"/>
          </a:xfrm>
          <a:prstGeom prst="ellipse">
            <a:avLst/>
          </a:prstGeom>
          <a:solidFill>
            <a:schemeClr val="tx1">
              <a:alpha val="75000"/>
            </a:schemeClr>
          </a:solidFill>
          <a:ln w="19050">
            <a:solidFill>
              <a:schemeClr val="bg1"/>
            </a:solidFill>
            <a:prstDash val="solid"/>
          </a:ln>
        </p:spPr>
      </p:sp>
      <p:sp>
        <p:nvSpPr>
          <p:cNvPr id="15" name="Shape 10"/>
          <p:cNvSpPr/>
          <p:nvPr/>
        </p:nvSpPr>
        <p:spPr>
          <a:xfrm rot="5400000">
            <a:off x="7430195" y="2398311"/>
            <a:ext cx="169713" cy="169713"/>
          </a:xfrm>
          <a:prstGeom prst="triangle">
            <a:avLst/>
          </a:prstGeom>
          <a:solidFill>
            <a:schemeClr val="bg1"/>
          </a:solidFill>
          <a:ln/>
        </p:spPr>
      </p:sp>
      <p:sp>
        <p:nvSpPr>
          <p:cNvPr id="16" name="Text 11"/>
          <p:cNvSpPr txBox="1"/>
          <p:nvPr/>
        </p:nvSpPr>
        <p:spPr>
          <a:xfrm>
            <a:off x="6172200" y="3302127"/>
            <a:ext cx="2651760" cy="548640"/>
          </a:xfrm>
          <a:prstGeom prst="rect">
            <a:avLst/>
          </a:prstGeom>
          <a:noFill/>
          <a:ln/>
        </p:spPr>
        <p:txBody>
          <a:bodyPr wrap="square" lIns="0" tIns="0" rIns="0" bIns="0" rtlCol="0" anchor="t"/>
          <a:lstStyle/>
          <a:p>
            <a:pPr indent="0" marL="0">
              <a:buNone/>
            </a:pPr>
            <a:r>
              <a:rPr lang="en-US" sz="1200" b="1" dirty="0">
                <a:solidFill>
                  <a:schemeClr val="tx1"/>
                </a:solidFill>
              </a:rPr>
              <a:t>Robot #172</a:t>
            </a:r>
            <a:endParaRPr lang="en-US" sz="1200" dirty="0"/>
          </a:p>
          <a:p>
            <a:pPr indent="0" marL="0">
              <a:buNone/>
            </a:pPr>
            <a:r>
              <a:rPr lang="en-US" sz="1200" u="sng" dirty="0">
                <a:solidFill>
                  <a:schemeClr val="accent4"/>
                </a:solidFill>
                <a:hlinkClick r:id="rId12" invalidUrl="" action="" tgtFrame="" tooltip="" history="1" highlightClick="0" endSnd="0">
                  <a:extLst>
                    <a:ext uri="{A12FA001-AC4F-418D-AE19-62706E023703}">
                      <ahyp:hlinkClr xmlns:ahyp="http://schemas.microsoft.com/office/drawing/2018/hyperlinkcolor" val="tx"/>
                    </a:ext>
                  </a:extLst>
                </a:hlinkClick>
              </a:rPr>
              <a:t>▶ Watch on Google Drive (8 s)</a:t>
            </a:r>
            <a:endParaRPr lang="en-US" sz="1200" dirty="0"/>
          </a:p>
        </p:txBody>
      </p:sp>
      <p:pic>
        <p:nvPicPr>
          <p:cNvPr id="17" name="video-f307x" descr="/tmp/claude-1000/-home-yifan-IsaacLab/02e1a1d7-61f9-5921-a435-b68e19ec6560/scratchpad/deck/img/vid/f307x.jpg">
            <a:hlinkClick r:id="rId14" tooltip="Open video on Google Drive"/>
          </p:cNvPr>
          <p:cNvPicPr>
            <a:picLocks noChangeAspect="1"/>
          </p:cNvPicPr>
          <p:nvPr/>
        </p:nvPicPr>
        <p:blipFill>
          <a:blip r:embed="rId13"/>
          <a:stretch>
            <a:fillRect/>
          </a:stretch>
        </p:blipFill>
        <p:spPr>
          <a:xfrm>
            <a:off x="8961120" y="1737360"/>
            <a:ext cx="2651760" cy="1491615"/>
          </a:xfrm>
          <a:prstGeom prst="rect">
            <a:avLst/>
          </a:prstGeom>
        </p:spPr>
      </p:pic>
      <p:sp>
        <p:nvSpPr>
          <p:cNvPr id="18" name="Shape 12">
            <a:hlinkClick r:id="rId15" tooltip=""/>
          </p:cNvPr>
          <p:cNvSpPr/>
          <p:nvPr/>
        </p:nvSpPr>
        <p:spPr>
          <a:xfrm>
            <a:off x="10074859" y="2271027"/>
            <a:ext cx="424282" cy="424282"/>
          </a:xfrm>
          <a:prstGeom prst="ellipse">
            <a:avLst/>
          </a:prstGeom>
          <a:solidFill>
            <a:schemeClr val="tx1">
              <a:alpha val="75000"/>
            </a:schemeClr>
          </a:solidFill>
          <a:ln w="19050">
            <a:solidFill>
              <a:schemeClr val="bg1"/>
            </a:solidFill>
            <a:prstDash val="solid"/>
          </a:ln>
        </p:spPr>
      </p:sp>
      <p:sp>
        <p:nvSpPr>
          <p:cNvPr id="19" name="Shape 13"/>
          <p:cNvSpPr/>
          <p:nvPr/>
        </p:nvSpPr>
        <p:spPr>
          <a:xfrm rot="5400000">
            <a:off x="10219115" y="2398311"/>
            <a:ext cx="169713" cy="169713"/>
          </a:xfrm>
          <a:prstGeom prst="triangle">
            <a:avLst/>
          </a:prstGeom>
          <a:solidFill>
            <a:schemeClr val="bg1"/>
          </a:solidFill>
          <a:ln/>
        </p:spPr>
      </p:sp>
      <p:sp>
        <p:nvSpPr>
          <p:cNvPr id="20" name="Text 14"/>
          <p:cNvSpPr txBox="1"/>
          <p:nvPr/>
        </p:nvSpPr>
        <p:spPr>
          <a:xfrm>
            <a:off x="8961120" y="3302127"/>
            <a:ext cx="2651760" cy="548640"/>
          </a:xfrm>
          <a:prstGeom prst="rect">
            <a:avLst/>
          </a:prstGeom>
          <a:noFill/>
          <a:ln/>
        </p:spPr>
        <p:txBody>
          <a:bodyPr wrap="square" lIns="0" tIns="0" rIns="0" bIns="0" rtlCol="0" anchor="t"/>
          <a:lstStyle/>
          <a:p>
            <a:pPr indent="0" marL="0">
              <a:buNone/>
            </a:pPr>
            <a:r>
              <a:rPr lang="en-US" sz="1200" b="1" dirty="0">
                <a:solidFill>
                  <a:schemeClr val="tx1"/>
                </a:solidFill>
              </a:rPr>
              <a:t>Robot #307</a:t>
            </a:r>
            <a:endParaRPr lang="en-US" sz="1200" dirty="0"/>
          </a:p>
          <a:p>
            <a:pPr indent="0" marL="0">
              <a:buNone/>
            </a:pPr>
            <a:r>
              <a:rPr lang="en-US" sz="1200" u="sng" dirty="0">
                <a:solidFill>
                  <a:schemeClr val="accent4"/>
                </a:solidFill>
                <a:hlinkClick r:id="rId16" invalidUrl="" action="" tgtFrame="" tooltip="" history="1" highlightClick="0" endSnd="0">
                  <a:extLst>
                    <a:ext uri="{A12FA001-AC4F-418D-AE19-62706E023703}">
                      <ahyp:hlinkClr xmlns:ahyp="http://schemas.microsoft.com/office/drawing/2018/hyperlinkcolor" val="tx"/>
                    </a:ext>
                  </a:extLst>
                </a:hlinkClick>
              </a:rPr>
              <a:t>▶ Watch on Google Drive (8 s)</a:t>
            </a:r>
            <a:endParaRPr lang="en-US" sz="1200" dirty="0"/>
          </a:p>
        </p:txBody>
      </p:sp>
      <p:sp>
        <p:nvSpPr>
          <p:cNvPr id="21" name="Shape 15"/>
          <p:cNvSpPr/>
          <p:nvPr/>
        </p:nvSpPr>
        <p:spPr>
          <a:xfrm>
            <a:off x="548640" y="4206240"/>
            <a:ext cx="5440680" cy="1645920"/>
          </a:xfrm>
          <a:prstGeom prst="roundRect">
            <a:avLst>
              <a:gd name="adj" fmla="val 4444"/>
            </a:avLst>
          </a:prstGeom>
          <a:solidFill>
            <a:schemeClr val="bg2"/>
          </a:solidFill>
          <a:ln/>
        </p:spPr>
      </p:sp>
      <p:sp>
        <p:nvSpPr>
          <p:cNvPr id="22" name="Text 16"/>
          <p:cNvSpPr txBox="1"/>
          <p:nvPr/>
        </p:nvSpPr>
        <p:spPr>
          <a:xfrm>
            <a:off x="777240" y="4343400"/>
            <a:ext cx="4983480" cy="1371600"/>
          </a:xfrm>
          <a:prstGeom prst="rect">
            <a:avLst/>
          </a:prstGeom>
          <a:noFill/>
          <a:ln/>
        </p:spPr>
        <p:txBody>
          <a:bodyPr wrap="square" lIns="0" tIns="0" rIns="0" bIns="0" rtlCol="0" anchor="t"/>
          <a:lstStyle/>
          <a:p>
            <a:pPr indent="0" marL="0">
              <a:buNone/>
            </a:pPr>
            <a:r>
              <a:rPr lang="en-US" sz="1400" dirty="0">
                <a:solidFill>
                  <a:schemeClr val="tx1"/>
                </a:solidFill>
              </a:rPr>
              <a:t>Fix idea: trigger the lift on contact (torque spike) instead of at a fixed time, so a farther ball is not met by a stick that is already rising.</a:t>
            </a:r>
            <a:endParaRPr lang="en-US" sz="1400" dirty="0"/>
          </a:p>
        </p:txBody>
      </p:sp>
      <p:sp>
        <p:nvSpPr>
          <p:cNvPr id="23" name="Shape 17"/>
          <p:cNvSpPr/>
          <p:nvPr/>
        </p:nvSpPr>
        <p:spPr>
          <a:xfrm>
            <a:off x="6172200" y="4206240"/>
            <a:ext cx="5440680" cy="1645920"/>
          </a:xfrm>
          <a:prstGeom prst="roundRect">
            <a:avLst>
              <a:gd name="adj" fmla="val 4444"/>
            </a:avLst>
          </a:prstGeom>
          <a:solidFill>
            <a:schemeClr val="bg2"/>
          </a:solidFill>
          <a:ln/>
        </p:spPr>
      </p:sp>
      <p:sp>
        <p:nvSpPr>
          <p:cNvPr id="24" name="Text 18"/>
          <p:cNvSpPr txBox="1"/>
          <p:nvPr/>
        </p:nvSpPr>
        <p:spPr>
          <a:xfrm>
            <a:off x="6400800" y="4343400"/>
            <a:ext cx="4983480" cy="1371600"/>
          </a:xfrm>
          <a:prstGeom prst="rect">
            <a:avLst/>
          </a:prstGeom>
          <a:noFill/>
          <a:ln/>
        </p:spPr>
        <p:txBody>
          <a:bodyPr wrap="square" lIns="0" tIns="0" rIns="0" bIns="0" rtlCol="0" anchor="t"/>
          <a:lstStyle/>
          <a:p>
            <a:pPr indent="0" marL="0">
              <a:buNone/>
            </a:pPr>
            <a:r>
              <a:rPr lang="en-US" sz="1400" dirty="0">
                <a:solidFill>
                  <a:schemeClr val="tx1"/>
                </a:solidFill>
              </a:rPr>
              <a:t>Fix idea: slow down the end of the lift, or add a final tilt that cradles the ball; detect a lost ball from the drop in static arm torque and retry.</a:t>
            </a:r>
            <a:endParaRPr lang="en-US" sz="1400" dirty="0"/>
          </a:p>
        </p:txBody>
      </p:sp>
      <p:sp>
        <p:nvSpPr>
          <p:cNvPr id="25" name="Slide Number Placeholder 0"/>
          <p:cNvSpPr>
            <a:spLocks noGrp="1"/>
          </p:cNvSpPr>
          <p:nvPr>
            <p:ph type="sldNum" sz="quarter" idx="4294967295"/>
          </p:nvPr>
        </p:nvSpPr>
        <p:spPr>
          <a:xfrm>
            <a:off x="1136873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31520"/>
          </a:xfrm>
          <a:prstGeom prst="rect">
            <a:avLst/>
          </a:prstGeom>
          <a:noFill/>
          <a:ln/>
        </p:spPr>
        <p:txBody>
          <a:bodyPr wrap="square" lIns="0" tIns="0" rIns="0" bIns="0" rtlCol="0" anchor="ctr"/>
          <a:lstStyle/>
          <a:p>
            <a:pPr algn="l" indent="0" marL="0">
              <a:buNone/>
            </a:pPr>
            <a:r>
              <a:rPr lang="en-US" sz="3000" b="1" dirty="0">
                <a:solidFill>
                  <a:schemeClr val="tx1"/>
                </a:solidFill>
              </a:rPr>
              <a:t>In simulation, ball impact shows up clearly in the arm torque</a:t>
            </a:r>
            <a:endParaRPr lang="en-US" sz="3000" dirty="0"/>
          </a:p>
        </p:txBody>
      </p:sp>
      <p:pic>
        <p:nvPicPr>
          <p:cNvPr id="3" name="torque-plot" descr="/tmp/claude-1000/-home-yifan-IsaacLab/02e1a1d7-61f9-5921-a435-b68e19ec6560/scratchpad/deck/img/torque_impact.png">    </p:cNvPr>
          <p:cNvPicPr>
            <a:picLocks noChangeAspect="1"/>
          </p:cNvPicPr>
          <p:nvPr/>
        </p:nvPicPr>
        <p:blipFill>
          <a:blip r:embed="rId1"/>
          <a:stretch>
            <a:fillRect/>
          </a:stretch>
        </p:blipFill>
        <p:spPr>
          <a:xfrm>
            <a:off x="548640" y="1280160"/>
            <a:ext cx="6949440" cy="3648456"/>
          </a:xfrm>
          <a:prstGeom prst="rect">
            <a:avLst/>
          </a:prstGeom>
        </p:spPr>
      </p:pic>
      <p:sp>
        <p:nvSpPr>
          <p:cNvPr id="4" name="Shape 1"/>
          <p:cNvSpPr/>
          <p:nvPr/>
        </p:nvSpPr>
        <p:spPr>
          <a:xfrm>
            <a:off x="7772400" y="1325880"/>
            <a:ext cx="3840480" cy="4480560"/>
          </a:xfrm>
          <a:prstGeom prst="roundRect">
            <a:avLst>
              <a:gd name="adj" fmla="val 1905"/>
            </a:avLst>
          </a:prstGeom>
          <a:solidFill>
            <a:schemeClr val="bg2"/>
          </a:solidFill>
          <a:ln/>
        </p:spPr>
      </p:sp>
      <p:sp>
        <p:nvSpPr>
          <p:cNvPr id="5" name="Text 2"/>
          <p:cNvSpPr txBox="1"/>
          <p:nvPr/>
        </p:nvSpPr>
        <p:spPr>
          <a:xfrm>
            <a:off x="8001000" y="1554480"/>
            <a:ext cx="3383280" cy="4114800"/>
          </a:xfrm>
          <a:prstGeom prst="rect">
            <a:avLst/>
          </a:prstGeom>
          <a:noFill/>
          <a:ln/>
        </p:spPr>
        <p:txBody>
          <a:bodyPr wrap="square" lIns="0" tIns="0" rIns="0" bIns="0" rtlCol="0" anchor="t"/>
          <a:lstStyle/>
          <a:p>
            <a:pPr indent="0" marL="0">
              <a:spcAft>
                <a:spcPts val="600"/>
              </a:spcAft>
              <a:buNone/>
            </a:pPr>
            <a:r>
              <a:rPr lang="en-US" sz="1800" b="1" dirty="0">
                <a:solidFill>
                  <a:schemeClr val="tx1"/>
                </a:solidFill>
              </a:rPr>
              <a:t>What the sim says</a:t>
            </a:r>
            <a:endParaRPr lang="en-US" sz="1300" dirty="0"/>
          </a:p>
          <a:p>
            <a:pPr marL="342900" indent="-342900">
              <a:spcAft>
                <a:spcPts val="600"/>
              </a:spcAft>
              <a:buSzPct val="100000"/>
              <a:buChar char="•"/>
            </a:pPr>
            <a:r>
              <a:rPr lang="en-US" sz="1300" dirty="0">
                <a:solidFill>
                  <a:schemeClr val="tx2"/>
                </a:solidFill>
              </a:rPr>
              <a:t>Impact step: shoulder −0.64 N·m, elbow +0.75 N·m, about 15–20× the approach noise</a:t>
            </a:r>
            <a:endParaRPr lang="en-US" sz="1300" dirty="0"/>
          </a:p>
          <a:p>
            <a:pPr marL="342900" indent="-342900">
              <a:spcAft>
                <a:spcPts val="600"/>
              </a:spcAft>
              <a:buSzPct val="100000"/>
              <a:buChar char="•"/>
            </a:pPr>
            <a:r>
              <a:rPr lang="en-US" sz="1300" dirty="0">
                <a:solidFill>
                  <a:schemeClr val="tx2"/>
                </a:solidFill>
              </a:rPr>
              <a:t>It lasts only 1–2 samples at 60 Hz (≈17–33 ms), so the real robot needs ≥ 500 Hz logging</a:t>
            </a:r>
            <a:endParaRPr lang="en-US" sz="1300" dirty="0"/>
          </a:p>
          <a:p>
            <a:pPr marL="342900" indent="-342900">
              <a:spcAft>
                <a:spcPts val="600"/>
              </a:spcAft>
              <a:buSzPct val="100000"/>
              <a:buChar char="•"/>
            </a:pPr>
            <a:r>
              <a:rPr lang="en-US" sz="1300" dirty="0">
                <a:solidFill>
                  <a:schemeClr val="tx2"/>
                </a:solidFill>
              </a:rPr>
              <a:t>Contact comes 50 ms before the scheduled lift; the lift itself causes a much larger 3.5–3.9 N·m spike, which would hide a late contact</a:t>
            </a:r>
            <a:endParaRPr lang="en-US" sz="1300" dirty="0"/>
          </a:p>
          <a:p>
            <a:pPr marL="342900" indent="-342900">
              <a:spcAft>
                <a:spcPts val="600"/>
              </a:spcAft>
              <a:buSzPct val="100000"/>
              <a:buChar char="•"/>
            </a:pPr>
            <a:r>
              <a:rPr lang="en-US" sz="1300" i="1" dirty="0">
                <a:solidFill>
                  <a:schemeClr val="tx2"/>
                </a:solidFill>
              </a:rPr>
              <a:t>Caveat: rigid net and stick in sim, so the real peak is likely smaller and smoother</a:t>
            </a:r>
            <a:endParaRPr lang="en-US" sz="1300" dirty="0"/>
          </a:p>
        </p:txBody>
      </p:sp>
      <p:sp>
        <p:nvSpPr>
          <p:cNvPr id="6" name="Text 3"/>
          <p:cNvSpPr txBox="1"/>
          <p:nvPr/>
        </p:nvSpPr>
        <p:spPr>
          <a:xfrm>
            <a:off x="548640" y="5020056"/>
            <a:ext cx="6949440" cy="320040"/>
          </a:xfrm>
          <a:prstGeom prst="rect">
            <a:avLst/>
          </a:prstGeom>
          <a:noFill/>
          <a:ln/>
        </p:spPr>
        <p:txBody>
          <a:bodyPr wrap="square" lIns="0" tIns="0" rIns="0" bIns="0" rtlCol="0" anchor="ctr"/>
          <a:lstStyle/>
          <a:p>
            <a:pPr indent="0" marL="0">
              <a:buNone/>
            </a:pPr>
            <a:r>
              <a:rPr lang="en-US" sz="1100" i="1" dirty="0">
                <a:solidFill>
                  <a:schemeClr val="accent6"/>
                </a:solidFill>
              </a:rPr>
              <a:t>Applied joint torque = PD + gravity/press feed-forward, from the best wheel-driven run (one run).</a:t>
            </a:r>
            <a:endParaRPr lang="en-US" sz="1100" dirty="0"/>
          </a:p>
        </p:txBody>
      </p:sp>
      <p:sp>
        <p:nvSpPr>
          <p:cNvPr id="25" name="Slide Number Placeholder 0"/>
          <p:cNvSpPr>
            <a:spLocks noGrp="1"/>
          </p:cNvSpPr>
          <p:nvPr>
            <p:ph type="sldNum" sz="quarter" idx="4294967295"/>
          </p:nvPr>
        </p:nvSpPr>
        <p:spPr>
          <a:xfrm>
            <a:off x="1136873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31520"/>
          </a:xfrm>
          <a:prstGeom prst="rect">
            <a:avLst/>
          </a:prstGeom>
          <a:noFill/>
          <a:ln/>
        </p:spPr>
        <p:txBody>
          <a:bodyPr wrap="square" lIns="0" tIns="0" rIns="0" bIns="0" rtlCol="0" anchor="ctr"/>
          <a:lstStyle/>
          <a:p>
            <a:pPr algn="l" indent="0" marL="0">
              <a:buNone/>
            </a:pPr>
            <a:r>
              <a:rPr lang="en-US" sz="3000" b="1" dirty="0">
                <a:solidFill>
                  <a:schemeClr val="tx1"/>
                </a:solidFill>
              </a:rPr>
              <a:t>Torque as an observation: helps with timing, not with lateral aim</a:t>
            </a:r>
            <a:endParaRPr lang="en-US" sz="3000" dirty="0"/>
          </a:p>
        </p:txBody>
      </p:sp>
      <p:sp>
        <p:nvSpPr>
          <p:cNvPr id="3" name="Shape 1"/>
          <p:cNvSpPr/>
          <p:nvPr/>
        </p:nvSpPr>
        <p:spPr>
          <a:xfrm>
            <a:off x="548640" y="1325880"/>
            <a:ext cx="3520440" cy="4572000"/>
          </a:xfrm>
          <a:prstGeom prst="roundRect">
            <a:avLst>
              <a:gd name="adj" fmla="val 2078"/>
            </a:avLst>
          </a:prstGeom>
          <a:solidFill>
            <a:schemeClr val="bg2"/>
          </a:solidFill>
          <a:ln/>
        </p:spPr>
      </p:sp>
      <p:sp>
        <p:nvSpPr>
          <p:cNvPr id="4" name="Shape 2"/>
          <p:cNvSpPr/>
          <p:nvPr/>
        </p:nvSpPr>
        <p:spPr>
          <a:xfrm>
            <a:off x="777240" y="1600200"/>
            <a:ext cx="274320" cy="274320"/>
          </a:xfrm>
          <a:prstGeom prst="ellipse">
            <a:avLst/>
          </a:prstGeom>
          <a:solidFill>
            <a:schemeClr val="accent2"/>
          </a:solidFill>
          <a:ln/>
        </p:spPr>
      </p:sp>
      <p:sp>
        <p:nvSpPr>
          <p:cNvPr id="5" name="Text 3"/>
          <p:cNvSpPr txBox="1"/>
          <p:nvPr/>
        </p:nvSpPr>
        <p:spPr>
          <a:xfrm>
            <a:off x="1188720" y="1508760"/>
            <a:ext cx="2697480" cy="457200"/>
          </a:xfrm>
          <a:prstGeom prst="rect">
            <a:avLst/>
          </a:prstGeom>
          <a:noFill/>
          <a:ln/>
        </p:spPr>
        <p:txBody>
          <a:bodyPr wrap="square" lIns="0" tIns="0" rIns="0" bIns="0" rtlCol="0" anchor="ctr"/>
          <a:lstStyle/>
          <a:p>
            <a:pPr indent="0" marL="0">
              <a:buNone/>
            </a:pPr>
            <a:r>
              <a:rPr lang="en-US" sz="1700" b="1" dirty="0">
                <a:solidFill>
                  <a:schemeClr val="tx1"/>
                </a:solidFill>
              </a:rPr>
              <a:t>Where torque helps</a:t>
            </a:r>
            <a:endParaRPr lang="en-US" sz="1700" dirty="0"/>
          </a:p>
        </p:txBody>
      </p:sp>
      <p:sp>
        <p:nvSpPr>
          <p:cNvPr id="6" name="Text 4"/>
          <p:cNvSpPr txBox="1"/>
          <p:nvPr/>
        </p:nvSpPr>
        <p:spPr>
          <a:xfrm>
            <a:off x="777240" y="2148840"/>
            <a:ext cx="3063240" cy="3657600"/>
          </a:xfrm>
          <a:prstGeom prst="rect">
            <a:avLst/>
          </a:prstGeom>
          <a:noFill/>
          <a:ln/>
        </p:spPr>
        <p:txBody>
          <a:bodyPr wrap="square" lIns="0" tIns="0" rIns="0" bIns="0" rtlCol="0" anchor="t"/>
          <a:lstStyle/>
          <a:p>
            <a:pPr indent="0" marL="0">
              <a:buNone/>
            </a:pPr>
            <a:r>
              <a:rPr lang="en-US" sz="1300" b="1" dirty="0">
                <a:solidFill>
                  <a:schemeClr val="tx1"/>
                </a:solidFill>
              </a:rPr>
              <a:t>Contact timing</a:t>
            </a:r>
            <a:endParaRPr lang="en-US" sz="1300" dirty="0"/>
          </a:p>
          <a:p>
            <a:pPr indent="0" marL="0">
              <a:spcAft>
                <a:spcPts val="1000"/>
              </a:spcAft>
              <a:buNone/>
            </a:pPr>
            <a:r>
              <a:rPr lang="en-US" sz="1300" dirty="0">
                <a:solidFill>
                  <a:schemeClr val="tx2"/>
                </a:solidFill>
              </a:rPr>
              <a:t>Lift when the ball actually hits instead of at t = 0.9 s. Covers distance and speed errors (failure mode A; 10 cm farther is only 35% today).</a:t>
            </a:r>
            <a:endParaRPr lang="en-US" sz="1300" dirty="0"/>
          </a:p>
          <a:p>
            <a:pPr indent="0" marL="0">
              <a:buNone/>
            </a:pPr>
            <a:r>
              <a:rPr lang="en-US" sz="1300" b="1" dirty="0">
                <a:solidFill>
                  <a:schemeClr val="tx1"/>
                </a:solidFill>
              </a:rPr>
              <a:t>Success check</a:t>
            </a:r>
            <a:endParaRPr lang="en-US" sz="1300" dirty="0"/>
          </a:p>
          <a:p>
            <a:pPr indent="0" marL="0">
              <a:spcAft>
                <a:spcPts val="1000"/>
              </a:spcAft>
              <a:buNone/>
            </a:pPr>
            <a:r>
              <a:rPr lang="en-US" sz="1300" dirty="0">
                <a:solidFill>
                  <a:schemeClr val="tx2"/>
                </a:solidFill>
              </a:rPr>
              <a:t>The ball adds a static load of ~0.65 N·m at the shoulder: detect a lost ball (mode B) and retry.</a:t>
            </a:r>
            <a:endParaRPr lang="en-US" sz="1300" dirty="0"/>
          </a:p>
          <a:p>
            <a:pPr indent="0" marL="0">
              <a:buNone/>
            </a:pPr>
            <a:r>
              <a:rPr lang="en-US" sz="1300" b="1" dirty="0">
                <a:solidFill>
                  <a:schemeClr val="tx1"/>
                </a:solidFill>
              </a:rPr>
              <a:t>Lip contact</a:t>
            </a:r>
            <a:endParaRPr lang="en-US" sz="1300" dirty="0"/>
          </a:p>
          <a:p>
            <a:pPr indent="0" marL="0">
              <a:spcAft>
                <a:spcPts val="1000"/>
              </a:spcAft>
              <a:buNone/>
            </a:pPr>
            <a:r>
              <a:rPr lang="en-US" sz="1300" dirty="0">
                <a:solidFill>
                  <a:schemeClr val="tx2"/>
                </a:solidFill>
              </a:rPr>
              <a:t>Press-down torque vs. position tells whether the lip is really on the floor before impact.</a:t>
            </a:r>
            <a:endParaRPr lang="en-US" sz="1300" dirty="0"/>
          </a:p>
        </p:txBody>
      </p:sp>
      <p:sp>
        <p:nvSpPr>
          <p:cNvPr id="7" name="Shape 5"/>
          <p:cNvSpPr/>
          <p:nvPr/>
        </p:nvSpPr>
        <p:spPr>
          <a:xfrm>
            <a:off x="4297680" y="1325880"/>
            <a:ext cx="3520440" cy="4572000"/>
          </a:xfrm>
          <a:prstGeom prst="roundRect">
            <a:avLst>
              <a:gd name="adj" fmla="val 2078"/>
            </a:avLst>
          </a:prstGeom>
          <a:solidFill>
            <a:schemeClr val="bg2"/>
          </a:solidFill>
          <a:ln/>
        </p:spPr>
      </p:sp>
      <p:sp>
        <p:nvSpPr>
          <p:cNvPr id="8" name="Shape 6"/>
          <p:cNvSpPr/>
          <p:nvPr/>
        </p:nvSpPr>
        <p:spPr>
          <a:xfrm>
            <a:off x="4526280" y="1600200"/>
            <a:ext cx="274320" cy="274320"/>
          </a:xfrm>
          <a:prstGeom prst="ellipse">
            <a:avLst/>
          </a:prstGeom>
          <a:solidFill>
            <a:schemeClr val="accent3"/>
          </a:solidFill>
          <a:ln/>
        </p:spPr>
      </p:sp>
      <p:sp>
        <p:nvSpPr>
          <p:cNvPr id="9" name="Text 7"/>
          <p:cNvSpPr txBox="1"/>
          <p:nvPr/>
        </p:nvSpPr>
        <p:spPr>
          <a:xfrm>
            <a:off x="4937760" y="1508760"/>
            <a:ext cx="2697480" cy="457200"/>
          </a:xfrm>
          <a:prstGeom prst="rect">
            <a:avLst/>
          </a:prstGeom>
          <a:noFill/>
          <a:ln/>
        </p:spPr>
        <p:txBody>
          <a:bodyPr wrap="square" lIns="0" tIns="0" rIns="0" bIns="0" rtlCol="0" anchor="ctr"/>
          <a:lstStyle/>
          <a:p>
            <a:pPr indent="0" marL="0">
              <a:buNone/>
            </a:pPr>
            <a:r>
              <a:rPr lang="en-US" sz="1700" b="1" dirty="0">
                <a:solidFill>
                  <a:schemeClr val="tx1"/>
                </a:solidFill>
              </a:rPr>
              <a:t>Where it does not</a:t>
            </a:r>
            <a:endParaRPr lang="en-US" sz="1700" dirty="0"/>
          </a:p>
        </p:txBody>
      </p:sp>
      <p:sp>
        <p:nvSpPr>
          <p:cNvPr id="10" name="Text 8"/>
          <p:cNvSpPr txBox="1"/>
          <p:nvPr/>
        </p:nvSpPr>
        <p:spPr>
          <a:xfrm>
            <a:off x="4526280" y="2148840"/>
            <a:ext cx="3063240" cy="3657600"/>
          </a:xfrm>
          <a:prstGeom prst="rect">
            <a:avLst/>
          </a:prstGeom>
          <a:noFill/>
          <a:ln/>
        </p:spPr>
        <p:txBody>
          <a:bodyPr wrap="square" lIns="0" tIns="0" rIns="0" bIns="0" rtlCol="0" anchor="t"/>
          <a:lstStyle/>
          <a:p>
            <a:pPr indent="0" marL="0">
              <a:buNone/>
            </a:pPr>
            <a:r>
              <a:rPr lang="en-US" sz="1300" b="1" dirty="0">
                <a:solidFill>
                  <a:schemeClr val="tx1"/>
                </a:solidFill>
              </a:rPr>
              <a:t>Lateral / heading error</a:t>
            </a:r>
            <a:endParaRPr lang="en-US" sz="1300" dirty="0"/>
          </a:p>
          <a:p>
            <a:pPr indent="0" marL="0">
              <a:spcAft>
                <a:spcPts val="1000"/>
              </a:spcAft>
              <a:buNone/>
            </a:pPr>
            <a:r>
              <a:rPr lang="en-US" sz="1300" dirty="0">
                <a:solidFill>
                  <a:schemeClr val="tx2"/>
                </a:solidFill>
              </a:rPr>
              <a:t>Both joints pitch in the same plane, so a ±3 cm side offset barely changes the torque, and by contact it is too late to correct.</a:t>
            </a:r>
            <a:endParaRPr lang="en-US" sz="1300" dirty="0"/>
          </a:p>
          <a:p>
            <a:pPr indent="0" marL="0">
              <a:buNone/>
            </a:pPr>
            <a:r>
              <a:rPr lang="en-US" sz="1300" b="1" dirty="0">
                <a:solidFill>
                  <a:schemeClr val="tx1"/>
                </a:solidFill>
              </a:rPr>
              <a:t>Base speed error</a:t>
            </a:r>
            <a:endParaRPr lang="en-US" sz="1300" dirty="0"/>
          </a:p>
          <a:p>
            <a:pPr indent="0" marL="0">
              <a:spcAft>
                <a:spcPts val="1000"/>
              </a:spcAft>
              <a:buNone/>
            </a:pPr>
            <a:r>
              <a:rPr lang="en-US" sz="1300" dirty="0">
                <a:solidFill>
                  <a:schemeClr val="tx2"/>
                </a:solidFill>
              </a:rPr>
              <a:t>±10% is already absorbed by the open-loop trajectory (300/300).</a:t>
            </a:r>
            <a:endParaRPr lang="en-US" sz="1300" dirty="0"/>
          </a:p>
          <a:p>
            <a:pPr indent="0" marL="0">
              <a:buNone/>
            </a:pPr>
            <a:r>
              <a:rPr lang="en-US" sz="1300" b="1" dirty="0">
                <a:solidFill>
                  <a:schemeClr val="tx1"/>
                </a:solidFill>
              </a:rPr>
              <a:t>Needs instead</a:t>
            </a:r>
            <a:endParaRPr lang="en-US" sz="1300" dirty="0"/>
          </a:p>
          <a:p>
            <a:pPr indent="0" marL="0">
              <a:spcAft>
                <a:spcPts val="1000"/>
              </a:spcAft>
              <a:buNone/>
            </a:pPr>
            <a:r>
              <a:rPr lang="en-US" sz="1300" dirty="0">
                <a:solidFill>
                  <a:schemeClr val="tx2"/>
                </a:solidFill>
              </a:rPr>
              <a:t>Vision (camera or tag) before contact, plus lateral correction (the real base is mecanum).</a:t>
            </a:r>
            <a:endParaRPr lang="en-US" sz="1300" dirty="0"/>
          </a:p>
        </p:txBody>
      </p:sp>
      <p:sp>
        <p:nvSpPr>
          <p:cNvPr id="11" name="Shape 9"/>
          <p:cNvSpPr/>
          <p:nvPr/>
        </p:nvSpPr>
        <p:spPr>
          <a:xfrm>
            <a:off x="8046720" y="1325880"/>
            <a:ext cx="3593592" cy="4572000"/>
          </a:xfrm>
          <a:prstGeom prst="roundRect">
            <a:avLst>
              <a:gd name="adj" fmla="val 2036"/>
            </a:avLst>
          </a:prstGeom>
          <a:solidFill>
            <a:schemeClr val="tx1"/>
          </a:solidFill>
          <a:ln/>
        </p:spPr>
      </p:sp>
      <p:sp>
        <p:nvSpPr>
          <p:cNvPr id="12" name="Text 10"/>
          <p:cNvSpPr txBox="1"/>
          <p:nvPr/>
        </p:nvSpPr>
        <p:spPr>
          <a:xfrm>
            <a:off x="8275320" y="1554480"/>
            <a:ext cx="3154680" cy="4206240"/>
          </a:xfrm>
          <a:prstGeom prst="rect">
            <a:avLst/>
          </a:prstGeom>
          <a:noFill/>
          <a:ln/>
        </p:spPr>
        <p:txBody>
          <a:bodyPr wrap="square" lIns="0" tIns="0" rIns="0" bIns="0" rtlCol="0" anchor="t"/>
          <a:lstStyle/>
          <a:p>
            <a:pPr indent="0" marL="0">
              <a:spcAft>
                <a:spcPts val="600"/>
              </a:spcAft>
              <a:buNone/>
            </a:pPr>
            <a:r>
              <a:rPr lang="en-US" sz="1800" b="1" dirty="0">
                <a:solidFill>
                  <a:schemeClr val="accent1"/>
                </a:solidFill>
              </a:rPr>
              <a:t>Recommendation</a:t>
            </a:r>
            <a:endParaRPr lang="en-US" sz="1300" dirty="0"/>
          </a:p>
          <a:p>
            <a:pPr indent="0" marL="0">
              <a:spcAft>
                <a:spcPts val="800"/>
              </a:spcAft>
              <a:buNone/>
            </a:pPr>
            <a:r>
              <a:rPr lang="en-US" sz="1300" dirty="0">
                <a:solidFill>
                  <a:schemeClr val="bg1"/>
                </a:solidFill>
              </a:rPr>
              <a:t>Yes, worth doing, in this order:</a:t>
            </a:r>
            <a:endParaRPr lang="en-US" sz="1300" dirty="0"/>
          </a:p>
          <a:p>
            <a:pPr marL="342900" indent="-342900">
              <a:spcAft>
                <a:spcPts val="600"/>
              </a:spcAft>
              <a:buSzPct val="100000"/>
              <a:buFont typeface="+mj-lt"/>
              <a:buAutoNum type="arabicPeriod" startAt="1"/>
            </a:pPr>
            <a:r>
              <a:rPr lang="en-US" sz="1300" dirty="0">
                <a:solidFill>
                  <a:schemeClr val="bg1"/>
                </a:solidFill>
              </a:rPr>
              <a:t>Measure the real impact torque (next week)</a:t>
            </a:r>
            <a:endParaRPr lang="en-US" sz="1300" dirty="0"/>
          </a:p>
          <a:p>
            <a:pPr marL="342900" indent="-342900">
              <a:spcAft>
                <a:spcPts val="600"/>
              </a:spcAft>
              <a:buSzPct val="100000"/>
              <a:buFont typeface="+mj-lt"/>
              <a:buAutoNum type="arabicPeriod" startAt="1"/>
            </a:pPr>
            <a:r>
              <a:rPr lang="en-US" sz="1300" dirty="0">
                <a:solidFill>
                  <a:schemeClr val="bg1"/>
                </a:solidFill>
              </a:rPr>
              <a:t>Rule-based contact trigger in sim: torque residual &gt; threshold → start lift</a:t>
            </a:r>
            <a:endParaRPr lang="en-US" sz="1300" dirty="0"/>
          </a:p>
          <a:p>
            <a:pPr marL="342900" indent="-342900">
              <a:spcAft>
                <a:spcPts val="600"/>
              </a:spcAft>
              <a:buSzPct val="100000"/>
              <a:buFont typeface="+mj-lt"/>
              <a:buAutoNum type="arabicPeriod" startAt="1"/>
            </a:pPr>
            <a:r>
              <a:rPr lang="en-US" sz="1300" dirty="0">
                <a:solidFill>
                  <a:schemeClr val="bg1"/>
                </a:solidFill>
              </a:rPr>
              <a:t>Only if that is not enough: residual RL with a short torque history, with sensor noise and delay randomized to the measured values</a:t>
            </a:r>
            <a:endParaRPr lang="en-US" sz="1300" dirty="0"/>
          </a:p>
          <a:p>
            <a:pPr marL="342900" indent="-342900">
              <a:spcAft>
                <a:spcPts val="600"/>
              </a:spcAft>
              <a:buSzPct val="100000"/>
              <a:buFont typeface="+mj-lt"/>
              <a:buAutoNum type="arabicPeriod" startAt="1"/>
            </a:pPr>
            <a:r>
              <a:rPr lang="en-US" sz="1300" dirty="0">
                <a:solidFill>
                  <a:schemeClr val="bg1"/>
                </a:solidFill>
              </a:rPr>
              <a:t>Treat lateral aim as a separate, vision-based problem</a:t>
            </a:r>
            <a:endParaRPr lang="en-US" sz="1300" dirty="0"/>
          </a:p>
        </p:txBody>
      </p:sp>
      <p:sp>
        <p:nvSpPr>
          <p:cNvPr id="25" name="Slide Number Placeholder 0"/>
          <p:cNvSpPr>
            <a:spLocks noGrp="1"/>
          </p:cNvSpPr>
          <p:nvPr>
            <p:ph type="sldNum" sz="quarter" idx="4294967295"/>
          </p:nvPr>
        </p:nvSpPr>
        <p:spPr>
          <a:xfrm>
            <a:off x="1136873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31520"/>
          </a:xfrm>
          <a:prstGeom prst="rect">
            <a:avLst/>
          </a:prstGeom>
          <a:noFill/>
          <a:ln/>
        </p:spPr>
        <p:txBody>
          <a:bodyPr wrap="square" lIns="0" tIns="0" rIns="0" bIns="0" rtlCol="0" anchor="ctr"/>
          <a:lstStyle/>
          <a:p>
            <a:pPr algn="l" indent="0" marL="0">
              <a:buNone/>
            </a:pPr>
            <a:r>
              <a:rPr lang="en-US" sz="3000" b="1" dirty="0">
                <a:solidFill>
                  <a:schemeClr val="tx1"/>
                </a:solidFill>
              </a:rPr>
              <a:t>Next week: can we see the impact peak on the real motors?</a:t>
            </a:r>
            <a:endParaRPr lang="en-US" sz="3000" dirty="0"/>
          </a:p>
        </p:txBody>
      </p:sp>
      <p:sp>
        <p:nvSpPr>
          <p:cNvPr id="3" name="Shape 1"/>
          <p:cNvSpPr/>
          <p:nvPr/>
        </p:nvSpPr>
        <p:spPr>
          <a:xfrm>
            <a:off x="548640" y="1371600"/>
            <a:ext cx="420624" cy="420624"/>
          </a:xfrm>
          <a:prstGeom prst="ellipse">
            <a:avLst/>
          </a:prstGeom>
          <a:solidFill>
            <a:schemeClr val="accent1"/>
          </a:solidFill>
          <a:ln/>
        </p:spPr>
      </p:sp>
      <p:sp>
        <p:nvSpPr>
          <p:cNvPr id="4" name="Text 2"/>
          <p:cNvSpPr txBox="1"/>
          <p:nvPr/>
        </p:nvSpPr>
        <p:spPr>
          <a:xfrm>
            <a:off x="548640" y="1371600"/>
            <a:ext cx="420624" cy="420624"/>
          </a:xfrm>
          <a:prstGeom prst="rect">
            <a:avLst/>
          </a:prstGeom>
          <a:noFill/>
          <a:ln/>
        </p:spPr>
        <p:txBody>
          <a:bodyPr wrap="square" lIns="0" tIns="0" rIns="0" bIns="0" rtlCol="0" anchor="ctr"/>
          <a:lstStyle/>
          <a:p>
            <a:pPr algn="ctr" indent="0" marL="0">
              <a:buNone/>
            </a:pPr>
            <a:r>
              <a:rPr lang="en-US" sz="1600" b="1" dirty="0">
                <a:solidFill>
                  <a:schemeClr val="tx1"/>
                </a:solidFill>
              </a:rPr>
              <a:t>1</a:t>
            </a:r>
            <a:endParaRPr lang="en-US" sz="1600" dirty="0"/>
          </a:p>
        </p:txBody>
      </p:sp>
      <p:sp>
        <p:nvSpPr>
          <p:cNvPr id="5" name="Text 3"/>
          <p:cNvSpPr txBox="1"/>
          <p:nvPr/>
        </p:nvSpPr>
        <p:spPr>
          <a:xfrm>
            <a:off x="1188720" y="1325880"/>
            <a:ext cx="6035040" cy="365760"/>
          </a:xfrm>
          <a:prstGeom prst="rect">
            <a:avLst/>
          </a:prstGeom>
          <a:noFill/>
          <a:ln/>
        </p:spPr>
        <p:txBody>
          <a:bodyPr wrap="square" lIns="0" tIns="0" rIns="0" bIns="0" rtlCol="0" anchor="ctr"/>
          <a:lstStyle/>
          <a:p>
            <a:pPr indent="0" marL="0">
              <a:buNone/>
            </a:pPr>
            <a:r>
              <a:rPr lang="en-US" sz="1600" b="1" dirty="0">
                <a:solidFill>
                  <a:schemeClr val="tx1"/>
                </a:solidFill>
              </a:rPr>
              <a:t>Log at high rate</a:t>
            </a:r>
            <a:endParaRPr lang="en-US" sz="1600" dirty="0"/>
          </a:p>
        </p:txBody>
      </p:sp>
      <p:sp>
        <p:nvSpPr>
          <p:cNvPr id="6" name="Text 4"/>
          <p:cNvSpPr txBox="1"/>
          <p:nvPr/>
        </p:nvSpPr>
        <p:spPr>
          <a:xfrm>
            <a:off x="1188720" y="1709928"/>
            <a:ext cx="6035040" cy="685800"/>
          </a:xfrm>
          <a:prstGeom prst="rect">
            <a:avLst/>
          </a:prstGeom>
          <a:noFill/>
          <a:ln/>
        </p:spPr>
        <p:txBody>
          <a:bodyPr wrap="square" lIns="0" tIns="0" rIns="0" bIns="0" rtlCol="0" anchor="t"/>
          <a:lstStyle/>
          <a:p>
            <a:pPr indent="0" marL="0">
              <a:buNone/>
            </a:pPr>
            <a:r>
              <a:rPr lang="en-US" sz="1300" dirty="0">
                <a:solidFill>
                  <a:schemeClr val="tx2"/>
                </a:solidFill>
              </a:rPr>
              <a:t>Record MIT feedback (position, velocity, torque / current) at ≥ 500 Hz, with the same Kp / Kd and gravity feed-forward as in sim.</a:t>
            </a:r>
            <a:endParaRPr lang="en-US" sz="1300" dirty="0"/>
          </a:p>
        </p:txBody>
      </p:sp>
      <p:sp>
        <p:nvSpPr>
          <p:cNvPr id="7" name="Shape 5"/>
          <p:cNvSpPr/>
          <p:nvPr/>
        </p:nvSpPr>
        <p:spPr>
          <a:xfrm>
            <a:off x="548640" y="2487168"/>
            <a:ext cx="420624" cy="420624"/>
          </a:xfrm>
          <a:prstGeom prst="ellipse">
            <a:avLst/>
          </a:prstGeom>
          <a:solidFill>
            <a:schemeClr val="accent1"/>
          </a:solidFill>
          <a:ln/>
        </p:spPr>
      </p:sp>
      <p:sp>
        <p:nvSpPr>
          <p:cNvPr id="8" name="Text 6"/>
          <p:cNvSpPr txBox="1"/>
          <p:nvPr/>
        </p:nvSpPr>
        <p:spPr>
          <a:xfrm>
            <a:off x="548640" y="2487168"/>
            <a:ext cx="420624" cy="420624"/>
          </a:xfrm>
          <a:prstGeom prst="rect">
            <a:avLst/>
          </a:prstGeom>
          <a:noFill/>
          <a:ln/>
        </p:spPr>
        <p:txBody>
          <a:bodyPr wrap="square" lIns="0" tIns="0" rIns="0" bIns="0" rtlCol="0" anchor="ctr"/>
          <a:lstStyle/>
          <a:p>
            <a:pPr algn="ctr" indent="0" marL="0">
              <a:buNone/>
            </a:pPr>
            <a:r>
              <a:rPr lang="en-US" sz="1600" b="1" dirty="0">
                <a:solidFill>
                  <a:schemeClr val="tx1"/>
                </a:solidFill>
              </a:rPr>
              <a:t>2</a:t>
            </a:r>
            <a:endParaRPr lang="en-US" sz="1600" dirty="0"/>
          </a:p>
        </p:txBody>
      </p:sp>
      <p:sp>
        <p:nvSpPr>
          <p:cNvPr id="9" name="Text 7"/>
          <p:cNvSpPr txBox="1"/>
          <p:nvPr/>
        </p:nvSpPr>
        <p:spPr>
          <a:xfrm>
            <a:off x="1188720" y="2441448"/>
            <a:ext cx="6035040" cy="365760"/>
          </a:xfrm>
          <a:prstGeom prst="rect">
            <a:avLst/>
          </a:prstGeom>
          <a:noFill/>
          <a:ln/>
        </p:spPr>
        <p:txBody>
          <a:bodyPr wrap="square" lIns="0" tIns="0" rIns="0" bIns="0" rtlCol="0" anchor="ctr"/>
          <a:lstStyle/>
          <a:p>
            <a:pPr indent="0" marL="0">
              <a:buNone/>
            </a:pPr>
            <a:r>
              <a:rPr lang="en-US" sz="1600" b="1" dirty="0">
                <a:solidFill>
                  <a:schemeClr val="tx1"/>
                </a:solidFill>
              </a:rPr>
              <a:t>Baselines, no ball</a:t>
            </a:r>
            <a:endParaRPr lang="en-US" sz="1600" dirty="0"/>
          </a:p>
        </p:txBody>
      </p:sp>
      <p:sp>
        <p:nvSpPr>
          <p:cNvPr id="10" name="Text 8"/>
          <p:cNvSpPr txBox="1"/>
          <p:nvPr/>
        </p:nvSpPr>
        <p:spPr>
          <a:xfrm>
            <a:off x="1188720" y="2825496"/>
            <a:ext cx="6035040" cy="685800"/>
          </a:xfrm>
          <a:prstGeom prst="rect">
            <a:avLst/>
          </a:prstGeom>
          <a:noFill/>
          <a:ln/>
        </p:spPr>
        <p:txBody>
          <a:bodyPr wrap="square" lIns="0" tIns="0" rIns="0" bIns="0" rtlCol="0" anchor="t"/>
          <a:lstStyle/>
          <a:p>
            <a:pPr indent="0" marL="0">
              <a:buNone/>
            </a:pPr>
            <a:r>
              <a:rPr lang="en-US" sz="1300" dirty="0">
                <a:solidFill>
                  <a:schemeClr val="tx2"/>
                </a:solidFill>
              </a:rPr>
              <a:t>Static hold, then driving at 0.9 m/s with the lip pressed down: floor scraping and chassis vibration set the noise floor.</a:t>
            </a:r>
            <a:endParaRPr lang="en-US" sz="1300" dirty="0"/>
          </a:p>
        </p:txBody>
      </p:sp>
      <p:sp>
        <p:nvSpPr>
          <p:cNvPr id="11" name="Shape 9"/>
          <p:cNvSpPr/>
          <p:nvPr/>
        </p:nvSpPr>
        <p:spPr>
          <a:xfrm>
            <a:off x="548640" y="3602736"/>
            <a:ext cx="420624" cy="420624"/>
          </a:xfrm>
          <a:prstGeom prst="ellipse">
            <a:avLst/>
          </a:prstGeom>
          <a:solidFill>
            <a:schemeClr val="accent1"/>
          </a:solidFill>
          <a:ln/>
        </p:spPr>
      </p:sp>
      <p:sp>
        <p:nvSpPr>
          <p:cNvPr id="12" name="Text 10"/>
          <p:cNvSpPr txBox="1"/>
          <p:nvPr/>
        </p:nvSpPr>
        <p:spPr>
          <a:xfrm>
            <a:off x="548640" y="3602736"/>
            <a:ext cx="420624" cy="420624"/>
          </a:xfrm>
          <a:prstGeom prst="rect">
            <a:avLst/>
          </a:prstGeom>
          <a:noFill/>
          <a:ln/>
        </p:spPr>
        <p:txBody>
          <a:bodyPr wrap="square" lIns="0" tIns="0" rIns="0" bIns="0" rtlCol="0" anchor="ctr"/>
          <a:lstStyle/>
          <a:p>
            <a:pPr algn="ctr" indent="0" marL="0">
              <a:buNone/>
            </a:pPr>
            <a:r>
              <a:rPr lang="en-US" sz="1600" b="1" dirty="0">
                <a:solidFill>
                  <a:schemeClr val="tx1"/>
                </a:solidFill>
              </a:rPr>
              <a:t>3</a:t>
            </a:r>
            <a:endParaRPr lang="en-US" sz="1600" dirty="0"/>
          </a:p>
        </p:txBody>
      </p:sp>
      <p:sp>
        <p:nvSpPr>
          <p:cNvPr id="13" name="Text 11"/>
          <p:cNvSpPr txBox="1"/>
          <p:nvPr/>
        </p:nvSpPr>
        <p:spPr>
          <a:xfrm>
            <a:off x="1188720" y="3557016"/>
            <a:ext cx="6035040" cy="365760"/>
          </a:xfrm>
          <a:prstGeom prst="rect">
            <a:avLst/>
          </a:prstGeom>
          <a:noFill/>
          <a:ln/>
        </p:spPr>
        <p:txBody>
          <a:bodyPr wrap="square" lIns="0" tIns="0" rIns="0" bIns="0" rtlCol="0" anchor="ctr"/>
          <a:lstStyle/>
          <a:p>
            <a:pPr indent="0" marL="0">
              <a:buNone/>
            </a:pPr>
            <a:r>
              <a:rPr lang="en-US" sz="1600" b="1" dirty="0">
                <a:solidFill>
                  <a:schemeClr val="tx1"/>
                </a:solidFill>
              </a:rPr>
              <a:t>With the ball</a:t>
            </a:r>
            <a:endParaRPr lang="en-US" sz="1600" dirty="0"/>
          </a:p>
        </p:txBody>
      </p:sp>
      <p:sp>
        <p:nvSpPr>
          <p:cNvPr id="14" name="Text 12"/>
          <p:cNvSpPr txBox="1"/>
          <p:nvPr/>
        </p:nvSpPr>
        <p:spPr>
          <a:xfrm>
            <a:off x="1188720" y="3941064"/>
            <a:ext cx="6035040" cy="685800"/>
          </a:xfrm>
          <a:prstGeom prst="rect">
            <a:avLst/>
          </a:prstGeom>
          <a:noFill/>
          <a:ln/>
        </p:spPr>
        <p:txBody>
          <a:bodyPr wrap="square" lIns="0" tIns="0" rIns="0" bIns="0" rtlCol="0" anchor="t"/>
          <a:lstStyle/>
          <a:p>
            <a:pPr indent="0" marL="0">
              <a:buNone/>
            </a:pPr>
            <a:r>
              <a:rPr lang="en-US" sz="1300" dirty="0">
                <a:solidFill>
                  <a:schemeClr val="tx2"/>
                </a:solidFill>
              </a:rPr>
              <a:t>≈10 runs each at 0.5 and 0.9 m/s; film at high fps and sync the video with the log to timestamp the hit.</a:t>
            </a:r>
            <a:endParaRPr lang="en-US" sz="1300" dirty="0"/>
          </a:p>
        </p:txBody>
      </p:sp>
      <p:sp>
        <p:nvSpPr>
          <p:cNvPr id="15" name="Shape 13"/>
          <p:cNvSpPr/>
          <p:nvPr/>
        </p:nvSpPr>
        <p:spPr>
          <a:xfrm>
            <a:off x="548640" y="4718304"/>
            <a:ext cx="420624" cy="420624"/>
          </a:xfrm>
          <a:prstGeom prst="ellipse">
            <a:avLst/>
          </a:prstGeom>
          <a:solidFill>
            <a:schemeClr val="accent1"/>
          </a:solidFill>
          <a:ln/>
        </p:spPr>
      </p:sp>
      <p:sp>
        <p:nvSpPr>
          <p:cNvPr id="16" name="Text 14"/>
          <p:cNvSpPr txBox="1"/>
          <p:nvPr/>
        </p:nvSpPr>
        <p:spPr>
          <a:xfrm>
            <a:off x="548640" y="4718304"/>
            <a:ext cx="420624" cy="420624"/>
          </a:xfrm>
          <a:prstGeom prst="rect">
            <a:avLst/>
          </a:prstGeom>
          <a:noFill/>
          <a:ln/>
        </p:spPr>
        <p:txBody>
          <a:bodyPr wrap="square" lIns="0" tIns="0" rIns="0" bIns="0" rtlCol="0" anchor="ctr"/>
          <a:lstStyle/>
          <a:p>
            <a:pPr algn="ctr" indent="0" marL="0">
              <a:buNone/>
            </a:pPr>
            <a:r>
              <a:rPr lang="en-US" sz="1600" b="1" dirty="0">
                <a:solidFill>
                  <a:schemeClr val="tx1"/>
                </a:solidFill>
              </a:rPr>
              <a:t>4</a:t>
            </a:r>
            <a:endParaRPr lang="en-US" sz="1600" dirty="0"/>
          </a:p>
        </p:txBody>
      </p:sp>
      <p:sp>
        <p:nvSpPr>
          <p:cNvPr id="17" name="Text 15"/>
          <p:cNvSpPr txBox="1"/>
          <p:nvPr/>
        </p:nvSpPr>
        <p:spPr>
          <a:xfrm>
            <a:off x="1188720" y="4672584"/>
            <a:ext cx="6035040" cy="365760"/>
          </a:xfrm>
          <a:prstGeom prst="rect">
            <a:avLst/>
          </a:prstGeom>
          <a:noFill/>
          <a:ln/>
        </p:spPr>
        <p:txBody>
          <a:bodyPr wrap="square" lIns="0" tIns="0" rIns="0" bIns="0" rtlCol="0" anchor="ctr"/>
          <a:lstStyle/>
          <a:p>
            <a:pPr indent="0" marL="0">
              <a:buNone/>
            </a:pPr>
            <a:r>
              <a:rPr lang="en-US" sz="1600" b="1" dirty="0">
                <a:solidFill>
                  <a:schemeClr val="tx1"/>
                </a:solidFill>
              </a:rPr>
              <a:t>Calibrate</a:t>
            </a:r>
            <a:endParaRPr lang="en-US" sz="1600" dirty="0"/>
          </a:p>
        </p:txBody>
      </p:sp>
      <p:sp>
        <p:nvSpPr>
          <p:cNvPr id="18" name="Text 16"/>
          <p:cNvSpPr txBox="1"/>
          <p:nvPr/>
        </p:nvSpPr>
        <p:spPr>
          <a:xfrm>
            <a:off x="1188720" y="5056632"/>
            <a:ext cx="6035040" cy="685800"/>
          </a:xfrm>
          <a:prstGeom prst="rect">
            <a:avLst/>
          </a:prstGeom>
          <a:noFill/>
          <a:ln/>
        </p:spPr>
        <p:txBody>
          <a:bodyPr wrap="square" lIns="0" tIns="0" rIns="0" bIns="0" rtlCol="0" anchor="t"/>
          <a:lstStyle/>
          <a:p>
            <a:pPr indent="0" marL="0">
              <a:buNone/>
            </a:pPr>
            <a:r>
              <a:rPr lang="en-US" sz="1300" dirty="0">
                <a:solidFill>
                  <a:schemeClr val="tx2"/>
                </a:solidFill>
              </a:rPr>
              <a:t>Hang a known weight (the 141 g ball) in the pocket at rest to check torque-constant scale and the static ball load.</a:t>
            </a:r>
            <a:endParaRPr lang="en-US" sz="1300" dirty="0"/>
          </a:p>
        </p:txBody>
      </p:sp>
      <p:sp>
        <p:nvSpPr>
          <p:cNvPr id="19" name="Shape 17"/>
          <p:cNvSpPr/>
          <p:nvPr/>
        </p:nvSpPr>
        <p:spPr>
          <a:xfrm>
            <a:off x="7498080" y="1325880"/>
            <a:ext cx="4114800" cy="4480560"/>
          </a:xfrm>
          <a:prstGeom prst="roundRect">
            <a:avLst>
              <a:gd name="adj" fmla="val 1778"/>
            </a:avLst>
          </a:prstGeom>
          <a:solidFill>
            <a:schemeClr val="bg2"/>
          </a:solidFill>
          <a:ln/>
        </p:spPr>
      </p:sp>
      <p:sp>
        <p:nvSpPr>
          <p:cNvPr id="20" name="Text 18"/>
          <p:cNvSpPr txBox="1"/>
          <p:nvPr/>
        </p:nvSpPr>
        <p:spPr>
          <a:xfrm>
            <a:off x="7726680" y="1554480"/>
            <a:ext cx="3657600" cy="4114800"/>
          </a:xfrm>
          <a:prstGeom prst="rect">
            <a:avLst/>
          </a:prstGeom>
          <a:noFill/>
          <a:ln/>
        </p:spPr>
        <p:txBody>
          <a:bodyPr wrap="square" lIns="0" tIns="0" rIns="0" bIns="0" rtlCol="0" anchor="t"/>
          <a:lstStyle/>
          <a:p>
            <a:pPr indent="0" marL="0">
              <a:spcAft>
                <a:spcPts val="500"/>
              </a:spcAft>
              <a:buNone/>
            </a:pPr>
            <a:r>
              <a:rPr lang="en-US" sz="1700" b="1" dirty="0">
                <a:solidFill>
                  <a:schemeClr val="tx1"/>
                </a:solidFill>
              </a:rPr>
              <a:t>What we will compare</a:t>
            </a:r>
            <a:endParaRPr lang="en-US" sz="1300" dirty="0"/>
          </a:p>
          <a:p>
            <a:pPr marL="342900" indent="-342900">
              <a:spcAft>
                <a:spcPts val="500"/>
              </a:spcAft>
              <a:buSzPct val="100000"/>
              <a:buChar char="•"/>
            </a:pPr>
            <a:r>
              <a:rPr lang="en-US" sz="1300" dirty="0">
                <a:solidFill>
                  <a:schemeClr val="tx2"/>
                </a:solidFill>
              </a:rPr>
              <a:t>Peak size vs. sim (0.6–0.75 N·m)</a:t>
            </a:r>
            <a:endParaRPr lang="en-US" sz="1300" dirty="0"/>
          </a:p>
          <a:p>
            <a:pPr marL="342900" indent="-342900">
              <a:spcAft>
                <a:spcPts val="500"/>
              </a:spcAft>
              <a:buSzPct val="100000"/>
              <a:buChar char="•"/>
            </a:pPr>
            <a:r>
              <a:rPr lang="en-US" sz="1300" dirty="0">
                <a:solidFill>
                  <a:schemeClr val="tx2"/>
                </a:solidFill>
              </a:rPr>
              <a:t>Peak / baseline noise; suggested target ≥ 5</a:t>
            </a:r>
            <a:endParaRPr lang="en-US" sz="1300" dirty="0"/>
          </a:p>
          <a:p>
            <a:pPr marL="342900" indent="-342900">
              <a:spcAft>
                <a:spcPts val="500"/>
              </a:spcAft>
              <a:buSzPct val="100000"/>
              <a:buChar char="•"/>
            </a:pPr>
            <a:r>
              <a:rPr lang="en-US" sz="1300" dirty="0">
                <a:solidFill>
                  <a:schemeClr val="tx2"/>
                </a:solidFill>
              </a:rPr>
              <a:t>Detection delay; must be well under the ~50 ms before the lift</a:t>
            </a:r>
            <a:endParaRPr lang="en-US" sz="1300" dirty="0"/>
          </a:p>
          <a:p>
            <a:pPr indent="0" marL="0">
              <a:spcAft>
                <a:spcPts val="500"/>
              </a:spcAft>
              <a:buNone/>
            </a:pPr>
            <a:r>
              <a:rPr lang="en-US" sz="800" dirty="0">
                <a:solidFill>
                  <a:schemeClr val="tx2"/>
                </a:solidFill>
              </a:rPr>
              <a:t> </a:t>
            </a:r>
            <a:endParaRPr lang="en-US" sz="1300" dirty="0"/>
          </a:p>
          <a:p>
            <a:pPr indent="0" marL="0">
              <a:spcAft>
                <a:spcPts val="500"/>
              </a:spcAft>
              <a:buNone/>
            </a:pPr>
            <a:r>
              <a:rPr lang="en-US" sz="1700" b="1" dirty="0">
                <a:solidFill>
                  <a:schemeClr val="tx1"/>
                </a:solidFill>
              </a:rPr>
              <a:t>What it feeds back into sim</a:t>
            </a:r>
            <a:endParaRPr lang="en-US" sz="1300" dirty="0"/>
          </a:p>
          <a:p>
            <a:pPr marL="342900" indent="-342900">
              <a:spcAft>
                <a:spcPts val="500"/>
              </a:spcAft>
              <a:buSzPct val="100000"/>
              <a:buChar char="•"/>
            </a:pPr>
            <a:r>
              <a:rPr lang="en-US" sz="1300" dirty="0">
                <a:solidFill>
                  <a:schemeClr val="tx2"/>
                </a:solidFill>
              </a:rPr>
              <a:t>Torque-sensor noise, bandwidth and delay model</a:t>
            </a:r>
            <a:endParaRPr lang="en-US" sz="1300" dirty="0"/>
          </a:p>
          <a:p>
            <a:pPr marL="342900" indent="-342900">
              <a:spcAft>
                <a:spcPts val="500"/>
              </a:spcAft>
              <a:buSzPct val="100000"/>
              <a:buChar char="•"/>
            </a:pPr>
            <a:r>
              <a:rPr lang="en-US" sz="1300" dirty="0">
                <a:solidFill>
                  <a:schemeClr val="tx2"/>
                </a:solidFill>
              </a:rPr>
              <a:t>Trigger threshold for the contact-triggered lift</a:t>
            </a:r>
            <a:endParaRPr lang="en-US" sz="1300" dirty="0"/>
          </a:p>
          <a:p>
            <a:pPr marL="342900" indent="-342900">
              <a:spcAft>
                <a:spcPts val="500"/>
              </a:spcAft>
              <a:buSzPct val="100000"/>
              <a:buChar char="•"/>
            </a:pPr>
            <a:r>
              <a:rPr lang="en-US" sz="1300" dirty="0">
                <a:solidFill>
                  <a:schemeClr val="tx2"/>
                </a:solidFill>
              </a:rPr>
              <a:t>Whether net compliance must be modeled</a:t>
            </a:r>
            <a:endParaRPr lang="en-US" sz="1300" dirty="0"/>
          </a:p>
        </p:txBody>
      </p:sp>
      <p:sp>
        <p:nvSpPr>
          <p:cNvPr id="25" name="Slide Number Placeholder 0"/>
          <p:cNvSpPr>
            <a:spLocks noGrp="1"/>
          </p:cNvSpPr>
          <p:nvPr>
            <p:ph type="sldNum" sz="quarter" idx="4294967295"/>
          </p:nvPr>
        </p:nvSpPr>
        <p:spPr>
          <a:xfrm>
            <a:off x="1136873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31520"/>
          </a:xfrm>
          <a:prstGeom prst="rect">
            <a:avLst/>
          </a:prstGeom>
          <a:noFill/>
          <a:ln/>
        </p:spPr>
        <p:txBody>
          <a:bodyPr wrap="square" lIns="0" tIns="0" rIns="0" bIns="0" rtlCol="0" anchor="ctr"/>
          <a:lstStyle/>
          <a:p>
            <a:pPr algn="l" indent="0" marL="0">
              <a:buNone/>
            </a:pPr>
            <a:r>
              <a:rPr lang="en-US" sz="3000" b="1" dirty="0">
                <a:solidFill>
                  <a:schemeClr val="bg1"/>
                </a:solidFill>
              </a:rPr>
              <a:t>Possible next directions</a:t>
            </a:r>
            <a:endParaRPr lang="en-US" sz="3000" dirty="0"/>
          </a:p>
        </p:txBody>
      </p:sp>
      <p:sp>
        <p:nvSpPr>
          <p:cNvPr id="3" name="Shape 1"/>
          <p:cNvSpPr/>
          <p:nvPr/>
        </p:nvSpPr>
        <p:spPr>
          <a:xfrm>
            <a:off x="548640" y="1417320"/>
            <a:ext cx="5394960" cy="2103120"/>
          </a:xfrm>
          <a:prstGeom prst="roundRect">
            <a:avLst>
              <a:gd name="adj" fmla="val 3478"/>
            </a:avLst>
          </a:prstGeom>
          <a:solidFill>
            <a:schemeClr val="tx2"/>
          </a:solidFill>
          <a:ln/>
        </p:spPr>
      </p:sp>
      <p:sp>
        <p:nvSpPr>
          <p:cNvPr id="4" name="Shape 2"/>
          <p:cNvSpPr/>
          <p:nvPr/>
        </p:nvSpPr>
        <p:spPr>
          <a:xfrm>
            <a:off x="822960" y="1691640"/>
            <a:ext cx="420624" cy="420624"/>
          </a:xfrm>
          <a:prstGeom prst="ellipse">
            <a:avLst/>
          </a:prstGeom>
          <a:solidFill>
            <a:schemeClr val="accent1"/>
          </a:solidFill>
          <a:ln/>
        </p:spPr>
      </p:sp>
      <p:sp>
        <p:nvSpPr>
          <p:cNvPr id="5" name="Text 3"/>
          <p:cNvSpPr txBox="1"/>
          <p:nvPr/>
        </p:nvSpPr>
        <p:spPr>
          <a:xfrm>
            <a:off x="822960" y="1691640"/>
            <a:ext cx="420624" cy="420624"/>
          </a:xfrm>
          <a:prstGeom prst="rect">
            <a:avLst/>
          </a:prstGeom>
          <a:noFill/>
          <a:ln/>
        </p:spPr>
        <p:txBody>
          <a:bodyPr wrap="square" lIns="0" tIns="0" rIns="0" bIns="0" rtlCol="0" anchor="ctr"/>
          <a:lstStyle/>
          <a:p>
            <a:pPr algn="ctr" indent="0" marL="0">
              <a:buNone/>
            </a:pPr>
            <a:r>
              <a:rPr lang="en-US" sz="1600" b="1" dirty="0">
                <a:solidFill>
                  <a:schemeClr val="tx1"/>
                </a:solidFill>
              </a:rPr>
              <a:t>1</a:t>
            </a:r>
            <a:endParaRPr lang="en-US" sz="1600" dirty="0"/>
          </a:p>
        </p:txBody>
      </p:sp>
      <p:sp>
        <p:nvSpPr>
          <p:cNvPr id="6" name="Text 4"/>
          <p:cNvSpPr txBox="1"/>
          <p:nvPr/>
        </p:nvSpPr>
        <p:spPr>
          <a:xfrm>
            <a:off x="1417320" y="1691640"/>
            <a:ext cx="4251960" cy="420624"/>
          </a:xfrm>
          <a:prstGeom prst="rect">
            <a:avLst/>
          </a:prstGeom>
          <a:noFill/>
          <a:ln/>
        </p:spPr>
        <p:txBody>
          <a:bodyPr wrap="square" lIns="0" tIns="0" rIns="0" bIns="0" rtlCol="0" anchor="ctr"/>
          <a:lstStyle/>
          <a:p>
            <a:pPr indent="0" marL="0">
              <a:buNone/>
            </a:pPr>
            <a:r>
              <a:rPr lang="en-US" sz="1800" b="1" dirty="0">
                <a:solidFill>
                  <a:schemeClr val="bg1"/>
                </a:solidFill>
              </a:rPr>
              <a:t>Torque-triggered scoop</a:t>
            </a:r>
            <a:endParaRPr lang="en-US" sz="1800" dirty="0"/>
          </a:p>
        </p:txBody>
      </p:sp>
      <p:sp>
        <p:nvSpPr>
          <p:cNvPr id="7" name="Text 5"/>
          <p:cNvSpPr txBox="1"/>
          <p:nvPr/>
        </p:nvSpPr>
        <p:spPr>
          <a:xfrm>
            <a:off x="1417320" y="2240280"/>
            <a:ext cx="4251960" cy="1188720"/>
          </a:xfrm>
          <a:prstGeom prst="rect">
            <a:avLst/>
          </a:prstGeom>
          <a:noFill/>
          <a:ln/>
        </p:spPr>
        <p:txBody>
          <a:bodyPr wrap="square" lIns="0" tIns="0" rIns="0" bIns="0" rtlCol="0" anchor="t"/>
          <a:lstStyle/>
          <a:p>
            <a:pPr indent="0" marL="0">
              <a:buNone/>
            </a:pPr>
            <a:r>
              <a:rPr lang="en-US" sz="1400" dirty="0">
                <a:solidFill>
                  <a:srgbClr val="DDE1E4"/>
                </a:solidFill>
              </a:rPr>
              <a:t>Measure real impact torque, then lift on contact instead of at a fixed time. Targets failure mode A and ball-distance error.</a:t>
            </a:r>
            <a:endParaRPr lang="en-US" sz="1400" dirty="0"/>
          </a:p>
        </p:txBody>
      </p:sp>
      <p:sp>
        <p:nvSpPr>
          <p:cNvPr id="8" name="Shape 6"/>
          <p:cNvSpPr/>
          <p:nvPr/>
        </p:nvSpPr>
        <p:spPr>
          <a:xfrm>
            <a:off x="6172200" y="1417320"/>
            <a:ext cx="5394960" cy="2103120"/>
          </a:xfrm>
          <a:prstGeom prst="roundRect">
            <a:avLst>
              <a:gd name="adj" fmla="val 3478"/>
            </a:avLst>
          </a:prstGeom>
          <a:solidFill>
            <a:schemeClr val="tx2"/>
          </a:solidFill>
          <a:ln/>
        </p:spPr>
      </p:sp>
      <p:sp>
        <p:nvSpPr>
          <p:cNvPr id="9" name="Shape 7"/>
          <p:cNvSpPr/>
          <p:nvPr/>
        </p:nvSpPr>
        <p:spPr>
          <a:xfrm>
            <a:off x="6446520" y="1691640"/>
            <a:ext cx="420624" cy="420624"/>
          </a:xfrm>
          <a:prstGeom prst="ellipse">
            <a:avLst/>
          </a:prstGeom>
          <a:solidFill>
            <a:schemeClr val="accent1"/>
          </a:solidFill>
          <a:ln/>
        </p:spPr>
      </p:sp>
      <p:sp>
        <p:nvSpPr>
          <p:cNvPr id="10" name="Text 8"/>
          <p:cNvSpPr txBox="1"/>
          <p:nvPr/>
        </p:nvSpPr>
        <p:spPr>
          <a:xfrm>
            <a:off x="6446520" y="1691640"/>
            <a:ext cx="420624" cy="420624"/>
          </a:xfrm>
          <a:prstGeom prst="rect">
            <a:avLst/>
          </a:prstGeom>
          <a:noFill/>
          <a:ln/>
        </p:spPr>
        <p:txBody>
          <a:bodyPr wrap="square" lIns="0" tIns="0" rIns="0" bIns="0" rtlCol="0" anchor="ctr"/>
          <a:lstStyle/>
          <a:p>
            <a:pPr algn="ctr" indent="0" marL="0">
              <a:buNone/>
            </a:pPr>
            <a:r>
              <a:rPr lang="en-US" sz="1600" b="1" dirty="0">
                <a:solidFill>
                  <a:schemeClr val="tx1"/>
                </a:solidFill>
              </a:rPr>
              <a:t>2</a:t>
            </a:r>
            <a:endParaRPr lang="en-US" sz="1600" dirty="0"/>
          </a:p>
        </p:txBody>
      </p:sp>
      <p:sp>
        <p:nvSpPr>
          <p:cNvPr id="11" name="Text 9"/>
          <p:cNvSpPr txBox="1"/>
          <p:nvPr/>
        </p:nvSpPr>
        <p:spPr>
          <a:xfrm>
            <a:off x="7040880" y="1691640"/>
            <a:ext cx="4251960" cy="420624"/>
          </a:xfrm>
          <a:prstGeom prst="rect">
            <a:avLst/>
          </a:prstGeom>
          <a:noFill/>
          <a:ln/>
        </p:spPr>
        <p:txBody>
          <a:bodyPr wrap="square" lIns="0" tIns="0" rIns="0" bIns="0" rtlCol="0" anchor="ctr"/>
          <a:lstStyle/>
          <a:p>
            <a:pPr indent="0" marL="0">
              <a:buNone/>
            </a:pPr>
            <a:r>
              <a:rPr lang="en-US" sz="1800" b="1" dirty="0">
                <a:solidFill>
                  <a:schemeClr val="bg1"/>
                </a:solidFill>
              </a:rPr>
              <a:t>Closed-loop alignment</a:t>
            </a:r>
            <a:endParaRPr lang="en-US" sz="1800" dirty="0"/>
          </a:p>
        </p:txBody>
      </p:sp>
      <p:sp>
        <p:nvSpPr>
          <p:cNvPr id="12" name="Text 10"/>
          <p:cNvSpPr txBox="1"/>
          <p:nvPr/>
        </p:nvSpPr>
        <p:spPr>
          <a:xfrm>
            <a:off x="7040880" y="2240280"/>
            <a:ext cx="4251960" cy="1188720"/>
          </a:xfrm>
          <a:prstGeom prst="rect">
            <a:avLst/>
          </a:prstGeom>
          <a:noFill/>
          <a:ln/>
        </p:spPr>
        <p:txBody>
          <a:bodyPr wrap="square" lIns="0" tIns="0" rIns="0" bIns="0" rtlCol="0" anchor="t"/>
          <a:lstStyle/>
          <a:p>
            <a:pPr indent="0" marL="0">
              <a:buNone/>
            </a:pPr>
            <a:r>
              <a:rPr lang="en-US" sz="1400" dirty="0">
                <a:solidFill>
                  <a:srgbClr val="DDE1E4"/>
                </a:solidFill>
              </a:rPr>
              <a:t>Ball perception + approach controller (mecanum lateral correction) to get within ±2 cm, ±1° before the scoop.</a:t>
            </a:r>
            <a:endParaRPr lang="en-US" sz="1400" dirty="0"/>
          </a:p>
        </p:txBody>
      </p:sp>
      <p:sp>
        <p:nvSpPr>
          <p:cNvPr id="13" name="Shape 11"/>
          <p:cNvSpPr/>
          <p:nvPr/>
        </p:nvSpPr>
        <p:spPr>
          <a:xfrm>
            <a:off x="548640" y="3749040"/>
            <a:ext cx="5394960" cy="2103120"/>
          </a:xfrm>
          <a:prstGeom prst="roundRect">
            <a:avLst>
              <a:gd name="adj" fmla="val 3478"/>
            </a:avLst>
          </a:prstGeom>
          <a:solidFill>
            <a:schemeClr val="tx2"/>
          </a:solidFill>
          <a:ln/>
        </p:spPr>
      </p:sp>
      <p:sp>
        <p:nvSpPr>
          <p:cNvPr id="14" name="Shape 12"/>
          <p:cNvSpPr/>
          <p:nvPr/>
        </p:nvSpPr>
        <p:spPr>
          <a:xfrm>
            <a:off x="822960" y="4023360"/>
            <a:ext cx="420624" cy="420624"/>
          </a:xfrm>
          <a:prstGeom prst="ellipse">
            <a:avLst/>
          </a:prstGeom>
          <a:solidFill>
            <a:schemeClr val="accent1"/>
          </a:solidFill>
          <a:ln/>
        </p:spPr>
      </p:sp>
      <p:sp>
        <p:nvSpPr>
          <p:cNvPr id="15" name="Text 13"/>
          <p:cNvSpPr txBox="1"/>
          <p:nvPr/>
        </p:nvSpPr>
        <p:spPr>
          <a:xfrm>
            <a:off x="822960" y="4023360"/>
            <a:ext cx="420624" cy="420624"/>
          </a:xfrm>
          <a:prstGeom prst="rect">
            <a:avLst/>
          </a:prstGeom>
          <a:noFill/>
          <a:ln/>
        </p:spPr>
        <p:txBody>
          <a:bodyPr wrap="square" lIns="0" tIns="0" rIns="0" bIns="0" rtlCol="0" anchor="ctr"/>
          <a:lstStyle/>
          <a:p>
            <a:pPr algn="ctr" indent="0" marL="0">
              <a:buNone/>
            </a:pPr>
            <a:r>
              <a:rPr lang="en-US" sz="1600" b="1" dirty="0">
                <a:solidFill>
                  <a:schemeClr val="tx1"/>
                </a:solidFill>
              </a:rPr>
              <a:t>3</a:t>
            </a:r>
            <a:endParaRPr lang="en-US" sz="1600" dirty="0"/>
          </a:p>
        </p:txBody>
      </p:sp>
      <p:sp>
        <p:nvSpPr>
          <p:cNvPr id="16" name="Text 14"/>
          <p:cNvSpPr txBox="1"/>
          <p:nvPr/>
        </p:nvSpPr>
        <p:spPr>
          <a:xfrm>
            <a:off x="1417320" y="4023360"/>
            <a:ext cx="4251960" cy="420624"/>
          </a:xfrm>
          <a:prstGeom prst="rect">
            <a:avLst/>
          </a:prstGeom>
          <a:noFill/>
          <a:ln/>
        </p:spPr>
        <p:txBody>
          <a:bodyPr wrap="square" lIns="0" tIns="0" rIns="0" bIns="0" rtlCol="0" anchor="ctr"/>
          <a:lstStyle/>
          <a:p>
            <a:pPr indent="0" marL="0">
              <a:buNone/>
            </a:pPr>
            <a:r>
              <a:rPr lang="en-US" sz="1800" b="1" dirty="0">
                <a:solidFill>
                  <a:schemeClr val="bg1"/>
                </a:solidFill>
              </a:rPr>
              <a:t>Residual RL with torque</a:t>
            </a:r>
            <a:endParaRPr lang="en-US" sz="1800" dirty="0"/>
          </a:p>
        </p:txBody>
      </p:sp>
      <p:sp>
        <p:nvSpPr>
          <p:cNvPr id="17" name="Text 15"/>
          <p:cNvSpPr txBox="1"/>
          <p:nvPr/>
        </p:nvSpPr>
        <p:spPr>
          <a:xfrm>
            <a:off x="1417320" y="4572000"/>
            <a:ext cx="4251960" cy="1188720"/>
          </a:xfrm>
          <a:prstGeom prst="rect">
            <a:avLst/>
          </a:prstGeom>
          <a:noFill/>
          <a:ln/>
        </p:spPr>
        <p:txBody>
          <a:bodyPr wrap="square" lIns="0" tIns="0" rIns="0" bIns="0" rtlCol="0" anchor="t"/>
          <a:lstStyle/>
          <a:p>
            <a:pPr indent="0" marL="0">
              <a:buNone/>
            </a:pPr>
            <a:r>
              <a:rPr lang="en-US" sz="1400" dirty="0">
                <a:solidFill>
                  <a:srgbClr val="DDE1E4"/>
                </a:solidFill>
              </a:rPr>
              <a:t>PPO corrections on top of the open-loop trajectory, with torque history as observation and measured sensor noise.</a:t>
            </a:r>
            <a:endParaRPr lang="en-US" sz="1400" dirty="0"/>
          </a:p>
        </p:txBody>
      </p:sp>
      <p:sp>
        <p:nvSpPr>
          <p:cNvPr id="18" name="Shape 16"/>
          <p:cNvSpPr/>
          <p:nvPr/>
        </p:nvSpPr>
        <p:spPr>
          <a:xfrm>
            <a:off x="6172200" y="3749040"/>
            <a:ext cx="5394960" cy="2103120"/>
          </a:xfrm>
          <a:prstGeom prst="roundRect">
            <a:avLst>
              <a:gd name="adj" fmla="val 3478"/>
            </a:avLst>
          </a:prstGeom>
          <a:solidFill>
            <a:schemeClr val="tx2"/>
          </a:solidFill>
          <a:ln/>
        </p:spPr>
      </p:sp>
      <p:sp>
        <p:nvSpPr>
          <p:cNvPr id="19" name="Shape 17"/>
          <p:cNvSpPr/>
          <p:nvPr/>
        </p:nvSpPr>
        <p:spPr>
          <a:xfrm>
            <a:off x="6446520" y="4023360"/>
            <a:ext cx="420624" cy="420624"/>
          </a:xfrm>
          <a:prstGeom prst="ellipse">
            <a:avLst/>
          </a:prstGeom>
          <a:solidFill>
            <a:schemeClr val="accent1"/>
          </a:solidFill>
          <a:ln/>
        </p:spPr>
      </p:sp>
      <p:sp>
        <p:nvSpPr>
          <p:cNvPr id="20" name="Text 18"/>
          <p:cNvSpPr txBox="1"/>
          <p:nvPr/>
        </p:nvSpPr>
        <p:spPr>
          <a:xfrm>
            <a:off x="6446520" y="4023360"/>
            <a:ext cx="420624" cy="420624"/>
          </a:xfrm>
          <a:prstGeom prst="rect">
            <a:avLst/>
          </a:prstGeom>
          <a:noFill/>
          <a:ln/>
        </p:spPr>
        <p:txBody>
          <a:bodyPr wrap="square" lIns="0" tIns="0" rIns="0" bIns="0" rtlCol="0" anchor="ctr"/>
          <a:lstStyle/>
          <a:p>
            <a:pPr algn="ctr" indent="0" marL="0">
              <a:buNone/>
            </a:pPr>
            <a:r>
              <a:rPr lang="en-US" sz="1600" b="1" dirty="0">
                <a:solidFill>
                  <a:schemeClr val="tx1"/>
                </a:solidFill>
              </a:rPr>
              <a:t>4</a:t>
            </a:r>
            <a:endParaRPr lang="en-US" sz="1600" dirty="0"/>
          </a:p>
        </p:txBody>
      </p:sp>
      <p:sp>
        <p:nvSpPr>
          <p:cNvPr id="21" name="Text 19"/>
          <p:cNvSpPr txBox="1"/>
          <p:nvPr/>
        </p:nvSpPr>
        <p:spPr>
          <a:xfrm>
            <a:off x="7040880" y="4023360"/>
            <a:ext cx="4251960" cy="420624"/>
          </a:xfrm>
          <a:prstGeom prst="rect">
            <a:avLst/>
          </a:prstGeom>
          <a:noFill/>
          <a:ln/>
        </p:spPr>
        <p:txBody>
          <a:bodyPr wrap="square" lIns="0" tIns="0" rIns="0" bIns="0" rtlCol="0" anchor="ctr"/>
          <a:lstStyle/>
          <a:p>
            <a:pPr indent="0" marL="0">
              <a:buNone/>
            </a:pPr>
            <a:r>
              <a:rPr lang="en-US" sz="1800" b="1" dirty="0">
                <a:solidFill>
                  <a:schemeClr val="bg1"/>
                </a:solidFill>
              </a:rPr>
              <a:t>Hardware transfer</a:t>
            </a:r>
            <a:endParaRPr lang="en-US" sz="1800" dirty="0"/>
          </a:p>
        </p:txBody>
      </p:sp>
      <p:sp>
        <p:nvSpPr>
          <p:cNvPr id="22" name="Text 20"/>
          <p:cNvSpPr txBox="1"/>
          <p:nvPr/>
        </p:nvSpPr>
        <p:spPr>
          <a:xfrm>
            <a:off x="7040880" y="4572000"/>
            <a:ext cx="4251960" cy="1188720"/>
          </a:xfrm>
          <a:prstGeom prst="rect">
            <a:avLst/>
          </a:prstGeom>
          <a:noFill/>
          <a:ln/>
        </p:spPr>
        <p:txBody>
          <a:bodyPr wrap="square" lIns="0" tIns="0" rIns="0" bIns="0" rtlCol="0" anchor="t"/>
          <a:lstStyle/>
          <a:p>
            <a:pPr indent="0" marL="0">
              <a:buNone/>
            </a:pPr>
            <a:r>
              <a:rPr lang="en-US" sz="1400" dirty="0">
                <a:solidFill>
                  <a:srgbClr val="DDE1E4"/>
                </a:solidFill>
              </a:rPr>
              <a:t>System ID of the MIT motors and wheels, run the trajectory on the robot, and compare with sim; contain mode B failures.</a:t>
            </a:r>
            <a:endParaRPr lang="en-US" sz="1400" dirty="0"/>
          </a:p>
        </p:txBody>
      </p:sp>
      <p:sp>
        <p:nvSpPr>
          <p:cNvPr id="23" name="Text 21"/>
          <p:cNvSpPr txBox="1"/>
          <p:nvPr/>
        </p:nvSpPr>
        <p:spPr>
          <a:xfrm>
            <a:off x="548640" y="6172200"/>
            <a:ext cx="10545775" cy="320040"/>
          </a:xfrm>
          <a:prstGeom prst="rect">
            <a:avLst/>
          </a:prstGeom>
          <a:noFill/>
          <a:ln/>
        </p:spPr>
        <p:txBody>
          <a:bodyPr wrap="square" lIns="0" tIns="0" rIns="0" bIns="0" rtlCol="0" anchor="ctr"/>
          <a:lstStyle/>
          <a:p>
            <a:pPr indent="0" marL="0">
              <a:buNone/>
            </a:pPr>
            <a:r>
              <a:rPr lang="en-US" sz="1100" i="1" dirty="0">
                <a:solidFill>
                  <a:schemeClr val="accent6"/>
                </a:solidFill>
              </a:rPr>
              <a:t>Code and results: github.com/emmmum/IsaacLab, branch yifan/robomaster-lacrosse-scoop</a:t>
            </a:r>
            <a:pPr indent="0" marL="0">
              <a:buNone/>
            </a:pPr>
            <a:r>
              <a:rPr lang="en-US" sz="1100" i="1" u="sng" dirty="0">
                <a:solidFill>
                  <a:schemeClr val="accent1"/>
                </a:solidFill>
                <a:hlinkClick r:id="rId1" invalidUrl="" action="" tgtFrame="" tooltip="" history="1" highlightClick="0" endSnd="0">
                  <a:extLst>
                    <a:ext uri="{A12FA001-AC4F-418D-AE19-62706E023703}">
                      <ahyp:hlinkClr xmlns:ahyp="http://schemas.microsoft.com/office/drawing/2018/hyperlinkcolor" val="tx"/>
                    </a:ext>
                  </a:extLst>
                </a:hlinkClick>
              </a:rPr>
              <a:t>   ·   All videos on Google Drive</a:t>
            </a:r>
            <a:endParaRPr lang="en-US" sz="1100" dirty="0"/>
          </a:p>
        </p:txBody>
      </p:sp>
      <p:sp>
        <p:nvSpPr>
          <p:cNvPr id="25" name="Slide Number Placeholder 0"/>
          <p:cNvSpPr>
            <a:spLocks noGrp="1"/>
          </p:cNvSpPr>
          <p:nvPr>
            <p:ph type="sldNum" sz="quarter" idx="4294967295"/>
          </p:nvPr>
        </p:nvSpPr>
        <p:spPr>
          <a:xfrm>
            <a:off x="1136873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18</a:t>
            </a:fld>
            <a:endParaRPr lang="en-US"/>
          </a:p>
        </p:txBody>
      </p:sp>
    </p:spTree>
  </p:cSld>
  <p:clrMapOvr>
    <a:masterClrMapping/>
  </p:clrMapOvr>
</p:sld>
</file>

<file path=ppt/theme/theme1.xml><?xml version="1.0" encoding="utf-8"?>
<a:theme xmlns:a="http://schemas.openxmlformats.org/drawingml/2006/main" name="Lacrosse Scoop">
  <a:themeElements>
    <a:clrScheme name="Lacrosse Scoop">
      <a:dk1>
        <a:srgbClr val="1E2226"/>
      </a:dk1>
      <a:lt1>
        <a:srgbClr val="FFFFFF"/>
      </a:lt1>
      <a:dk2>
        <a:srgbClr val="3A4149"/>
      </a:dk2>
      <a:lt2>
        <a:srgbClr val="F1F3F4"/>
      </a:lt2>
      <a:accent1>
        <a:srgbClr val="E6B800"/>
      </a:accent1>
      <a:accent2>
        <a:srgbClr val="1B9E77"/>
      </a:accent2>
      <a:accent3>
        <a:srgbClr val="D64545"/>
      </a:accent3>
      <a:accent4>
        <a:srgbClr val="2F6FD6"/>
      </a:accent4>
      <a:accent5>
        <a:srgbClr val="E8743B"/>
      </a:accent5>
      <a:accent6>
        <a:srgbClr val="8A939C"/>
      </a:accent6>
      <a:hlink>
        <a:srgbClr val="2F6FD6"/>
      </a:hlink>
      <a:folHlink>
        <a:srgbClr val="6B4FA0"/>
      </a:folHlink>
    </a:clrScheme>
    <a:fontScheme name="Lacrosse Scoop">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RoboMaster Lacrosse Scoop - Progress Report</dc:title>
  <dc:subject>PptxGenJS Presentation</dc:subject>
  <dc:creator>Yifan</dc:creator>
  <cp:lastModifiedBy>Yifan</cp:lastModifiedBy>
  <cp:revision>1</cp:revision>
  <dcterms:created xsi:type="dcterms:W3CDTF">2026-10-20T16:17:53Z</dcterms:created>
  <dcterms:modified xsi:type="dcterms:W3CDTF">2026-10-20T16:17:53Z</dcterms:modified>
</cp:coreProperties>
</file>