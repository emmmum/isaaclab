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602a096-ff3f-3bec-9b98-41c7a61eec8a}">
          <p14:sldIdLst>
            <p14:sldId id="256"/>
            <p14:sldId id="257"/>
          </p14:sldIdLst>
        </p14:section>
        <p14:section name="Setup" id="{a9b053e6-7980-4f92-2481-d8daf53bb187}">
          <p14:sldIdLst>
            <p14:sldId id="258"/>
            <p14:sldId id="259"/>
          </p14:sldIdLst>
        </p14:section>
        <p14:section name="Method" id="{82965701-9451-449a-880d-b0e2b94120ad}">
          <p14:sldIdLst>
            <p14:sldId id="260"/>
            <p14:sldId id="261"/>
          </p14:sldIdLst>
        </p14:section>
        <p14:section name="Results" id="{f34d8928-f031-92ea-2354-c187b7415074}">
          <p14:sldIdLst>
            <p14:sldId id="262"/>
            <p14:sldId id="263"/>
            <p14:sldId id="264"/>
            <p14:sldId id="265"/>
            <p14:sldId id="266"/>
          </p14:sldIdLst>
        </p14:section>
        <p14:section name="Next" id="{b6571b96-ad74-a108-32b6-913e7ab134c1}">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Success rate, MIT trajectory, one knob at a time (500 runs each)</a:t>
            </a:r>
          </a:p>
        </c:rich>
      </c:tx>
      <c:layout/>
      <c:overlay val="0"/>
    </c:title>
    <c:autoTitleDeleted val="0"/>
    <c:plotArea>
      <c:layout/>
      <c:barChart>
        <c:barDir val="col"/>
        <c:grouping val="clustered"/>
        <c:varyColors val="0"/>
        <c:ser>
          <c:idx val="0"/>
          <c:order val="0"/>
          <c:tx>
            <c:strRef>
              <c:f>Sheet1!$B$1</c:f>
              <c:strCache>
                <c:ptCount val="1"/>
                <c:pt idx="0">
                  <c:v>Success</c:v>
                </c:pt>
              </c:strCache>
            </c:strRef>
          </c:tx>
          <c:spPr>
            <a:solidFill>
              <a:srgbClr val="1B9E77"/>
            </a:solidFill>
            <a:effectLst/>
          </c:spPr>
          <c:invertIfNegative val="0"/>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1B9E77"/>
              </a:solidFill>
              <a:effectLst/>
            </c:spPr>
          </c:dPt>
          <c:dPt>
            <c:idx val="2"/>
            <c:invertIfNegative val="0"/>
            <c:bubble3D val="0"/>
            <c:spPr>
              <a:solidFill>
                <a:srgbClr val="1B9E77"/>
              </a:solidFill>
              <a:effectLst/>
            </c:spPr>
          </c:dPt>
          <c:dPt>
            <c:idx val="3"/>
            <c:invertIfNegative val="0"/>
            <c:bubble3D val="0"/>
            <c:spPr>
              <a:solidFill>
                <a:srgbClr val="1B9E77"/>
              </a:solidFill>
              <a:effectLst/>
            </c:spPr>
          </c:dPt>
          <c:dPt>
            <c:idx val="4"/>
            <c:invertIfNegative val="0"/>
            <c:bubble3D val="0"/>
            <c:spPr>
              <a:solidFill>
                <a:srgbClr val="1B9E77"/>
              </a:solidFill>
              <a:effectLst/>
            </c:spPr>
          </c:dPt>
          <c:dPt>
            <c:idx val="5"/>
            <c:invertIfNegative val="0"/>
            <c:bubble3D val="0"/>
            <c:spPr>
              <a:solidFill>
                <a:srgbClr val="1B9E77"/>
              </a:solidFill>
              <a:effectLst/>
            </c:spPr>
          </c:dPt>
          <c:dPt>
            <c:idx val="6"/>
            <c:invertIfNegative val="0"/>
            <c:bubble3D val="0"/>
            <c:spPr>
              <a:solidFill>
                <a:srgbClr val="D64545"/>
              </a:solidFill>
              <a:effectLst/>
            </c:spPr>
          </c:dPt>
          <c:cat>
            <c:multiLvlStrRef>
              <c:f>Sheet1!$A$2:$A$8</c:f>
              <c:multiLvlStrCache>
                <c:ptCount val="7"/>
                <c:lvl>
                  <c:pt idx="0">
                    <c:v>Nominal</c:v>
                  </c:pt>
                  <c:pt idx="1">
                    <c:v>Joint friction</c:v>
                  </c:pt>
                  <c:pt idx="2">
                    <c:v>Grav-comp ±20%</c:v>
                  </c:pt>
                  <c:pt idx="3">
                    <c:v>Latency 0–33 ms</c:v>
                  </c:pt>
                  <c:pt idx="4">
                    <c:v>Ball contact</c:v>
                  </c:pt>
                  <c:pt idx="5">
                    <c:v>Robot friction</c:v>
                  </c:pt>
                  <c:pt idx="6">
                    <c:v>Old slip model</c:v>
                  </c:pt>
                </c:lvl>
              </c:multiLvlStrCache>
            </c:multiLvlStrRef>
          </c:cat>
          <c:val>
            <c:numRef>
              <c:f>Sheet1!$B$2:$B$8</c:f>
              <c:numCache>
                <c:formatCode>General</c:formatCode>
                <c:ptCount val="7"/>
                <c:pt idx="0">
                  <c:v>96</c:v>
                </c:pt>
                <c:pt idx="1">
                  <c:v>94.8</c:v>
                </c:pt>
                <c:pt idx="2">
                  <c:v>96.8</c:v>
                </c:pt>
                <c:pt idx="3">
                  <c:v>95.4</c:v>
                </c:pt>
                <c:pt idx="4">
                  <c:v>94.8</c:v>
                </c:pt>
                <c:pt idx="5">
                  <c:v>95</c:v>
                </c:pt>
                <c:pt idx="6">
                  <c:v>43.8</c:v>
                </c:pt>
              </c:numCache>
            </c:numRef>
          </c:val>
        </c:ser>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Lateral offset</a:t>
            </a:r>
          </a:p>
        </c:rich>
      </c:tx>
      <c:layout/>
      <c:overlay val="0"/>
    </c:title>
    <c:autoTitleDeleted val="0"/>
    <c:plotArea>
      <c:layout/>
      <c:barChart>
        <c:barDir val="col"/>
        <c:grouping val="clustered"/>
        <c:varyColors val="0"/>
        <c:ser>
          <c:idx val="0"/>
          <c:order val="0"/>
          <c:tx>
            <c:strRef>
              <c:f>Sheet1!$B$1</c:f>
              <c:strCache>
                <c:ptCount val="1"/>
                <c:pt idx="0">
                  <c:v>Lateral offset</c:v>
                </c:pt>
              </c:strCache>
            </c:strRef>
          </c:tx>
          <c:spPr>
            <a:solidFill>
              <a:srgbClr val="1B9E77"/>
            </a:solidFill>
            <a:effectLst/>
          </c:spPr>
          <c:invertIfNegative val="0"/>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D64545"/>
              </a:solidFill>
              <a:effectLst/>
            </c:spPr>
          </c:dPt>
          <c:dPt>
            <c:idx val="2"/>
            <c:invertIfNegative val="0"/>
            <c:bubble3D val="0"/>
            <c:spPr>
              <a:solidFill>
                <a:srgbClr val="D64545"/>
              </a:solidFill>
              <a:effectLst/>
            </c:spPr>
          </c:dPt>
          <c:cat>
            <c:multiLvlStrRef>
              <c:f>Sheet1!$A$2:$A$4</c:f>
              <c:multiLvlStrCache>
                <c:ptCount val="3"/>
                <c:lvl>
                  <c:pt idx="0">
                    <c:v>±2 cm</c:v>
                  </c:pt>
                  <c:pt idx="1">
                    <c:v>±3 cm</c:v>
                  </c:pt>
                  <c:pt idx="2">
                    <c:v>±4 cm</c:v>
                  </c:pt>
                </c:lvl>
              </c:multiLvlStrCache>
            </c:multiLvlStrRef>
          </c:cat>
          <c:val>
            <c:numRef>
              <c:f>Sheet1!$B$2:$B$4</c:f>
              <c:numCache>
                <c:formatCode>General</c:formatCode>
                <c:ptCount val="3"/>
                <c:pt idx="0">
                  <c:v>96.5</c:v>
                </c:pt>
                <c:pt idx="1">
                  <c:v>45</c:v>
                </c:pt>
                <c:pt idx="2">
                  <c:v>0</c:v>
                </c:pt>
              </c:numCache>
            </c:numRef>
          </c:val>
        </c:ser>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Heading error</a:t>
            </a:r>
          </a:p>
        </c:rich>
      </c:tx>
      <c:layout/>
      <c:overlay val="0"/>
    </c:title>
    <c:autoTitleDeleted val="0"/>
    <c:plotArea>
      <c:layout/>
      <c:barChart>
        <c:barDir val="col"/>
        <c:grouping val="clustered"/>
        <c:varyColors val="0"/>
        <c:ser>
          <c:idx val="0"/>
          <c:order val="0"/>
          <c:tx>
            <c:strRef>
              <c:f>Sheet1!$B$1</c:f>
              <c:strCache>
                <c:ptCount val="1"/>
                <c:pt idx="0">
                  <c:v>Heading error</c:v>
                </c:pt>
              </c:strCache>
            </c:strRef>
          </c:tx>
          <c:spPr>
            <a:solidFill>
              <a:srgbClr val="1B9E77"/>
            </a:solidFill>
            <a:effectLst/>
          </c:spPr>
          <c:invertIfNegative val="0"/>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E6B800"/>
              </a:solidFill>
              <a:effectLst/>
            </c:spPr>
          </c:dPt>
          <c:dPt>
            <c:idx val="2"/>
            <c:invertIfNegative val="0"/>
            <c:bubble3D val="0"/>
            <c:spPr>
              <a:solidFill>
                <a:srgbClr val="D64545"/>
              </a:solidFill>
              <a:effectLst/>
            </c:spPr>
          </c:dPt>
          <c:cat>
            <c:multiLvlStrRef>
              <c:f>Sheet1!$A$2:$A$4</c:f>
              <c:multiLvlStrCache>
                <c:ptCount val="3"/>
                <c:lvl>
                  <c:pt idx="0">
                    <c:v>±1°</c:v>
                  </c:pt>
                  <c:pt idx="1">
                    <c:v>±1.5°</c:v>
                  </c:pt>
                  <c:pt idx="2">
                    <c:v>±2°</c:v>
                  </c:pt>
                </c:lvl>
              </c:multiLvlStrCache>
            </c:multiLvlStrRef>
          </c:cat>
          <c:val>
            <c:numRef>
              <c:f>Sheet1!$B$2:$B$4</c:f>
              <c:numCache>
                <c:formatCode>General</c:formatCode>
                <c:ptCount val="3"/>
                <c:pt idx="0">
                  <c:v>96.5</c:v>
                </c:pt>
                <c:pt idx="1">
                  <c:v>82</c:v>
                </c:pt>
                <c:pt idx="2">
                  <c:v>0</c:v>
                </c:pt>
              </c:numCache>
            </c:numRef>
          </c:val>
        </c:ser>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Ball distance</a:t>
            </a:r>
          </a:p>
        </c:rich>
      </c:tx>
      <c:layout/>
      <c:overlay val="0"/>
    </c:title>
    <c:autoTitleDeleted val="0"/>
    <c:plotArea>
      <c:layout/>
      <c:barChart>
        <c:barDir val="col"/>
        <c:grouping val="clustered"/>
        <c:varyColors val="0"/>
        <c:ser>
          <c:idx val="0"/>
          <c:order val="0"/>
          <c:tx>
            <c:strRef>
              <c:f>Sheet1!$B$1</c:f>
              <c:strCache>
                <c:ptCount val="1"/>
                <c:pt idx="0">
                  <c:v>Ball distance</c:v>
                </c:pt>
              </c:strCache>
            </c:strRef>
          </c:tx>
          <c:spPr>
            <a:solidFill>
              <a:srgbClr val="1B9E77"/>
            </a:solidFill>
            <a:effectLst/>
          </c:spPr>
          <c:invertIfNegative val="0"/>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1B9E77"/>
              </a:solidFill>
              <a:effectLst/>
            </c:spPr>
          </c:dPt>
          <c:dPt>
            <c:idx val="2"/>
            <c:invertIfNegative val="0"/>
            <c:bubble3D val="0"/>
            <c:spPr>
              <a:solidFill>
                <a:srgbClr val="D64545"/>
              </a:solidFill>
              <a:effectLst/>
            </c:spPr>
          </c:dPt>
          <c:cat>
            <c:multiLvlStrRef>
              <c:f>Sheet1!$A$2:$A$4</c:f>
              <c:multiLvlStrCache>
                <c:ptCount val="3"/>
                <c:lvl>
                  <c:pt idx="0">
                    <c:v>15 cm closer</c:v>
                  </c:pt>
                  <c:pt idx="1">
                    <c:v>5 cm farther</c:v>
                  </c:pt>
                  <c:pt idx="2">
                    <c:v>10 cm farther</c:v>
                  </c:pt>
                </c:lvl>
              </c:multiLvlStrCache>
            </c:multiLvlStrRef>
          </c:cat>
          <c:val>
            <c:numRef>
              <c:f>Sheet1!$B$2:$B$4</c:f>
              <c:numCache>
                <c:formatCode>General</c:formatCode>
                <c:ptCount val="3"/>
                <c:pt idx="0">
                  <c:v>95</c:v>
                </c:pt>
                <c:pt idx="1">
                  <c:v>92.5</c:v>
                </c:pt>
                <c:pt idx="2">
                  <c:v>35</c:v>
                </c:pt>
              </c:numCache>
            </c:numRef>
          </c:val>
        </c:ser>
        <c:dLbls>
          <c:numFmt formatCode="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226"/>
                </a:solidFill>
                <a:latin typeface="+mn-lt"/>
              </a:defRPr>
            </a:pPr>
            <a:r>
              <a:rPr sz="1400" b="0" i="0" u="none" strike="noStrike">
                <a:solidFill>
                  <a:srgbClr val="1E2226"/>
                </a:solidFill>
                <a:latin typeface="+mn-lt"/>
              </a:rPr>
              <a:t>Random floor roll/pitch (300 runs each)</a:t>
            </a:r>
          </a:p>
        </c:rich>
      </c:tx>
      <c:layout/>
      <c:overlay val="0"/>
    </c:title>
    <c:autoTitleDeleted val="0"/>
    <c:plotArea>
      <c:layout/>
      <c:barChart>
        <c:barDir val="col"/>
        <c:grouping val="clustered"/>
        <c:varyColors val="0"/>
        <c:ser>
          <c:idx val="0"/>
          <c:order val="0"/>
          <c:tx>
            <c:strRef>
              <c:f>Sheet1!$B$1</c:f>
              <c:strCache>
                <c:ptCount val="1"/>
                <c:pt idx="0">
                  <c:v>Tilt</c:v>
                </c:pt>
              </c:strCache>
            </c:strRef>
          </c:tx>
          <c:spPr>
            <a:solidFill>
              <a:srgbClr val="1B9E77"/>
            </a:solidFill>
            <a:effectLst/>
          </c:spPr>
          <c:invertIfNegative val="0"/>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dPt>
            <c:idx val="0"/>
            <c:invertIfNegative val="0"/>
            <c:bubble3D val="0"/>
            <c:spPr>
              <a:solidFill>
                <a:srgbClr val="1B9E77"/>
              </a:solidFill>
              <a:effectLst/>
            </c:spPr>
          </c:dPt>
          <c:dPt>
            <c:idx val="1"/>
            <c:invertIfNegative val="0"/>
            <c:bubble3D val="0"/>
            <c:spPr>
              <a:solidFill>
                <a:srgbClr val="1B9E77"/>
              </a:solidFill>
              <a:effectLst/>
            </c:spPr>
          </c:dPt>
          <c:dPt>
            <c:idx val="2"/>
            <c:invertIfNegative val="0"/>
            <c:bubble3D val="0"/>
            <c:spPr>
              <a:solidFill>
                <a:srgbClr val="D64545"/>
              </a:solidFill>
              <a:effectLst/>
            </c:spPr>
          </c:dPt>
          <c:cat>
            <c:multiLvlStrRef>
              <c:f>Sheet1!$A$2:$A$4</c:f>
              <c:multiLvlStrCache>
                <c:ptCount val="3"/>
                <c:lvl>
                  <c:pt idx="0">
                    <c:v>±0.2°</c:v>
                  </c:pt>
                  <c:pt idx="1">
                    <c:v>±0.3°</c:v>
                  </c:pt>
                  <c:pt idx="2">
                    <c:v>±1°</c:v>
                  </c:pt>
                </c:lvl>
              </c:multiLvlStrCache>
            </c:multiLvlStrRef>
          </c:cat>
          <c:val>
            <c:numRef>
              <c:f>Sheet1!$B$2:$B$4</c:f>
              <c:numCache>
                <c:formatCode>General</c:formatCode>
                <c:ptCount val="3"/>
                <c:pt idx="0">
                  <c:v>99.3</c:v>
                </c:pt>
                <c:pt idx="1">
                  <c:v>94</c:v>
                </c:pt>
                <c:pt idx="2">
                  <c:v>61.3</c:v>
                </c:pt>
              </c:numCache>
            </c:numRef>
          </c:val>
        </c:ser>
        <c:dLbls>
          <c:numFmt formatCode="0.0&quot;%&quot;" sourceLinked="0"/>
          <c:txPr>
            <a:bodyPr/>
            <a:lstStyle/>
            <a:p>
              <a:pPr>
                <a:defRPr b="0" i="0" strike="noStrike" sz="1100" u="none">
                  <a:solidFill>
                    <a:srgbClr val="3A414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149"/>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39C"/>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a RoboMaster mobile base with a 2-DOF arm holding a lacrosse stick drives up to a ball on the floor and scoops it into the net pocket. Everything here is in Isaac Lab simulation, but the robot model is grounded in measured real-robot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headline numbers. 98.3% is the most recent large-scale run (400 robots, finer 1200 Hz physics, randomized ball placement). 300/300 is the validation with every realistic-uncertainty knob on. The red number is the open problem: the open-loop scoop only works if the robot is lined up within about 2 cm and 1 degree.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Masses, link lengths and motor parameters come from the real robot. Gains: with Kd fixed at 3 (from the motors), Kp 10 and 25 give damping ratio ~1.2 for the computed inertias. Gravity compensation is fed forward, so the stick holds its pose with under 0.5 degree error. The base is driven through its wheels with exact cylinder colliders; an earlier root-velocity base model caused unrealistic acceleration spikes.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RL runs used RSL-RL PPO with up to 8192 parallel environments. The main lesson is that the reward and the simulator both had exploitable holes. The pivot: design the motion by hand, search its few parameters, and keep RL for residual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trajectory is executed open loop: velocity command for the base, position + velocity targets and torque feed-forward for the arm motors. Scripts: traj_grid*.py for the searches, traj_validate*.py and traj_robust.py for validation. The plot is the final trajectory on the wheel-driven base: actual joint angles track targets closely, and the ball (green) rises with the lip to ~0.5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re-ran the trajectory search. The underdamped stiff-PD row shows the result depends heavily on the actuator model, which is why we moved to the real MIT-control parameters. The torque spike investigation showed the old base model was the problem, so we switched to driving the real wheels.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run with the MIT-motor trajectory on the old base model, one knob at a time. Joint friction is explicit Coulomb + viscous torque; grav-comp error scales the feed-forward; latency is an action delay. The old slip model is the outlier, which led us to ask for real base numbers (1.7 m/s² accel, ±10% speed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 traj_alignment.py and traj_alignment_fine.py. The ball can be closer than nominal without much loss, but lateral and heading errors drop off sharply. This is the strongest argument for a closed-loop approach phase before the open-loop scoop.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Floor tilt is a per-env kinematic platform with random roll/pitch. For the ball, placing it CoM-down matters: a randomly oriented off-center ball rolls up to 10 cm to settle, which is a setup artifact, not a scoop failure. Also worked around an Isaac Lab bug in RigidObject.set_coms_index.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render_array.py: 400 robots, physics at 1200 Hz (control 60 Hz), ball offsets up to ±3 cm along and ±1 cm across. 98.3% success. All 7 failures were balls that ended more than 3 m away. Close-ups with replay_closeup.py show the ball sliding out of the side of the pocket after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that generalize beyond this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order: 1 and 3 in parallel, since alignment is the main sim-side limit and hardware data will tell us which uncertainty matters. Residual RL is the planned way to recover from alignment errors the approach controller leaves. Item 4 targets the remaining 1.7% failure mode and the narrow lateral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766560" cy="16459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40480"/>
            <a:ext cx="6400800" cy="12801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6766560" cy="1645920"/>
          </a:xfrm>
          <a:prstGeom prst="rect">
            <a:avLst/>
          </a:prstGeom>
          <a:noFill/>
          <a:ln/>
        </p:spPr>
        <p:txBody>
          <a:bodyPr wrap="square" lIns="0" tIns="0" rIns="0" bIns="0" rtlCol="0" anchor="b"/>
          <a:lstStyle/>
          <a:p>
            <a:pPr algn="l" indent="0" marL="0">
              <a:buNone/>
            </a:pPr>
            <a:r>
              <a:rPr lang="en-US" sz="4000" b="1" dirty="0">
                <a:solidFill>
                  <a:schemeClr val="bg1"/>
                </a:solidFill>
              </a:rPr>
              <a:t>Scooping a Lacrosse Ball with a RoboMaster</a:t>
            </a:r>
            <a:endParaRPr lang="en-US" sz="4000" dirty="0"/>
          </a:p>
        </p:txBody>
      </p:sp>
      <p:sp>
        <p:nvSpPr>
          <p:cNvPr id="3" name="Text 0"/>
          <p:cNvSpPr/>
          <p:nvPr>
            <p:ph idx="101" type="body" hasCustomPrompt="1"/>
          </p:nvPr>
        </p:nvSpPr>
        <p:spPr>
          <a:xfrm>
            <a:off x="548640" y="3840480"/>
            <a:ext cx="6400800" cy="1280160"/>
          </a:xfrm>
          <a:prstGeom prst="rect">
            <a:avLst/>
          </a:prstGeom>
          <a:noFill/>
          <a:ln/>
        </p:spPr>
        <p:txBody>
          <a:bodyPr wrap="square" lIns="0" tIns="0" rIns="0" bIns="0" rtlCol="0" anchor="t"/>
          <a:lstStyle/>
          <a:p>
            <a:pPr indent="0" marL="0">
              <a:buNone/>
            </a:pPr>
            <a:r>
              <a:rPr lang="en-US" sz="1800" dirty="0">
                <a:solidFill>
                  <a:schemeClr val="accent1"/>
                </a:solidFill>
              </a:rPr>
              <a:t>Simulation progress report: open-loop scoop trajectory, robustness study, next steps</a:t>
            </a:r>
            <a:endParaRPr lang="en-US" sz="1800" dirty="0"/>
          </a:p>
          <a:p>
            <a:pPr indent="0" marL="0">
              <a:buNone/>
            </a:pPr>
            <a:r>
              <a:rPr lang="en-US" sz="1400" dirty="0">
                <a:solidFill>
                  <a:schemeClr val="accent6"/>
                </a:solidFill>
              </a:rPr>
              <a:t>Isaac Lab task Isaac-RoboMaster-Lacrosse-Direct-v0  ·  October 2026</a:t>
            </a:r>
            <a:endParaRPr lang="en-US" sz="1800" dirty="0"/>
          </a:p>
        </p:txBody>
      </p:sp>
      <p:pic>
        <p:nvPicPr>
          <p:cNvPr id="4" name="hero" descr="/tmp/claude-1000/-home-yifan-IsaacLab/02e1a1d7-61f9-5921-a435-b68e19ec6560/scratchpad/deck/img/robot_side.png">    </p:cNvPr>
          <p:cNvPicPr>
            <a:picLocks noChangeAspect="1"/>
          </p:cNvPicPr>
          <p:nvPr/>
        </p:nvPicPr>
        <p:blipFill>
          <a:blip r:embed="rId1"/>
          <a:stretch>
            <a:fillRect/>
          </a:stretch>
        </p:blipFill>
        <p:spPr>
          <a:xfrm>
            <a:off x="7589520" y="1463040"/>
            <a:ext cx="4206240" cy="2366010"/>
          </a:xfrm>
          <a:prstGeom prst="rect">
            <a:avLst/>
          </a:prstGeom>
        </p:spPr>
      </p:pic>
      <p:sp>
        <p:nvSpPr>
          <p:cNvPr id="5" name="Text 2"/>
          <p:cNvSpPr txBox="1"/>
          <p:nvPr/>
        </p:nvSpPr>
        <p:spPr>
          <a:xfrm>
            <a:off x="7589520" y="3931920"/>
            <a:ext cx="4206240" cy="320040"/>
          </a:xfrm>
          <a:prstGeom prst="rect">
            <a:avLst/>
          </a:prstGeom>
          <a:noFill/>
          <a:ln/>
        </p:spPr>
        <p:txBody>
          <a:bodyPr wrap="square" lIns="0" tIns="0" rIns="0" bIns="0" rtlCol="0" anchor="ctr"/>
          <a:lstStyle/>
          <a:p>
            <a:pPr indent="0" marL="0">
              <a:buNone/>
            </a:pPr>
            <a:r>
              <a:rPr lang="en-US" sz="1100" i="1" dirty="0">
                <a:solidFill>
                  <a:schemeClr val="accent6"/>
                </a:solidFill>
              </a:rPr>
              <a:t>RoboMaster base + 2-DOF arm holding a 1.15 m lacrosse stick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 hand-designed open-loop scoop is near-perfect in simulation</a:t>
            </a:r>
            <a:endParaRPr lang="en-US" sz="3000" dirty="0"/>
          </a:p>
        </p:txBody>
      </p:sp>
      <p:sp>
        <p:nvSpPr>
          <p:cNvPr id="3" name="Shape 1"/>
          <p:cNvSpPr/>
          <p:nvPr/>
        </p:nvSpPr>
        <p:spPr>
          <a:xfrm>
            <a:off x="548640" y="1554480"/>
            <a:ext cx="3474720" cy="2834640"/>
          </a:xfrm>
          <a:prstGeom prst="roundRect">
            <a:avLst>
              <a:gd name="adj" fmla="val 2581"/>
            </a:avLst>
          </a:prstGeom>
          <a:solidFill>
            <a:schemeClr val="bg2"/>
          </a:solidFill>
          <a:ln/>
        </p:spPr>
      </p:sp>
      <p:sp>
        <p:nvSpPr>
          <p:cNvPr id="4" name="Text 2"/>
          <p:cNvSpPr txBox="1"/>
          <p:nvPr/>
        </p:nvSpPr>
        <p:spPr>
          <a:xfrm>
            <a:off x="822960" y="1828800"/>
            <a:ext cx="2926080" cy="1005840"/>
          </a:xfrm>
          <a:prstGeom prst="rect">
            <a:avLst/>
          </a:prstGeom>
          <a:noFill/>
          <a:ln/>
        </p:spPr>
        <p:txBody>
          <a:bodyPr wrap="square" lIns="0" tIns="0" rIns="0" bIns="0" rtlCol="0" anchor="ctr"/>
          <a:lstStyle/>
          <a:p>
            <a:pPr indent="0" marL="0">
              <a:buNone/>
            </a:pPr>
            <a:r>
              <a:rPr lang="en-US" sz="4800" b="1" dirty="0">
                <a:solidFill>
                  <a:schemeClr val="accent2"/>
                </a:solidFill>
              </a:rPr>
              <a:t>98.3%</a:t>
            </a:r>
            <a:endParaRPr lang="en-US" sz="4800" dirty="0"/>
          </a:p>
        </p:txBody>
      </p:sp>
      <p:sp>
        <p:nvSpPr>
          <p:cNvPr id="5" name="Text 3"/>
          <p:cNvSpPr txBox="1"/>
          <p:nvPr/>
        </p:nvSpPr>
        <p:spPr>
          <a:xfrm>
            <a:off x="822960" y="2880360"/>
            <a:ext cx="2926080" cy="411480"/>
          </a:xfrm>
          <a:prstGeom prst="rect">
            <a:avLst/>
          </a:prstGeom>
          <a:noFill/>
          <a:ln/>
        </p:spPr>
        <p:txBody>
          <a:bodyPr wrap="square" lIns="0" tIns="0" rIns="0" bIns="0" rtlCol="0" anchor="ctr"/>
          <a:lstStyle/>
          <a:p>
            <a:pPr indent="0" marL="0">
              <a:buNone/>
            </a:pPr>
            <a:r>
              <a:rPr lang="en-US" sz="1800" b="1" dirty="0">
                <a:solidFill>
                  <a:schemeClr val="tx1"/>
                </a:solidFill>
              </a:rPr>
              <a:t>393 / 400 robots hold the ball</a:t>
            </a:r>
            <a:endParaRPr lang="en-US" sz="1800" dirty="0"/>
          </a:p>
        </p:txBody>
      </p:sp>
      <p:sp>
        <p:nvSpPr>
          <p:cNvPr id="6" name="Text 4"/>
          <p:cNvSpPr txBox="1"/>
          <p:nvPr/>
        </p:nvSpPr>
        <p:spPr>
          <a:xfrm>
            <a:off x="822960" y="3474720"/>
            <a:ext cx="2926080" cy="731520"/>
          </a:xfrm>
          <a:prstGeom prst="rect">
            <a:avLst/>
          </a:prstGeom>
          <a:noFill/>
          <a:ln/>
        </p:spPr>
        <p:txBody>
          <a:bodyPr wrap="square" lIns="0" tIns="0" rIns="0" bIns="0" rtlCol="0" anchor="t"/>
          <a:lstStyle/>
          <a:p>
            <a:pPr indent="0" marL="0">
              <a:buNone/>
            </a:pPr>
            <a:r>
              <a:rPr lang="en-US" sz="1400" dirty="0">
                <a:solidFill>
                  <a:schemeClr val="tx2"/>
                </a:solidFill>
              </a:rPr>
              <a:t>1200 Hz physics, ball placed ±3 cm / ±1 cm at random</a:t>
            </a:r>
            <a:endParaRPr lang="en-US" sz="1400" dirty="0"/>
          </a:p>
        </p:txBody>
      </p:sp>
      <p:sp>
        <p:nvSpPr>
          <p:cNvPr id="7" name="Shape 5"/>
          <p:cNvSpPr/>
          <p:nvPr/>
        </p:nvSpPr>
        <p:spPr>
          <a:xfrm>
            <a:off x="4297680" y="1554480"/>
            <a:ext cx="3474720" cy="2834640"/>
          </a:xfrm>
          <a:prstGeom prst="roundRect">
            <a:avLst>
              <a:gd name="adj" fmla="val 2581"/>
            </a:avLst>
          </a:prstGeom>
          <a:solidFill>
            <a:schemeClr val="bg2"/>
          </a:solidFill>
          <a:ln/>
        </p:spPr>
      </p:sp>
      <p:sp>
        <p:nvSpPr>
          <p:cNvPr id="8" name="Text 6"/>
          <p:cNvSpPr txBox="1"/>
          <p:nvPr/>
        </p:nvSpPr>
        <p:spPr>
          <a:xfrm>
            <a:off x="4572000" y="1828800"/>
            <a:ext cx="2926080" cy="1005840"/>
          </a:xfrm>
          <a:prstGeom prst="rect">
            <a:avLst/>
          </a:prstGeom>
          <a:noFill/>
          <a:ln/>
        </p:spPr>
        <p:txBody>
          <a:bodyPr wrap="square" lIns="0" tIns="0" rIns="0" bIns="0" rtlCol="0" anchor="ctr"/>
          <a:lstStyle/>
          <a:p>
            <a:pPr indent="0" marL="0">
              <a:buNone/>
            </a:pPr>
            <a:r>
              <a:rPr lang="en-US" sz="4800" b="1" dirty="0">
                <a:solidFill>
                  <a:schemeClr val="accent2"/>
                </a:solidFill>
              </a:rPr>
              <a:t>300/300</a:t>
            </a:r>
            <a:endParaRPr lang="en-US" sz="4800" dirty="0"/>
          </a:p>
        </p:txBody>
      </p:sp>
      <p:sp>
        <p:nvSpPr>
          <p:cNvPr id="9" name="Text 7"/>
          <p:cNvSpPr txBox="1"/>
          <p:nvPr/>
        </p:nvSpPr>
        <p:spPr>
          <a:xfrm>
            <a:off x="4572000" y="2880360"/>
            <a:ext cx="2926080" cy="411480"/>
          </a:xfrm>
          <a:prstGeom prst="rect">
            <a:avLst/>
          </a:prstGeom>
          <a:noFill/>
          <a:ln/>
        </p:spPr>
        <p:txBody>
          <a:bodyPr wrap="square" lIns="0" tIns="0" rIns="0" bIns="0" rtlCol="0" anchor="ctr"/>
          <a:lstStyle/>
          <a:p>
            <a:pPr indent="0" marL="0">
              <a:buNone/>
            </a:pPr>
            <a:r>
              <a:rPr lang="en-US" sz="1800" b="1" dirty="0">
                <a:solidFill>
                  <a:schemeClr val="tx1"/>
                </a:solidFill>
              </a:rPr>
              <a:t>with realistic uncertainty</a:t>
            </a:r>
            <a:endParaRPr lang="en-US" sz="1800" dirty="0"/>
          </a:p>
        </p:txBody>
      </p:sp>
      <p:sp>
        <p:nvSpPr>
          <p:cNvPr id="10" name="Text 8"/>
          <p:cNvSpPr txBox="1"/>
          <p:nvPr/>
        </p:nvSpPr>
        <p:spPr>
          <a:xfrm>
            <a:off x="4572000" y="3474720"/>
            <a:ext cx="2926080" cy="731520"/>
          </a:xfrm>
          <a:prstGeom prst="rect">
            <a:avLst/>
          </a:prstGeom>
          <a:noFill/>
          <a:ln/>
        </p:spPr>
        <p:txBody>
          <a:bodyPr wrap="square" lIns="0" tIns="0" rIns="0" bIns="0" rtlCol="0" anchor="t"/>
          <a:lstStyle/>
          <a:p>
            <a:pPr indent="0" marL="0">
              <a:buNone/>
            </a:pPr>
            <a:r>
              <a:rPr lang="en-US" sz="1400" dirty="0">
                <a:solidFill>
                  <a:schemeClr val="tx2"/>
                </a:solidFill>
              </a:rPr>
              <a:t>wheel-driven 4.14 kg base, slip, latency, friction, gravity-comp error</a:t>
            </a:r>
            <a:endParaRPr lang="en-US" sz="1400" dirty="0"/>
          </a:p>
        </p:txBody>
      </p:sp>
      <p:sp>
        <p:nvSpPr>
          <p:cNvPr id="11" name="Shape 9"/>
          <p:cNvSpPr/>
          <p:nvPr/>
        </p:nvSpPr>
        <p:spPr>
          <a:xfrm>
            <a:off x="8046720" y="1554480"/>
            <a:ext cx="3474720" cy="2834640"/>
          </a:xfrm>
          <a:prstGeom prst="roundRect">
            <a:avLst>
              <a:gd name="adj" fmla="val 2581"/>
            </a:avLst>
          </a:prstGeom>
          <a:solidFill>
            <a:schemeClr val="bg2"/>
          </a:solidFill>
          <a:ln/>
        </p:spPr>
      </p:sp>
      <p:sp>
        <p:nvSpPr>
          <p:cNvPr id="12" name="Text 10"/>
          <p:cNvSpPr txBox="1"/>
          <p:nvPr/>
        </p:nvSpPr>
        <p:spPr>
          <a:xfrm>
            <a:off x="8321040" y="1828800"/>
            <a:ext cx="2926080" cy="1005840"/>
          </a:xfrm>
          <a:prstGeom prst="rect">
            <a:avLst/>
          </a:prstGeom>
          <a:noFill/>
          <a:ln/>
        </p:spPr>
        <p:txBody>
          <a:bodyPr wrap="square" lIns="0" tIns="0" rIns="0" bIns="0" rtlCol="0" anchor="ctr"/>
          <a:lstStyle/>
          <a:p>
            <a:pPr indent="0" marL="0">
              <a:buNone/>
            </a:pPr>
            <a:r>
              <a:rPr lang="en-US" sz="4800" b="1" dirty="0">
                <a:solidFill>
                  <a:schemeClr val="accent3"/>
                </a:solidFill>
              </a:rPr>
              <a:t>±2 cm</a:t>
            </a:r>
            <a:endParaRPr lang="en-US" sz="4800" dirty="0"/>
          </a:p>
        </p:txBody>
      </p:sp>
      <p:sp>
        <p:nvSpPr>
          <p:cNvPr id="13" name="Text 11"/>
          <p:cNvSpPr txBox="1"/>
          <p:nvPr/>
        </p:nvSpPr>
        <p:spPr>
          <a:xfrm>
            <a:off x="8321040" y="2880360"/>
            <a:ext cx="2926080" cy="411480"/>
          </a:xfrm>
          <a:prstGeom prst="rect">
            <a:avLst/>
          </a:prstGeom>
          <a:noFill/>
          <a:ln/>
        </p:spPr>
        <p:txBody>
          <a:bodyPr wrap="square" lIns="0" tIns="0" rIns="0" bIns="0" rtlCol="0" anchor="ctr"/>
          <a:lstStyle/>
          <a:p>
            <a:pPr indent="0" marL="0">
              <a:buNone/>
            </a:pPr>
            <a:r>
              <a:rPr lang="en-US" sz="1800" b="1" dirty="0">
                <a:solidFill>
                  <a:schemeClr val="tx1"/>
                </a:solidFill>
              </a:rPr>
              <a:t>alignment tolerance</a:t>
            </a:r>
            <a:endParaRPr lang="en-US" sz="1800" dirty="0"/>
          </a:p>
        </p:txBody>
      </p:sp>
      <p:sp>
        <p:nvSpPr>
          <p:cNvPr id="14" name="Text 12"/>
          <p:cNvSpPr txBox="1"/>
          <p:nvPr/>
        </p:nvSpPr>
        <p:spPr>
          <a:xfrm>
            <a:off x="8321040" y="3474720"/>
            <a:ext cx="2926080" cy="731520"/>
          </a:xfrm>
          <a:prstGeom prst="rect">
            <a:avLst/>
          </a:prstGeom>
          <a:noFill/>
          <a:ln/>
        </p:spPr>
        <p:txBody>
          <a:bodyPr wrap="square" lIns="0" tIns="0" rIns="0" bIns="0" rtlCol="0" anchor="t"/>
          <a:lstStyle/>
          <a:p>
            <a:pPr indent="0" marL="0">
              <a:buNone/>
            </a:pPr>
            <a:r>
              <a:rPr lang="en-US" sz="1400" dirty="0">
                <a:solidFill>
                  <a:schemeClr val="tx2"/>
                </a:solidFill>
              </a:rPr>
              <a:t>lateral ±2 cm and heading ±1° still 95–98%; ±4 cm or ±2° fails</a:t>
            </a:r>
            <a:endParaRPr lang="en-US" sz="1400" dirty="0"/>
          </a:p>
        </p:txBody>
      </p:sp>
      <p:sp>
        <p:nvSpPr>
          <p:cNvPr id="15" name="Text 13"/>
          <p:cNvSpPr txBox="1"/>
          <p:nvPr/>
        </p:nvSpPr>
        <p:spPr>
          <a:xfrm>
            <a:off x="548640" y="4754880"/>
            <a:ext cx="11094415" cy="914400"/>
          </a:xfrm>
          <a:prstGeom prst="rect">
            <a:avLst/>
          </a:prstGeom>
          <a:noFill/>
          <a:ln/>
        </p:spPr>
        <p:txBody>
          <a:bodyPr wrap="square" lIns="0" tIns="0" rIns="0" bIns="0" rtlCol="0" anchor="t"/>
          <a:lstStyle/>
          <a:p>
            <a:pPr indent="0" marL="0">
              <a:buNone/>
            </a:pPr>
            <a:r>
              <a:rPr lang="en-US" sz="1600" b="1" dirty="0">
                <a:solidFill>
                  <a:schemeClr val="tx1"/>
                </a:solidFill>
              </a:rPr>
              <a:t>Bottom line: </a:t>
            </a:r>
            <a:pPr indent="0" marL="0">
              <a:buNone/>
            </a:pPr>
            <a:r>
              <a:rPr lang="en-US" sz="1600" dirty="0">
                <a:solidFill>
                  <a:schemeClr val="tx1"/>
                </a:solidFill>
              </a:rPr>
              <a:t>the physics of the scoop itself is solved in sim. The remaining risk is getting the robot lined up with the ball, which needs closed-loop alignment, and then transfer to the real robot.</a:t>
            </a:r>
            <a:endParaRPr lang="en-US" sz="16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simulated robot is built from measured real-robot numbers</a:t>
            </a:r>
            <a:endParaRPr lang="en-US" sz="3000" dirty="0"/>
          </a:p>
        </p:txBody>
      </p:sp>
      <p:pic>
        <p:nvPicPr>
          <p:cNvPr id="3" name="side-view" descr="/tmp/claude-1000/-home-yifan-IsaacLab/02e1a1d7-61f9-5921-a435-b68e19ec6560/scratchpad/deck/img/frame_contact_side.png">    </p:cNvPr>
          <p:cNvPicPr>
            <a:picLocks noChangeAspect="1"/>
          </p:cNvPicPr>
          <p:nvPr/>
        </p:nvPicPr>
        <p:blipFill>
          <a:blip r:embed="rId1"/>
          <a:stretch>
            <a:fillRect/>
          </a:stretch>
        </p:blipFill>
        <p:spPr>
          <a:xfrm>
            <a:off x="548640" y="1371600"/>
            <a:ext cx="5486400" cy="3081403"/>
          </a:xfrm>
          <a:prstGeom prst="rect">
            <a:avLst/>
          </a:prstGeom>
        </p:spPr>
      </p:pic>
      <p:sp>
        <p:nvSpPr>
          <p:cNvPr id="4" name="Text 1"/>
          <p:cNvSpPr txBox="1"/>
          <p:nvPr/>
        </p:nvSpPr>
        <p:spPr>
          <a:xfrm>
            <a:off x="548640" y="4544443"/>
            <a:ext cx="5486400" cy="320040"/>
          </a:xfrm>
          <a:prstGeom prst="rect">
            <a:avLst/>
          </a:prstGeom>
          <a:noFill/>
          <a:ln/>
        </p:spPr>
        <p:txBody>
          <a:bodyPr wrap="square" lIns="0" tIns="0" rIns="0" bIns="0" rtlCol="0" anchor="ctr"/>
          <a:lstStyle/>
          <a:p>
            <a:pPr indent="0" marL="0">
              <a:buNone/>
            </a:pPr>
            <a:r>
              <a:rPr lang="en-US" sz="1100" i="1" dirty="0">
                <a:solidFill>
                  <a:schemeClr val="accent6"/>
                </a:solidFill>
              </a:rPr>
              <a:t>Side view at the moment of contact (t = 0.9 s): the lip presses on the floor and the ball enters the pocket</a:t>
            </a:r>
            <a:endParaRPr lang="en-US" sz="1100" dirty="0"/>
          </a:p>
        </p:txBody>
      </p:sp>
      <p:sp>
        <p:nvSpPr>
          <p:cNvPr id="5" name="Text 2"/>
          <p:cNvSpPr txBox="1"/>
          <p:nvPr/>
        </p:nvSpPr>
        <p:spPr>
          <a:xfrm>
            <a:off x="6492240" y="14173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Base</a:t>
            </a:r>
            <a:endParaRPr lang="en-US" sz="1600" dirty="0"/>
          </a:p>
        </p:txBody>
      </p:sp>
      <p:sp>
        <p:nvSpPr>
          <p:cNvPr id="6" name="Text 3"/>
          <p:cNvSpPr txBox="1"/>
          <p:nvPr/>
        </p:nvSpPr>
        <p:spPr>
          <a:xfrm>
            <a:off x="7680960" y="1417320"/>
            <a:ext cx="3931920" cy="777240"/>
          </a:xfrm>
          <a:prstGeom prst="rect">
            <a:avLst/>
          </a:prstGeom>
          <a:noFill/>
          <a:ln/>
        </p:spPr>
        <p:txBody>
          <a:bodyPr wrap="square" lIns="0" tIns="0" rIns="0" bIns="0" rtlCol="0" anchor="t"/>
          <a:lstStyle/>
          <a:p>
            <a:pPr indent="0" marL="0">
              <a:buNone/>
            </a:pPr>
            <a:r>
              <a:rPr lang="en-US" sz="1400" dirty="0">
                <a:solidFill>
                  <a:schemeClr val="tx1"/>
                </a:solidFill>
              </a:rPr>
              <a:t>Wheel-driven RoboMaster, 4.14 kg total; 1.5 m/s² accel, ≤2 m/s; ±10% speed error</a:t>
            </a:r>
            <a:endParaRPr lang="en-US" sz="1400" dirty="0"/>
          </a:p>
        </p:txBody>
      </p:sp>
      <p:sp>
        <p:nvSpPr>
          <p:cNvPr id="7" name="Text 4"/>
          <p:cNvSpPr txBox="1"/>
          <p:nvPr/>
        </p:nvSpPr>
        <p:spPr>
          <a:xfrm>
            <a:off x="6492240" y="23317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Arm</a:t>
            </a:r>
            <a:endParaRPr lang="en-US" sz="1600" dirty="0"/>
          </a:p>
        </p:txBody>
      </p:sp>
      <p:sp>
        <p:nvSpPr>
          <p:cNvPr id="8" name="Text 5"/>
          <p:cNvSpPr txBox="1"/>
          <p:nvPr/>
        </p:nvSpPr>
        <p:spPr>
          <a:xfrm>
            <a:off x="7680960" y="2331720"/>
            <a:ext cx="3931920" cy="777240"/>
          </a:xfrm>
          <a:prstGeom prst="rect">
            <a:avLst/>
          </a:prstGeom>
          <a:noFill/>
          <a:ln/>
        </p:spPr>
        <p:txBody>
          <a:bodyPr wrap="square" lIns="0" tIns="0" rIns="0" bIns="0" rtlCol="0" anchor="t"/>
          <a:lstStyle/>
          <a:p>
            <a:pPr indent="0" marL="0">
              <a:buNone/>
            </a:pPr>
            <a:r>
              <a:rPr lang="en-US" sz="1400" dirty="0">
                <a:solidFill>
                  <a:schemeClr val="tx1"/>
                </a:solidFill>
              </a:rPr>
              <a:t>Shoulder on chassis, elbow motor at the elbow; link 1: 0.30 m, 0.68 kg incl. motor</a:t>
            </a:r>
            <a:endParaRPr lang="en-US" sz="1400" dirty="0"/>
          </a:p>
        </p:txBody>
      </p:sp>
      <p:sp>
        <p:nvSpPr>
          <p:cNvPr id="9" name="Text 6"/>
          <p:cNvSpPr txBox="1"/>
          <p:nvPr/>
        </p:nvSpPr>
        <p:spPr>
          <a:xfrm>
            <a:off x="6492240" y="32461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Stick</a:t>
            </a:r>
            <a:endParaRPr lang="en-US" sz="1600" dirty="0"/>
          </a:p>
        </p:txBody>
      </p:sp>
      <p:sp>
        <p:nvSpPr>
          <p:cNvPr id="10" name="Text 7"/>
          <p:cNvSpPr txBox="1"/>
          <p:nvPr/>
        </p:nvSpPr>
        <p:spPr>
          <a:xfrm>
            <a:off x="7680960" y="3246120"/>
            <a:ext cx="3931920" cy="777240"/>
          </a:xfrm>
          <a:prstGeom prst="rect">
            <a:avLst/>
          </a:prstGeom>
          <a:noFill/>
          <a:ln/>
        </p:spPr>
        <p:txBody>
          <a:bodyPr wrap="square" lIns="0" tIns="0" rIns="0" bIns="0" rtlCol="0" anchor="t"/>
          <a:lstStyle/>
          <a:p>
            <a:pPr indent="0" marL="0">
              <a:buNone/>
            </a:pPr>
            <a:r>
              <a:rPr lang="en-US" sz="1400" dirty="0">
                <a:solidFill>
                  <a:schemeClr val="tx1"/>
                </a:solidFill>
              </a:rPr>
              <a:t>1.146 m, 0.457 kg, CoM 0.142 m ahead of the elbow</a:t>
            </a:r>
            <a:endParaRPr lang="en-US" sz="1400" dirty="0"/>
          </a:p>
        </p:txBody>
      </p:sp>
      <p:sp>
        <p:nvSpPr>
          <p:cNvPr id="11" name="Text 8"/>
          <p:cNvSpPr txBox="1"/>
          <p:nvPr/>
        </p:nvSpPr>
        <p:spPr>
          <a:xfrm>
            <a:off x="6492240" y="41605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Motors</a:t>
            </a:r>
            <a:endParaRPr lang="en-US" sz="1600" dirty="0"/>
          </a:p>
        </p:txBody>
      </p:sp>
      <p:sp>
        <p:nvSpPr>
          <p:cNvPr id="12" name="Text 9"/>
          <p:cNvSpPr txBox="1"/>
          <p:nvPr/>
        </p:nvSpPr>
        <p:spPr>
          <a:xfrm>
            <a:off x="7680960" y="4160520"/>
            <a:ext cx="3931920" cy="777240"/>
          </a:xfrm>
          <a:prstGeom prst="rect">
            <a:avLst/>
          </a:prstGeom>
          <a:noFill/>
          <a:ln/>
        </p:spPr>
        <p:txBody>
          <a:bodyPr wrap="square" lIns="0" tIns="0" rIns="0" bIns="0" rtlCol="0" anchor="t"/>
          <a:lstStyle/>
          <a:p>
            <a:pPr indent="0" marL="0">
              <a:buNone/>
            </a:pPr>
            <a:r>
              <a:rPr lang="en-US" sz="1400" dirty="0">
                <a:solidFill>
                  <a:schemeClr val="tx1"/>
                </a:solidFill>
              </a:rPr>
              <a:t>MIT control: Kp 10 / 25, Kd 3, 4 N·m and 5 rad/s limits, gravity-comp feed-forward</a:t>
            </a:r>
            <a:endParaRPr lang="en-US" sz="1400" dirty="0"/>
          </a:p>
        </p:txBody>
      </p:sp>
      <p:sp>
        <p:nvSpPr>
          <p:cNvPr id="13" name="Text 10"/>
          <p:cNvSpPr txBox="1"/>
          <p:nvPr/>
        </p:nvSpPr>
        <p:spPr>
          <a:xfrm>
            <a:off x="6492240" y="5074920"/>
            <a:ext cx="1188720" cy="731520"/>
          </a:xfrm>
          <a:prstGeom prst="rect">
            <a:avLst/>
          </a:prstGeom>
          <a:noFill/>
          <a:ln/>
        </p:spPr>
        <p:txBody>
          <a:bodyPr wrap="square" lIns="0" tIns="0" rIns="0" bIns="0" rtlCol="0" anchor="t"/>
          <a:lstStyle/>
          <a:p>
            <a:pPr indent="0" marL="0">
              <a:buNone/>
            </a:pPr>
            <a:r>
              <a:rPr lang="en-US" sz="1600" b="1" dirty="0">
                <a:solidFill>
                  <a:schemeClr val="accent3"/>
                </a:solidFill>
              </a:rPr>
              <a:t>Task</a:t>
            </a:r>
            <a:endParaRPr lang="en-US" sz="1600" dirty="0"/>
          </a:p>
        </p:txBody>
      </p:sp>
      <p:sp>
        <p:nvSpPr>
          <p:cNvPr id="14" name="Text 11"/>
          <p:cNvSpPr txBox="1"/>
          <p:nvPr/>
        </p:nvSpPr>
        <p:spPr>
          <a:xfrm>
            <a:off x="7680960" y="5074920"/>
            <a:ext cx="3931920" cy="777240"/>
          </a:xfrm>
          <a:prstGeom prst="rect">
            <a:avLst/>
          </a:prstGeom>
          <a:noFill/>
          <a:ln/>
        </p:spPr>
        <p:txBody>
          <a:bodyPr wrap="square" lIns="0" tIns="0" rIns="0" bIns="0" rtlCol="0" anchor="t"/>
          <a:lstStyle/>
          <a:p>
            <a:pPr indent="0" marL="0">
              <a:buNone/>
            </a:pPr>
            <a:r>
              <a:rPr lang="en-US" sz="1400" dirty="0">
                <a:solidFill>
                  <a:schemeClr val="tx1"/>
                </a:solidFill>
              </a:rPr>
              <a:t>Ball (≈140 g, r 32 mm) at rest ~1 m ahead; success = ball held in the net, off the ground</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Pure RL kept falling into local optima, so we switched approach</a:t>
            </a:r>
            <a:endParaRPr lang="en-US" sz="3000" dirty="0"/>
          </a:p>
        </p:txBody>
      </p:sp>
      <p:sp>
        <p:nvSpPr>
          <p:cNvPr id="3" name="Shape 1"/>
          <p:cNvSpPr/>
          <p:nvPr/>
        </p:nvSpPr>
        <p:spPr>
          <a:xfrm>
            <a:off x="548640" y="1463040"/>
            <a:ext cx="2560320" cy="4206240"/>
          </a:xfrm>
          <a:prstGeom prst="roundRect">
            <a:avLst>
              <a:gd name="adj" fmla="val 2857"/>
            </a:avLst>
          </a:prstGeom>
          <a:solidFill>
            <a:schemeClr val="bg2"/>
          </a:solidFill>
          <a:ln/>
        </p:spPr>
      </p:sp>
      <p:sp>
        <p:nvSpPr>
          <p:cNvPr id="4" name="Shape 2"/>
          <p:cNvSpPr/>
          <p:nvPr/>
        </p:nvSpPr>
        <p:spPr>
          <a:xfrm>
            <a:off x="777240" y="1737360"/>
            <a:ext cx="420624" cy="420624"/>
          </a:xfrm>
          <a:prstGeom prst="ellipse">
            <a:avLst/>
          </a:prstGeom>
          <a:solidFill>
            <a:schemeClr val="accent1"/>
          </a:solidFill>
          <a:ln/>
        </p:spPr>
      </p:sp>
      <p:sp>
        <p:nvSpPr>
          <p:cNvPr id="5" name="Text 3"/>
          <p:cNvSpPr txBox="1"/>
          <p:nvPr/>
        </p:nvSpPr>
        <p:spPr>
          <a:xfrm>
            <a:off x="777240" y="1737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77240"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Fix the sim first</a:t>
            </a:r>
            <a:endParaRPr lang="en-US" sz="1800" dirty="0"/>
          </a:p>
        </p:txBody>
      </p:sp>
      <p:sp>
        <p:nvSpPr>
          <p:cNvPr id="7" name="Text 5"/>
          <p:cNvSpPr txBox="1"/>
          <p:nvPr/>
        </p:nvSpPr>
        <p:spPr>
          <a:xfrm>
            <a:off x="777240"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Contact stack overflow at 8192 envs dropped contacts; the first policy exploited it. Spawn height and ball placement were also fixed.</a:t>
            </a:r>
            <a:endParaRPr lang="en-US" sz="1400" dirty="0"/>
          </a:p>
        </p:txBody>
      </p:sp>
      <p:sp>
        <p:nvSpPr>
          <p:cNvPr id="8" name="Shape 6"/>
          <p:cNvSpPr/>
          <p:nvPr/>
        </p:nvSpPr>
        <p:spPr>
          <a:xfrm>
            <a:off x="3355848" y="1463040"/>
            <a:ext cx="2560320" cy="4206240"/>
          </a:xfrm>
          <a:prstGeom prst="roundRect">
            <a:avLst>
              <a:gd name="adj" fmla="val 2857"/>
            </a:avLst>
          </a:prstGeom>
          <a:solidFill>
            <a:schemeClr val="bg2"/>
          </a:solidFill>
          <a:ln/>
        </p:spPr>
      </p:sp>
      <p:sp>
        <p:nvSpPr>
          <p:cNvPr id="9" name="Shape 7"/>
          <p:cNvSpPr/>
          <p:nvPr/>
        </p:nvSpPr>
        <p:spPr>
          <a:xfrm>
            <a:off x="3584448" y="1737360"/>
            <a:ext cx="420624" cy="420624"/>
          </a:xfrm>
          <a:prstGeom prst="ellipse">
            <a:avLst/>
          </a:prstGeom>
          <a:solidFill>
            <a:schemeClr val="accent1"/>
          </a:solidFill>
          <a:ln/>
        </p:spPr>
      </p:sp>
      <p:sp>
        <p:nvSpPr>
          <p:cNvPr id="10" name="Text 8"/>
          <p:cNvSpPr txBox="1"/>
          <p:nvPr/>
        </p:nvSpPr>
        <p:spPr>
          <a:xfrm>
            <a:off x="3584448" y="1737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3584448"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Shape the reward</a:t>
            </a:r>
            <a:endParaRPr lang="en-US" sz="1800" dirty="0"/>
          </a:p>
        </p:txBody>
      </p:sp>
      <p:sp>
        <p:nvSpPr>
          <p:cNvPr id="12" name="Text 10"/>
          <p:cNvSpPr txBox="1"/>
          <p:nvPr/>
        </p:nvSpPr>
        <p:spPr>
          <a:xfrm>
            <a:off x="3584448"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Policies folded the arm into a corner covering the ball. Fixed with a lip-to-ball reach term, arm range limits and a 2-stage curriculum.</a:t>
            </a:r>
            <a:endParaRPr lang="en-US" sz="1400" dirty="0"/>
          </a:p>
        </p:txBody>
      </p:sp>
      <p:sp>
        <p:nvSpPr>
          <p:cNvPr id="13" name="Shape 11"/>
          <p:cNvSpPr/>
          <p:nvPr/>
        </p:nvSpPr>
        <p:spPr>
          <a:xfrm>
            <a:off x="6163056" y="1463040"/>
            <a:ext cx="2560320" cy="4206240"/>
          </a:xfrm>
          <a:prstGeom prst="roundRect">
            <a:avLst>
              <a:gd name="adj" fmla="val 2857"/>
            </a:avLst>
          </a:prstGeom>
          <a:solidFill>
            <a:schemeClr val="bg2"/>
          </a:solidFill>
          <a:ln/>
        </p:spPr>
      </p:sp>
      <p:sp>
        <p:nvSpPr>
          <p:cNvPr id="14" name="Shape 12"/>
          <p:cNvSpPr/>
          <p:nvPr/>
        </p:nvSpPr>
        <p:spPr>
          <a:xfrm>
            <a:off x="6391656" y="1737360"/>
            <a:ext cx="420624" cy="420624"/>
          </a:xfrm>
          <a:prstGeom prst="ellipse">
            <a:avLst/>
          </a:prstGeom>
          <a:solidFill>
            <a:schemeClr val="accent1"/>
          </a:solidFill>
          <a:ln/>
        </p:spPr>
      </p:sp>
      <p:sp>
        <p:nvSpPr>
          <p:cNvPr id="15" name="Text 13"/>
          <p:cNvSpPr txBox="1"/>
          <p:nvPr/>
        </p:nvSpPr>
        <p:spPr>
          <a:xfrm>
            <a:off x="6391656" y="1737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6391656"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Stage 1 worked, partly</a:t>
            </a:r>
            <a:endParaRPr lang="en-US" sz="1800" dirty="0"/>
          </a:p>
        </p:txBody>
      </p:sp>
      <p:sp>
        <p:nvSpPr>
          <p:cNvPr id="17" name="Text 15"/>
          <p:cNvSpPr txBox="1"/>
          <p:nvPr/>
        </p:nvSpPr>
        <p:spPr>
          <a:xfrm>
            <a:off x="6391656"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Arm locked, forward-only: ball popped onto the net 99.4%, but the robot hit at 1.23 m/s and 32% of balls were carried out of the 3 m arena.</a:t>
            </a:r>
            <a:endParaRPr lang="en-US" sz="1400" dirty="0"/>
          </a:p>
        </p:txBody>
      </p:sp>
      <p:sp>
        <p:nvSpPr>
          <p:cNvPr id="18" name="Shape 16"/>
          <p:cNvSpPr/>
          <p:nvPr/>
        </p:nvSpPr>
        <p:spPr>
          <a:xfrm>
            <a:off x="8970264" y="1463040"/>
            <a:ext cx="2560320" cy="4206240"/>
          </a:xfrm>
          <a:prstGeom prst="roundRect">
            <a:avLst>
              <a:gd name="adj" fmla="val 2857"/>
            </a:avLst>
          </a:prstGeom>
          <a:solidFill>
            <a:schemeClr val="bg2"/>
          </a:solidFill>
          <a:ln/>
        </p:spPr>
      </p:sp>
      <p:sp>
        <p:nvSpPr>
          <p:cNvPr id="19" name="Shape 17"/>
          <p:cNvSpPr/>
          <p:nvPr/>
        </p:nvSpPr>
        <p:spPr>
          <a:xfrm>
            <a:off x="9198864" y="1737360"/>
            <a:ext cx="420624" cy="420624"/>
          </a:xfrm>
          <a:prstGeom prst="ellipse">
            <a:avLst/>
          </a:prstGeom>
          <a:solidFill>
            <a:schemeClr val="accent3"/>
          </a:solidFill>
          <a:ln/>
        </p:spPr>
      </p:sp>
      <p:sp>
        <p:nvSpPr>
          <p:cNvPr id="20" name="Text 18"/>
          <p:cNvSpPr txBox="1"/>
          <p:nvPr/>
        </p:nvSpPr>
        <p:spPr>
          <a:xfrm>
            <a:off x="9198864" y="17373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9198864" y="233172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Stage 2 failed</a:t>
            </a:r>
            <a:endParaRPr lang="en-US" sz="1800" dirty="0"/>
          </a:p>
        </p:txBody>
      </p:sp>
      <p:sp>
        <p:nvSpPr>
          <p:cNvPr id="22" name="Text 20"/>
          <p:cNvSpPr txBox="1"/>
          <p:nvPr/>
        </p:nvSpPr>
        <p:spPr>
          <a:xfrm>
            <a:off x="9198864" y="3017520"/>
            <a:ext cx="2103120" cy="2560320"/>
          </a:xfrm>
          <a:prstGeom prst="rect">
            <a:avLst/>
          </a:prstGeom>
          <a:noFill/>
          <a:ln/>
        </p:spPr>
        <p:txBody>
          <a:bodyPr wrap="square" lIns="0" tIns="0" rIns="0" bIns="0" rtlCol="0" anchor="t"/>
          <a:lstStyle/>
          <a:p>
            <a:pPr indent="0" marL="0">
              <a:buNone/>
            </a:pPr>
            <a:r>
              <a:rPr lang="en-US" sz="1400" dirty="0">
                <a:solidFill>
                  <a:schemeClr val="tx2"/>
                </a:solidFill>
              </a:rPr>
              <a:t>Unlocking the arm: untrained arm outputs raised the stick before impact. We stopped and switched to an open-loop trajectory (residual RL kept for later).</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scoop is a 5-parameter open-loop trajectory found by grid search</a:t>
            </a:r>
            <a:endParaRPr lang="en-US" sz="3000" dirty="0"/>
          </a:p>
        </p:txBody>
      </p:sp>
      <p:sp>
        <p:nvSpPr>
          <p:cNvPr id="3" name="Shape 1"/>
          <p:cNvSpPr/>
          <p:nvPr/>
        </p:nvSpPr>
        <p:spPr>
          <a:xfrm>
            <a:off x="548640" y="1417320"/>
            <a:ext cx="2514600" cy="548640"/>
          </a:xfrm>
          <a:prstGeom prst="chevron">
            <a:avLst/>
          </a:prstGeom>
          <a:solidFill>
            <a:schemeClr val="tx2"/>
          </a:solidFill>
          <a:ln/>
        </p:spPr>
      </p:sp>
      <p:sp>
        <p:nvSpPr>
          <p:cNvPr id="4" name="Text 2"/>
          <p:cNvSpPr txBox="1"/>
          <p:nvPr/>
        </p:nvSpPr>
        <p:spPr>
          <a:xfrm>
            <a:off x="822960"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Drive</a:t>
            </a:r>
            <a:endParaRPr lang="en-US" sz="1600" dirty="0"/>
          </a:p>
        </p:txBody>
      </p:sp>
      <p:sp>
        <p:nvSpPr>
          <p:cNvPr id="5" name="Text 3"/>
          <p:cNvSpPr txBox="1"/>
          <p:nvPr/>
        </p:nvSpPr>
        <p:spPr>
          <a:xfrm>
            <a:off x="548640"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ramp to v = 0.9 m/s</a:t>
            </a:r>
            <a:endParaRPr lang="en-US" sz="1400" dirty="0"/>
          </a:p>
        </p:txBody>
      </p:sp>
      <p:sp>
        <p:nvSpPr>
          <p:cNvPr id="6" name="Shape 4"/>
          <p:cNvSpPr/>
          <p:nvPr/>
        </p:nvSpPr>
        <p:spPr>
          <a:xfrm>
            <a:off x="3355848" y="1417320"/>
            <a:ext cx="2514600" cy="548640"/>
          </a:xfrm>
          <a:prstGeom prst="chevron">
            <a:avLst/>
          </a:prstGeom>
          <a:solidFill>
            <a:schemeClr val="tx2"/>
          </a:solidFill>
          <a:ln/>
        </p:spPr>
      </p:sp>
      <p:sp>
        <p:nvSpPr>
          <p:cNvPr id="7" name="Text 5"/>
          <p:cNvSpPr txBox="1"/>
          <p:nvPr/>
        </p:nvSpPr>
        <p:spPr>
          <a:xfrm>
            <a:off x="3630168"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Press</a:t>
            </a:r>
            <a:endParaRPr lang="en-US" sz="1600" dirty="0"/>
          </a:p>
        </p:txBody>
      </p:sp>
      <p:sp>
        <p:nvSpPr>
          <p:cNvPr id="8" name="Text 6"/>
          <p:cNvSpPr txBox="1"/>
          <p:nvPr/>
        </p:nvSpPr>
        <p:spPr>
          <a:xfrm>
            <a:off x="3355848"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elbow FF −1.0 N·m holds the lip on the floor</a:t>
            </a:r>
            <a:endParaRPr lang="en-US" sz="1400" dirty="0"/>
          </a:p>
        </p:txBody>
      </p:sp>
      <p:sp>
        <p:nvSpPr>
          <p:cNvPr id="9" name="Shape 7"/>
          <p:cNvSpPr/>
          <p:nvPr/>
        </p:nvSpPr>
        <p:spPr>
          <a:xfrm>
            <a:off x="6163056" y="1417320"/>
            <a:ext cx="2514600" cy="548640"/>
          </a:xfrm>
          <a:prstGeom prst="chevron">
            <a:avLst/>
          </a:prstGeom>
          <a:solidFill>
            <a:schemeClr val="accent2"/>
          </a:solidFill>
          <a:ln/>
        </p:spPr>
      </p:sp>
      <p:sp>
        <p:nvSpPr>
          <p:cNvPr id="10" name="Text 8"/>
          <p:cNvSpPr txBox="1"/>
          <p:nvPr/>
        </p:nvSpPr>
        <p:spPr>
          <a:xfrm>
            <a:off x="6437376"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Lift</a:t>
            </a:r>
            <a:endParaRPr lang="en-US" sz="1600" dirty="0"/>
          </a:p>
        </p:txBody>
      </p:sp>
      <p:sp>
        <p:nvSpPr>
          <p:cNvPr id="11" name="Text 9"/>
          <p:cNvSpPr txBox="1"/>
          <p:nvPr/>
        </p:nvSpPr>
        <p:spPr>
          <a:xfrm>
            <a:off x="6163056"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at t = 0.9 s, 1 rad/s ramp: shoulder +0.3, elbow +0.7 rad</a:t>
            </a:r>
            <a:endParaRPr lang="en-US" sz="1400" dirty="0"/>
          </a:p>
        </p:txBody>
      </p:sp>
      <p:sp>
        <p:nvSpPr>
          <p:cNvPr id="12" name="Shape 10"/>
          <p:cNvSpPr/>
          <p:nvPr/>
        </p:nvSpPr>
        <p:spPr>
          <a:xfrm>
            <a:off x="8970264" y="1417320"/>
            <a:ext cx="2514600" cy="548640"/>
          </a:xfrm>
          <a:prstGeom prst="chevron">
            <a:avLst/>
          </a:prstGeom>
          <a:solidFill>
            <a:schemeClr val="tx2"/>
          </a:solidFill>
          <a:ln/>
        </p:spPr>
      </p:sp>
      <p:sp>
        <p:nvSpPr>
          <p:cNvPr id="13" name="Text 11"/>
          <p:cNvSpPr txBox="1"/>
          <p:nvPr/>
        </p:nvSpPr>
        <p:spPr>
          <a:xfrm>
            <a:off x="9244584" y="1417320"/>
            <a:ext cx="1965960" cy="548640"/>
          </a:xfrm>
          <a:prstGeom prst="rect">
            <a:avLst/>
          </a:prstGeom>
          <a:noFill/>
          <a:ln/>
        </p:spPr>
        <p:txBody>
          <a:bodyPr wrap="square" lIns="0" tIns="0" rIns="0" bIns="0" rtlCol="0" anchor="ctr"/>
          <a:lstStyle/>
          <a:p>
            <a:pPr algn="ctr" indent="0" marL="0">
              <a:buNone/>
            </a:pPr>
            <a:r>
              <a:rPr lang="en-US" sz="1600" b="1" dirty="0">
                <a:solidFill>
                  <a:schemeClr val="bg1"/>
                </a:solidFill>
              </a:rPr>
              <a:t>Brake</a:t>
            </a:r>
            <a:endParaRPr lang="en-US" sz="1600" dirty="0"/>
          </a:p>
        </p:txBody>
      </p:sp>
      <p:sp>
        <p:nvSpPr>
          <p:cNvPr id="14" name="Text 12"/>
          <p:cNvSpPr txBox="1"/>
          <p:nvPr/>
        </p:nvSpPr>
        <p:spPr>
          <a:xfrm>
            <a:off x="8970264" y="2057400"/>
            <a:ext cx="2514600" cy="548640"/>
          </a:xfrm>
          <a:prstGeom prst="rect">
            <a:avLst/>
          </a:prstGeom>
          <a:noFill/>
          <a:ln/>
        </p:spPr>
        <p:txBody>
          <a:bodyPr wrap="square" lIns="0" tIns="0" rIns="0" bIns="0" rtlCol="0" anchor="t"/>
          <a:lstStyle/>
          <a:p>
            <a:pPr algn="ctr" indent="0" marL="0">
              <a:buNone/>
            </a:pPr>
            <a:r>
              <a:rPr lang="en-US" sz="1400" dirty="0">
                <a:solidFill>
                  <a:schemeClr val="tx1"/>
                </a:solidFill>
              </a:rPr>
              <a:t>stop driving 1.0 s after lift</a:t>
            </a:r>
            <a:endParaRPr lang="en-US" sz="1400" dirty="0"/>
          </a:p>
        </p:txBody>
      </p:sp>
      <p:pic>
        <p:nvPicPr>
          <p:cNvPr id="15" name="timeseries" descr="/tmp/claude-1000/-home-yifan-IsaacLab/02e1a1d7-61f9-5921-a435-b68e19ec6560/scratchpad/deck/img/trajectory_timeseries.png">    </p:cNvPr>
          <p:cNvPicPr>
            <a:picLocks noChangeAspect="1"/>
          </p:cNvPicPr>
          <p:nvPr/>
        </p:nvPicPr>
        <p:blipFill>
          <a:blip r:embed="rId1"/>
          <a:stretch>
            <a:fillRect/>
          </a:stretch>
        </p:blipFill>
        <p:spPr>
          <a:xfrm>
            <a:off x="548640" y="2788920"/>
            <a:ext cx="4047027" cy="3822192"/>
          </a:xfrm>
          <a:prstGeom prst="rect">
            <a:avLst/>
          </a:prstGeom>
        </p:spPr>
      </p:pic>
      <p:sp>
        <p:nvSpPr>
          <p:cNvPr id="16" name="Text 13"/>
          <p:cNvSpPr txBox="1"/>
          <p:nvPr/>
        </p:nvSpPr>
        <p:spPr>
          <a:xfrm>
            <a:off x="5029200" y="2834640"/>
            <a:ext cx="6613855" cy="347472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How the search works</a:t>
            </a:r>
            <a:endParaRPr lang="en-US" sz="1400" dirty="0"/>
          </a:p>
          <a:p>
            <a:pPr marL="342900" indent="-342900">
              <a:spcAft>
                <a:spcPts val="800"/>
              </a:spcAft>
              <a:buSzPct val="100000"/>
              <a:buChar char="•"/>
            </a:pPr>
            <a:r>
              <a:rPr lang="en-US" sz="1400" dirty="0">
                <a:solidFill>
                  <a:schemeClr val="tx2"/>
                </a:solidFill>
              </a:rPr>
              <a:t>Grid over speed, lift time, lift rate, joint targets, brake delay and press torque; each combo run in many parallel envs</a:t>
            </a:r>
            <a:endParaRPr lang="en-US" sz="1400" dirty="0"/>
          </a:p>
          <a:p>
            <a:pPr marL="342900" indent="-342900">
              <a:spcAft>
                <a:spcPts val="800"/>
              </a:spcAft>
              <a:buSzPct val="100000"/>
              <a:buChar char="•"/>
            </a:pPr>
            <a:r>
              <a:rPr lang="en-US" sz="1400" dirty="0">
                <a:solidFill>
                  <a:schemeClr val="tx2"/>
                </a:solidFill>
              </a:rPr>
              <a:t>Top combos re-validated with 150–500 randomized runs</a:t>
            </a:r>
            <a:endParaRPr lang="en-US" sz="1400" dirty="0"/>
          </a:p>
          <a:p>
            <a:pPr marL="342900" indent="-342900">
              <a:spcAft>
                <a:spcPts val="800"/>
              </a:spcAft>
              <a:buSzPct val="100000"/>
              <a:buChar char="•"/>
            </a:pPr>
            <a:r>
              <a:rPr lang="en-US" sz="1400" dirty="0">
                <a:solidFill>
                  <a:schemeClr val="tx2"/>
                </a:solidFill>
              </a:rPr>
              <a:t>Final grid run with every uncertainty knob on, so the winner is robust by construction</a:t>
            </a:r>
            <a:endParaRPr lang="en-US" sz="1400" dirty="0"/>
          </a:p>
          <a:p>
            <a:pPr marL="342900" indent="-342900">
              <a:spcAft>
                <a:spcPts val="800"/>
              </a:spcAft>
              <a:buSzPct val="100000"/>
              <a:buChar char="•"/>
            </a:pPr>
            <a:r>
              <a:rPr lang="en-US" sz="1400" b="1" dirty="0">
                <a:solidFill>
                  <a:schemeClr val="tx2"/>
                </a:solidFill>
              </a:rPr>
              <a:t>Key finding: the lip must be on the floor at impact. Lifting it 5 mm drops success to ~0%</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Making the simulator realistic changed which trajectories work</a:t>
            </a:r>
            <a:endParaRPr lang="en-US" sz="3000" dirty="0"/>
          </a:p>
        </p:txBody>
      </p:sp>
      <p:graphicFrame>
        <p:nvGraphicFramePr>
          <p:cNvPr id="7" name="fidelity-table"/>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103120"/>
                <a:gridCol w="3291840"/>
                <a:gridCol w="15544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iteration</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changed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Best trajectory</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solidFill>
                      <a:srgbClr val="3A4149"/>
                    </a:solidFill>
                  </a:tcPr>
                </a:tc>
              </a:tr>
              <a:tr h="566928">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Soft arm PD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Kp 200, Kd 20, 50 N·m (not the real motors)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96.0%  (150 runs)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566928">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Stiff arm PD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Kp 500, Kd 5, 12 N·m: underdamped</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b="1" dirty="0">
                          <a:solidFill>
                            <a:srgbClr val="D64545"/>
                          </a:solidFill>
                          <a:latin typeface="Calibri" pitchFamily="34" charset="0"/>
                          <a:ea typeface="Calibri" pitchFamily="34" charset="-122"/>
                          <a:cs typeface="Calibri" pitchFamily="34" charset="-120"/>
                        </a:rPr>
                        <a:t>5.6% grid best</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566928">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MIT motors + real masses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Kp 10/25, Kd 3, 4 N·m, gravity comp, new press-down torque</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96.0%  (500 runs)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566928">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 realistic base accel</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1.5 m/s² limit, ±10% speed error, re-searched under noise</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dirty="0">
                          <a:solidFill>
                            <a:srgbClr val="1E2226"/>
                          </a:solidFill>
                          <a:latin typeface="Calibri" pitchFamily="34" charset="0"/>
                          <a:ea typeface="Calibri" pitchFamily="34" charset="-122"/>
                          <a:cs typeface="Calibri" pitchFamily="34" charset="-120"/>
                        </a:rPr>
                        <a:t>97.6%  (500 runs)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r h="566928">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Wheel-driven base</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indent="0" marL="0">
                        <a:buNone/>
                      </a:pPr>
                      <a:r>
                        <a:rPr lang="en-US" sz="1300" dirty="0">
                          <a:solidFill>
                            <a:srgbClr val="1E2226"/>
                          </a:solidFill>
                          <a:latin typeface="Calibri" pitchFamily="34" charset="0"/>
                          <a:ea typeface="Calibri" pitchFamily="34" charset="-122"/>
                          <a:cs typeface="Calibri" pitchFamily="34" charset="-120"/>
                        </a:rPr>
                        <a:t>Wheels + exact cylinder colliders, 4.14 kg real mass</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c>
                  <a:txBody>
                    <a:bodyPr/>
                    <a:lstStyle/>
                    <a:p>
                      <a:pPr algn="ctr" indent="0" marL="0">
                        <a:buNone/>
                      </a:pPr>
                      <a:r>
                        <a:rPr lang="en-US" sz="1300" b="1" dirty="0">
                          <a:solidFill>
                            <a:srgbClr val="1B9E77"/>
                          </a:solidFill>
                          <a:latin typeface="Calibri" pitchFamily="34" charset="0"/>
                          <a:ea typeface="Calibri" pitchFamily="34" charset="-122"/>
                          <a:cs typeface="Calibri" pitchFamily="34" charset="-120"/>
                        </a:rPr>
                        <a:t>300 / 300</a:t>
                      </a:r>
                      <a:endParaRPr lang="en-US" sz="1300" dirty="0">
                        <a:latin typeface="Calibri" charset="0"/>
                        <a:ea typeface="Calibri" charset="0"/>
                        <a:cs typeface="Calibri" charset="0"/>
                      </a:endParaRPr>
                    </a:p>
                  </a:txBody>
                  <a:tcPr marL="91440" marR="91440" marT="45720" marB="45720" anchor="ctr">
                    <a:lnL w="9525" cap="flat" cmpd="sng" algn="ctr">
                      <a:solidFill>
                        <a:srgbClr val="D5D9DC"/>
                      </a:solidFill>
                      <a:prstDash val="solid"/>
                      <a:round/>
                      <a:headEnd type="none" w="med" len="med"/>
                      <a:tailEnd type="none" w="med" len="med"/>
                    </a:lnL>
                    <a:lnR w="9525" cap="flat" cmpd="sng" algn="ctr">
                      <a:solidFill>
                        <a:srgbClr val="D5D9DC"/>
                      </a:solidFill>
                      <a:prstDash val="solid"/>
                      <a:round/>
                      <a:headEnd type="none" w="med" len="med"/>
                      <a:tailEnd type="none" w="med" len="med"/>
                    </a:lnR>
                    <a:lnT w="9525" cap="flat" cmpd="sng" algn="ctr">
                      <a:solidFill>
                        <a:srgbClr val="D5D9DC"/>
                      </a:solidFill>
                      <a:prstDash val="solid"/>
                      <a:round/>
                      <a:headEnd type="none" w="med" len="med"/>
                      <a:tailEnd type="none" w="med" len="med"/>
                    </a:lnT>
                    <a:lnB w="9525" cap="flat" cmpd="sng" algn="ctr">
                      <a:solidFill>
                        <a:srgbClr val="D5D9DC"/>
                      </a:solidFill>
                      <a:prstDash val="solid"/>
                      <a:round/>
                      <a:headEnd type="none" w="med" len="med"/>
                      <a:tailEnd type="none" w="med" len="med"/>
                    </a:lnB>
                  </a:tcPr>
                </a:tc>
              </a:tr>
            </a:tbl>
          </a:graphicData>
        </a:graphic>
      </p:graphicFrame>
      <p:sp>
        <p:nvSpPr>
          <p:cNvPr id="4" name="Shape 1"/>
          <p:cNvSpPr/>
          <p:nvPr/>
        </p:nvSpPr>
        <p:spPr>
          <a:xfrm>
            <a:off x="7955280" y="1417320"/>
            <a:ext cx="3657600" cy="4023360"/>
          </a:xfrm>
          <a:prstGeom prst="roundRect">
            <a:avLst>
              <a:gd name="adj" fmla="val 2000"/>
            </a:avLst>
          </a:prstGeom>
          <a:solidFill>
            <a:schemeClr val="bg2"/>
          </a:solidFill>
          <a:ln/>
        </p:spPr>
      </p:sp>
      <p:sp>
        <p:nvSpPr>
          <p:cNvPr id="5" name="Text 2"/>
          <p:cNvSpPr txBox="1"/>
          <p:nvPr/>
        </p:nvSpPr>
        <p:spPr>
          <a:xfrm>
            <a:off x="8183880" y="1645920"/>
            <a:ext cx="3200400" cy="3657600"/>
          </a:xfrm>
          <a:prstGeom prst="rect">
            <a:avLst/>
          </a:prstGeom>
          <a:noFill/>
          <a:ln/>
        </p:spPr>
        <p:txBody>
          <a:bodyPr wrap="square" lIns="0" tIns="0" rIns="0" bIns="0" rtlCol="0" anchor="t"/>
          <a:lstStyle/>
          <a:p>
            <a:pPr indent="0" marL="0">
              <a:buNone/>
            </a:pPr>
            <a:r>
              <a:rPr lang="en-US" sz="1800" b="1" dirty="0">
                <a:solidFill>
                  <a:schemeClr val="tx1"/>
                </a:solidFill>
              </a:rPr>
              <a:t>Base-model artifact</a:t>
            </a:r>
            <a:endParaRPr lang="en-US" sz="1400" dirty="0"/>
          </a:p>
          <a:p>
            <a:pPr indent="0" marL="0">
              <a:buNone/>
            </a:pPr>
            <a:r>
              <a:rPr lang="en-US" sz="1400" dirty="0">
                <a:solidFill>
                  <a:schemeClr val="tx2"/>
                </a:solidFill>
              </a:rPr>
              <a:t>Shoulder torque hit the 4 N·m limit before impact. The cause was not lip drag: the old velocity-overwrite base jittered (accel p50 2.4, max 9.4 m/s²).</a:t>
            </a:r>
            <a:endParaRPr lang="en-US" sz="1400" dirty="0"/>
          </a:p>
          <a:p>
            <a:pPr indent="0" marL="0">
              <a:buNone/>
            </a:pPr>
            <a:r>
              <a:rPr lang="en-US" sz="600" dirty="0">
                <a:solidFill>
                  <a:schemeClr val="tx2"/>
                </a:solidFill>
              </a:rPr>
              <a:t> </a:t>
            </a:r>
            <a:endParaRPr lang="en-US" sz="1400" dirty="0"/>
          </a:p>
          <a:p>
            <a:pPr indent="0" marL="0">
              <a:buNone/>
            </a:pPr>
            <a:r>
              <a:rPr lang="en-US" sz="1400" b="1" dirty="0">
                <a:solidFill>
                  <a:schemeClr val="accent2"/>
                </a:solidFill>
              </a:rPr>
              <a:t>Wheel-driven base: accel p50 0.12, max 1.55 m/s²; shoulder torque 0.8–1.6 N·m.</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The scoop tolerates actuator and contact uncertainty</a:t>
            </a:r>
            <a:endParaRPr lang="en-US" sz="3000" dirty="0"/>
          </a:p>
        </p:txBody>
      </p:sp>
      <p:graphicFrame>
        <p:nvGraphicFramePr>
          <p:cNvPr id="3" name="robustness-chart" descr=""/>
          <p:cNvGraphicFramePr/>
          <p:nvPr/>
        </p:nvGraphicFramePr>
        <p:xfrm>
          <a:off x="548640" y="1325880"/>
          <a:ext cx="731520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229600" y="1463040"/>
            <a:ext cx="3383280" cy="4389120"/>
          </a:xfrm>
          <a:prstGeom prst="roundRect">
            <a:avLst>
              <a:gd name="adj" fmla="val 2162"/>
            </a:avLst>
          </a:prstGeom>
          <a:solidFill>
            <a:schemeClr val="bg2"/>
          </a:solidFill>
          <a:ln/>
        </p:spPr>
      </p:sp>
      <p:sp>
        <p:nvSpPr>
          <p:cNvPr id="5" name="Text 2"/>
          <p:cNvSpPr txBox="1"/>
          <p:nvPr/>
        </p:nvSpPr>
        <p:spPr>
          <a:xfrm>
            <a:off x="8458200" y="1691640"/>
            <a:ext cx="2926080" cy="4023360"/>
          </a:xfrm>
          <a:prstGeom prst="rect">
            <a:avLst/>
          </a:prstGeom>
          <a:noFill/>
          <a:ln/>
        </p:spPr>
        <p:txBody>
          <a:bodyPr wrap="square" lIns="0" tIns="0" rIns="0" bIns="0" rtlCol="0" anchor="t"/>
          <a:lstStyle/>
          <a:p>
            <a:pPr indent="0" marL="0">
              <a:spcAft>
                <a:spcPts val="800"/>
              </a:spcAft>
              <a:buNone/>
            </a:pPr>
            <a:r>
              <a:rPr lang="en-US" sz="1800" b="1" dirty="0">
                <a:solidFill>
                  <a:schemeClr val="tx1"/>
                </a:solidFill>
              </a:rPr>
              <a:t>Reading the chart</a:t>
            </a:r>
            <a:endParaRPr lang="en-US" sz="1400" dirty="0"/>
          </a:p>
          <a:p>
            <a:pPr marL="342900" indent="-342900">
              <a:spcAft>
                <a:spcPts val="800"/>
              </a:spcAft>
              <a:buSzPct val="100000"/>
              <a:buChar char="•"/>
            </a:pPr>
            <a:r>
              <a:rPr lang="en-US" sz="1400" dirty="0">
                <a:solidFill>
                  <a:schemeClr val="tx2"/>
                </a:solidFill>
              </a:rPr>
              <a:t>Each knob alone costs ≤1.2 points</a:t>
            </a:r>
            <a:endParaRPr lang="en-US" sz="1400" dirty="0"/>
          </a:p>
          <a:p>
            <a:pPr marL="342900" indent="-342900">
              <a:spcAft>
                <a:spcPts val="800"/>
              </a:spcAft>
              <a:buSzPct val="100000"/>
              <a:buChar char="•"/>
            </a:pPr>
            <a:r>
              <a:rPr lang="en-US" sz="1400" dirty="0">
                <a:solidFill>
                  <a:schemeClr val="tx2"/>
                </a:solidFill>
              </a:rPr>
              <a:t>Only the old base-slip model (×0.7–1.2 speed, drift) broke it, and that model was unrealistic</a:t>
            </a:r>
            <a:endParaRPr lang="en-US" sz="1400" dirty="0"/>
          </a:p>
          <a:p>
            <a:pPr marL="342900" indent="-342900">
              <a:spcAft>
                <a:spcPts val="800"/>
              </a:spcAft>
              <a:buSzPct val="100000"/>
              <a:buChar char="•"/>
            </a:pPr>
            <a:r>
              <a:rPr lang="en-US" sz="1400" b="1" dirty="0">
                <a:solidFill>
                  <a:schemeClr val="tx2"/>
                </a:solidFill>
              </a:rPr>
              <a:t>With the measured slip (±10%) and the robust re-search: 97.6%, then 300/300 on the wheel-driven base</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Alignment with the ball is now the main limit</a:t>
            </a:r>
            <a:endParaRPr lang="en-US" sz="3000" dirty="0"/>
          </a:p>
        </p:txBody>
      </p:sp>
      <p:graphicFrame>
        <p:nvGraphicFramePr>
          <p:cNvPr id="3" name="align-0" descr=""/>
          <p:cNvGraphicFramePr/>
          <p:nvPr/>
        </p:nvGraphicFramePr>
        <p:xfrm>
          <a:off x="548640" y="1325880"/>
          <a:ext cx="35661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align-1" descr=""/>
          <p:cNvGraphicFramePr/>
          <p:nvPr/>
        </p:nvGraphicFramePr>
        <p:xfrm>
          <a:off x="4297680" y="1325880"/>
          <a:ext cx="3566160" cy="356616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align-2" descr=""/>
          <p:cNvGraphicFramePr/>
          <p:nvPr/>
        </p:nvGraphicFramePr>
        <p:xfrm>
          <a:off x="8046720" y="1325880"/>
          <a:ext cx="3566160" cy="3566160"/>
        </p:xfrm>
        <a:graphic xmlns:a="http://schemas.openxmlformats.org/drawingml/2006/main">
          <a:graphicData uri="http://schemas.openxmlformats.org/drawingml/2006/chart">
            <c:chart xmlns:c="http://schemas.openxmlformats.org/drawingml/2006/chart" r:id="rId3"/>
          </a:graphicData>
        </a:graphic>
      </p:graphicFrame>
      <p:sp>
        <p:nvSpPr>
          <p:cNvPr id="6" name="Text 1"/>
          <p:cNvSpPr txBox="1"/>
          <p:nvPr/>
        </p:nvSpPr>
        <p:spPr>
          <a:xfrm>
            <a:off x="548640" y="5120640"/>
            <a:ext cx="11094415" cy="731520"/>
          </a:xfrm>
          <a:prstGeom prst="rect">
            <a:avLst/>
          </a:prstGeom>
          <a:noFill/>
          <a:ln/>
        </p:spPr>
        <p:txBody>
          <a:bodyPr wrap="square" lIns="0" tIns="0" rIns="0" bIns="0" rtlCol="0" anchor="t"/>
          <a:lstStyle/>
          <a:p>
            <a:pPr indent="0" marL="0">
              <a:buNone/>
            </a:pPr>
            <a:r>
              <a:rPr lang="en-US" sz="1500" b="1" dirty="0">
                <a:solidFill>
                  <a:schemeClr val="tx1"/>
                </a:solidFill>
              </a:rPr>
              <a:t>Open loop needs the robot lined up within ~2 cm and ~1°. </a:t>
            </a:r>
            <a:pPr indent="0" marL="0">
              <a:buNone/>
            </a:pPr>
            <a:r>
              <a:rPr lang="en-US" sz="1500" dirty="0">
                <a:solidFill>
                  <a:schemeClr val="tx2"/>
                </a:solidFill>
              </a:rPr>
              <a:t>Hypothesis (not yet verified): the curved scoop lip only touches the floor at its center, so off-center balls get pushed instead of scooped.</a:t>
            </a:r>
            <a:endParaRPr lang="en-US" sz="1500" dirty="0"/>
          </a:p>
        </p:txBody>
      </p:sp>
      <p:sp>
        <p:nvSpPr>
          <p:cNvPr id="7" name="Text 2"/>
          <p:cNvSpPr txBox="1"/>
          <p:nvPr/>
        </p:nvSpPr>
        <p:spPr>
          <a:xfrm>
            <a:off x="548640" y="5943600"/>
            <a:ext cx="11094415" cy="320040"/>
          </a:xfrm>
          <a:prstGeom prst="rect">
            <a:avLst/>
          </a:prstGeom>
          <a:noFill/>
          <a:ln/>
        </p:spPr>
        <p:txBody>
          <a:bodyPr wrap="square" lIns="0" tIns="0" rIns="0" bIns="0" rtlCol="0" anchor="ctr"/>
          <a:lstStyle/>
          <a:p>
            <a:pPr indent="0" marL="0">
              <a:buNone/>
            </a:pPr>
            <a:r>
              <a:rPr lang="en-US" sz="1100" i="1" dirty="0">
                <a:solidFill>
                  <a:schemeClr val="accent6"/>
                </a:solidFill>
              </a:rPr>
              <a:t>Realistic uncertainty on. Where a range was measured (e.g. 95–98%), the bar shows its midpoint.</a:t>
            </a:r>
            <a:endParaRPr lang="en-US" sz="1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Floor tilt matters, ball variation does not</a:t>
            </a:r>
            <a:endParaRPr lang="en-US" sz="3000" dirty="0"/>
          </a:p>
        </p:txBody>
      </p:sp>
      <p:graphicFrame>
        <p:nvGraphicFramePr>
          <p:cNvPr id="3" name="tilt-chart" descr=""/>
          <p:cNvGraphicFramePr/>
          <p:nvPr/>
        </p:nvGraphicFramePr>
        <p:xfrm>
          <a:off x="548640" y="132588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217920" y="1417320"/>
            <a:ext cx="5394960" cy="1280160"/>
          </a:xfrm>
          <a:prstGeom prst="roundRect">
            <a:avLst>
              <a:gd name="adj" fmla="val 5714"/>
            </a:avLst>
          </a:prstGeom>
          <a:solidFill>
            <a:schemeClr val="bg2"/>
          </a:solidFill>
          <a:ln/>
        </p:spPr>
      </p:sp>
      <p:sp>
        <p:nvSpPr>
          <p:cNvPr id="5" name="Shape 2"/>
          <p:cNvSpPr/>
          <p:nvPr/>
        </p:nvSpPr>
        <p:spPr>
          <a:xfrm>
            <a:off x="6446520" y="1645920"/>
            <a:ext cx="274320" cy="274320"/>
          </a:xfrm>
          <a:prstGeom prst="ellipse">
            <a:avLst/>
          </a:prstGeom>
          <a:solidFill>
            <a:schemeClr val="accent1"/>
          </a:solidFill>
          <a:ln/>
        </p:spPr>
      </p:sp>
      <p:sp>
        <p:nvSpPr>
          <p:cNvPr id="6" name="Text 3"/>
          <p:cNvSpPr txBox="1"/>
          <p:nvPr/>
        </p:nvSpPr>
        <p:spPr>
          <a:xfrm>
            <a:off x="6858000" y="158191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Tilt</a:t>
            </a:r>
            <a:endParaRPr lang="en-US" sz="1600" dirty="0"/>
          </a:p>
        </p:txBody>
      </p:sp>
      <p:sp>
        <p:nvSpPr>
          <p:cNvPr id="7" name="Text 4"/>
          <p:cNvSpPr txBox="1"/>
          <p:nvPr/>
        </p:nvSpPr>
        <p:spPr>
          <a:xfrm>
            <a:off x="6858000" y="1947672"/>
            <a:ext cx="4572000" cy="685800"/>
          </a:xfrm>
          <a:prstGeom prst="rect">
            <a:avLst/>
          </a:prstGeom>
          <a:noFill/>
          <a:ln/>
        </p:spPr>
        <p:txBody>
          <a:bodyPr wrap="square" lIns="0" tIns="0" rIns="0" bIns="0" rtlCol="0" anchor="t"/>
          <a:lstStyle/>
          <a:p>
            <a:pPr indent="0" marL="0">
              <a:buNone/>
            </a:pPr>
            <a:r>
              <a:rPr lang="en-US" sz="1300" dirty="0">
                <a:solidFill>
                  <a:schemeClr val="tx2"/>
                </a:solidFill>
              </a:rPr>
              <a:t>A sphere rolls ~5 cm in 0.9 s on a 1° slope. Indoor floors are typically 0.1–0.3°, inside the safe range.</a:t>
            </a:r>
            <a:endParaRPr lang="en-US" sz="1300" dirty="0"/>
          </a:p>
        </p:txBody>
      </p:sp>
      <p:sp>
        <p:nvSpPr>
          <p:cNvPr id="8" name="Shape 5"/>
          <p:cNvSpPr/>
          <p:nvPr/>
        </p:nvSpPr>
        <p:spPr>
          <a:xfrm>
            <a:off x="6217920" y="2880360"/>
            <a:ext cx="5394960" cy="1280160"/>
          </a:xfrm>
          <a:prstGeom prst="roundRect">
            <a:avLst>
              <a:gd name="adj" fmla="val 5714"/>
            </a:avLst>
          </a:prstGeom>
          <a:solidFill>
            <a:schemeClr val="bg2"/>
          </a:solidFill>
          <a:ln/>
        </p:spPr>
      </p:sp>
      <p:sp>
        <p:nvSpPr>
          <p:cNvPr id="9" name="Shape 6"/>
          <p:cNvSpPr/>
          <p:nvPr/>
        </p:nvSpPr>
        <p:spPr>
          <a:xfrm>
            <a:off x="6446520" y="3108960"/>
            <a:ext cx="274320" cy="274320"/>
          </a:xfrm>
          <a:prstGeom prst="ellipse">
            <a:avLst/>
          </a:prstGeom>
          <a:solidFill>
            <a:schemeClr val="accent2"/>
          </a:solidFill>
          <a:ln/>
        </p:spPr>
      </p:sp>
      <p:sp>
        <p:nvSpPr>
          <p:cNvPr id="10" name="Text 7"/>
          <p:cNvSpPr txBox="1"/>
          <p:nvPr/>
        </p:nvSpPr>
        <p:spPr>
          <a:xfrm>
            <a:off x="6858000" y="304495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Ball mass, CoM, size</a:t>
            </a:r>
            <a:endParaRPr lang="en-US" sz="1600" dirty="0"/>
          </a:p>
        </p:txBody>
      </p:sp>
      <p:sp>
        <p:nvSpPr>
          <p:cNvPr id="11" name="Text 8"/>
          <p:cNvSpPr txBox="1"/>
          <p:nvPr/>
        </p:nvSpPr>
        <p:spPr>
          <a:xfrm>
            <a:off x="6858000" y="3410712"/>
            <a:ext cx="4572000" cy="685800"/>
          </a:xfrm>
          <a:prstGeom prst="rect">
            <a:avLst/>
          </a:prstGeom>
          <a:noFill/>
          <a:ln/>
        </p:spPr>
        <p:txBody>
          <a:bodyPr wrap="square" lIns="0" tIns="0" rIns="0" bIns="0" rtlCol="0" anchor="t"/>
          <a:lstStyle/>
          <a:p>
            <a:pPr indent="0" marL="0">
              <a:buNone/>
            </a:pPr>
            <a:r>
              <a:rPr lang="en-US" sz="1300" dirty="0">
                <a:solidFill>
                  <a:schemeClr val="tx2"/>
                </a:solidFill>
              </a:rPr>
              <a:t>137–145 g, CoM offset ≤2 mm, radius 31–33 mm: 100% in every case.</a:t>
            </a:r>
            <a:endParaRPr lang="en-US" sz="1300" dirty="0"/>
          </a:p>
        </p:txBody>
      </p:sp>
      <p:sp>
        <p:nvSpPr>
          <p:cNvPr id="12" name="Shape 9"/>
          <p:cNvSpPr/>
          <p:nvPr/>
        </p:nvSpPr>
        <p:spPr>
          <a:xfrm>
            <a:off x="6217920" y="4343400"/>
            <a:ext cx="5394960" cy="1280160"/>
          </a:xfrm>
          <a:prstGeom prst="roundRect">
            <a:avLst>
              <a:gd name="adj" fmla="val 5714"/>
            </a:avLst>
          </a:prstGeom>
          <a:solidFill>
            <a:schemeClr val="bg2"/>
          </a:solidFill>
          <a:ln/>
        </p:spPr>
      </p:sp>
      <p:sp>
        <p:nvSpPr>
          <p:cNvPr id="13" name="Shape 10"/>
          <p:cNvSpPr/>
          <p:nvPr/>
        </p:nvSpPr>
        <p:spPr>
          <a:xfrm>
            <a:off x="6446520" y="4572000"/>
            <a:ext cx="274320" cy="274320"/>
          </a:xfrm>
          <a:prstGeom prst="ellipse">
            <a:avLst/>
          </a:prstGeom>
          <a:solidFill>
            <a:schemeClr val="accent6"/>
          </a:solidFill>
          <a:ln/>
        </p:spPr>
      </p:sp>
      <p:sp>
        <p:nvSpPr>
          <p:cNvPr id="14" name="Text 11"/>
          <p:cNvSpPr txBox="1"/>
          <p:nvPr/>
        </p:nvSpPr>
        <p:spPr>
          <a:xfrm>
            <a:off x="6858000" y="4507992"/>
            <a:ext cx="4572000" cy="365760"/>
          </a:xfrm>
          <a:prstGeom prst="rect">
            <a:avLst/>
          </a:prstGeom>
          <a:noFill/>
          <a:ln/>
        </p:spPr>
        <p:txBody>
          <a:bodyPr wrap="square" lIns="0" tIns="0" rIns="0" bIns="0" rtlCol="0" anchor="ctr"/>
          <a:lstStyle/>
          <a:p>
            <a:pPr indent="0" marL="0">
              <a:buNone/>
            </a:pPr>
            <a:r>
              <a:rPr lang="en-US" sz="1600" b="1" dirty="0">
                <a:solidFill>
                  <a:schemeClr val="tx1"/>
                </a:solidFill>
              </a:rPr>
              <a:t>Mesh-ball caveat</a:t>
            </a:r>
            <a:endParaRPr lang="en-US" sz="1600" dirty="0"/>
          </a:p>
        </p:txBody>
      </p:sp>
      <p:sp>
        <p:nvSpPr>
          <p:cNvPr id="15" name="Text 12"/>
          <p:cNvSpPr txBox="1"/>
          <p:nvPr/>
        </p:nvSpPr>
        <p:spPr>
          <a:xfrm>
            <a:off x="6858000" y="4873752"/>
            <a:ext cx="4572000" cy="685800"/>
          </a:xfrm>
          <a:prstGeom prst="rect">
            <a:avLst/>
          </a:prstGeom>
          <a:noFill/>
          <a:ln/>
        </p:spPr>
        <p:txBody>
          <a:bodyPr wrap="square" lIns="0" tIns="0" rIns="0" bIns="0" rtlCol="0" anchor="t"/>
          <a:lstStyle/>
          <a:p>
            <a:pPr indent="0" marL="0">
              <a:buNone/>
            </a:pPr>
            <a:r>
              <a:rPr lang="en-US" sz="1300" dirty="0">
                <a:solidFill>
                  <a:schemeClr val="tx2"/>
                </a:solidFill>
              </a:rPr>
              <a:t>Convex-mesh balls sink 2–5 mm into the floor; even a round mesh ball drops to 85%. A PhysX artifact, so ellipsoid results (64–78%) are not trusted.</a:t>
            </a:r>
            <a:endParaRPr lang="en-US" sz="13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At 400 robots and 1200 Hz physics, 393 hold the ball</a:t>
            </a:r>
            <a:endParaRPr lang="en-US" sz="3000" dirty="0"/>
          </a:p>
        </p:txBody>
      </p:sp>
      <p:pic>
        <p:nvPicPr>
          <p:cNvPr id="3" name="array" descr="/tmp/claude-1000/-home-yifan-IsaacLab/02e1a1d7-61f9-5921-a435-b68e19ec6560/scratchpad/deck/img/array_q1.jpg">    </p:cNvPr>
          <p:cNvPicPr>
            <a:picLocks noChangeAspect="1"/>
          </p:cNvPicPr>
          <p:nvPr/>
        </p:nvPicPr>
        <p:blipFill>
          <a:blip r:embed="rId1"/>
          <a:stretch>
            <a:fillRect/>
          </a:stretch>
        </p:blipFill>
        <p:spPr>
          <a:xfrm>
            <a:off x="548640" y="1371600"/>
            <a:ext cx="5852160" cy="3291840"/>
          </a:xfrm>
          <a:prstGeom prst="rect">
            <a:avLst/>
          </a:prstGeom>
        </p:spPr>
      </p:pic>
      <p:sp>
        <p:nvSpPr>
          <p:cNvPr id="4" name="Text 1"/>
          <p:cNvSpPr txBox="1"/>
          <p:nvPr/>
        </p:nvSpPr>
        <p:spPr>
          <a:xfrm>
            <a:off x="548640" y="4736592"/>
            <a:ext cx="5852160" cy="320040"/>
          </a:xfrm>
          <a:prstGeom prst="rect">
            <a:avLst/>
          </a:prstGeom>
          <a:noFill/>
          <a:ln/>
        </p:spPr>
        <p:txBody>
          <a:bodyPr wrap="square" lIns="0" tIns="0" rIns="0" bIns="0" rtlCol="0" anchor="ctr"/>
          <a:lstStyle/>
          <a:p>
            <a:pPr indent="0" marL="0">
              <a:buNone/>
            </a:pPr>
            <a:r>
              <a:rPr lang="en-US" sz="1100" i="1" dirty="0">
                <a:solidFill>
                  <a:schemeClr val="accent6"/>
                </a:solidFill>
              </a:rPr>
              <a:t>10 × 10 slice of the rendered array; the robots drive diagonally toward the yellow balls</a:t>
            </a:r>
            <a:endParaRPr lang="en-US" sz="1100" dirty="0"/>
          </a:p>
        </p:txBody>
      </p:sp>
      <p:pic>
        <p:nvPicPr>
          <p:cNvPr id="5" name="fail-a" descr="/tmp/claude-1000/-home-yifan-IsaacLab/02e1a1d7-61f9-5921-a435-b68e19ec6560/scratchpad/deck/img/fail_a.jpg">    </p:cNvPr>
          <p:cNvPicPr>
            <a:picLocks noChangeAspect="1"/>
          </p:cNvPicPr>
          <p:nvPr/>
        </p:nvPicPr>
        <p:blipFill>
          <a:blip r:embed="rId2"/>
          <a:stretch>
            <a:fillRect/>
          </a:stretch>
        </p:blipFill>
        <p:spPr>
          <a:xfrm>
            <a:off x="6675120" y="1371600"/>
            <a:ext cx="2423160" cy="1181291"/>
          </a:xfrm>
          <a:prstGeom prst="rect">
            <a:avLst/>
          </a:prstGeom>
        </p:spPr>
      </p:pic>
      <p:pic>
        <p:nvPicPr>
          <p:cNvPr id="6" name="fail-b" descr="/tmp/claude-1000/-home-yifan-IsaacLab/02e1a1d7-61f9-5921-a435-b68e19ec6560/scratchpad/deck/img/fail_b.jpg">    </p:cNvPr>
          <p:cNvPicPr>
            <a:picLocks noChangeAspect="1"/>
          </p:cNvPicPr>
          <p:nvPr/>
        </p:nvPicPr>
        <p:blipFill>
          <a:blip r:embed="rId3"/>
          <a:stretch>
            <a:fillRect/>
          </a:stretch>
        </p:blipFill>
        <p:spPr>
          <a:xfrm>
            <a:off x="9189720" y="1371600"/>
            <a:ext cx="2423160" cy="1181291"/>
          </a:xfrm>
          <a:prstGeom prst="rect">
            <a:avLst/>
          </a:prstGeom>
        </p:spPr>
      </p:pic>
      <p:sp>
        <p:nvSpPr>
          <p:cNvPr id="7" name="Text 2"/>
          <p:cNvSpPr txBox="1"/>
          <p:nvPr/>
        </p:nvSpPr>
        <p:spPr>
          <a:xfrm>
            <a:off x="6675120" y="2606040"/>
            <a:ext cx="4937760" cy="320040"/>
          </a:xfrm>
          <a:prstGeom prst="rect">
            <a:avLst/>
          </a:prstGeom>
          <a:noFill/>
          <a:ln/>
        </p:spPr>
        <p:txBody>
          <a:bodyPr wrap="square" lIns="0" tIns="0" rIns="0" bIns="0" rtlCol="0" anchor="ctr"/>
          <a:lstStyle/>
          <a:p>
            <a:pPr indent="0" marL="0">
              <a:buNone/>
            </a:pPr>
            <a:r>
              <a:rPr lang="en-US" sz="1100" i="1" dirty="0">
                <a:solidFill>
                  <a:schemeClr val="accent6"/>
                </a:solidFill>
              </a:rPr>
              <a:t>Failure close-up, robot #172: t = 1.02 s → 1.48 s</a:t>
            </a:r>
            <a:endParaRPr lang="en-US" sz="1100" dirty="0"/>
          </a:p>
        </p:txBody>
      </p:sp>
      <p:sp>
        <p:nvSpPr>
          <p:cNvPr id="8" name="Text 3"/>
          <p:cNvSpPr txBox="1"/>
          <p:nvPr/>
        </p:nvSpPr>
        <p:spPr>
          <a:xfrm>
            <a:off x="6675120" y="3063240"/>
            <a:ext cx="4937760" cy="265176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7 / 400 failures, one mode</a:t>
            </a:r>
            <a:endParaRPr lang="en-US" sz="1400" dirty="0"/>
          </a:p>
          <a:p>
            <a:pPr marL="342900" indent="-342900">
              <a:spcAft>
                <a:spcPts val="600"/>
              </a:spcAft>
              <a:buSzPct val="100000"/>
              <a:buChar char="•"/>
            </a:pPr>
            <a:r>
              <a:rPr lang="en-US" sz="1400" dirty="0">
                <a:solidFill>
                  <a:schemeClr val="tx2"/>
                </a:solidFill>
              </a:rPr>
              <a:t>Ball lifted to ~43 cm, then rolls out of the side of the pocket and leaves the 3 m arena</a:t>
            </a:r>
            <a:endParaRPr lang="en-US" sz="1400" dirty="0"/>
          </a:p>
          <a:p>
            <a:pPr marL="342900" indent="-342900">
              <a:spcAft>
                <a:spcPts val="600"/>
              </a:spcAft>
              <a:buSzPct val="100000"/>
              <a:buChar char="•"/>
            </a:pPr>
            <a:r>
              <a:rPr lang="en-US" sz="1400" dirty="0">
                <a:solidFill>
                  <a:schemeClr val="tx2"/>
                </a:solidFill>
              </a:rPr>
              <a:t>No tipping, no explosions, no fast-moving robots</a:t>
            </a:r>
            <a:endParaRPr lang="en-US" sz="1400" dirty="0"/>
          </a:p>
          <a:p>
            <a:pPr marL="342900" indent="-342900">
              <a:spcAft>
                <a:spcPts val="600"/>
              </a:spcAft>
              <a:buSzPct val="100000"/>
              <a:buChar char="•"/>
            </a:pPr>
            <a:r>
              <a:rPr lang="en-US" sz="1400" dirty="0">
                <a:solidFill>
                  <a:schemeClr val="tx2"/>
                </a:solidFill>
              </a:rPr>
              <a:t>Likely fix: a slower end of lift, or a final wrist/shoulder tilt to cradle the ball</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What we learned</a:t>
            </a:r>
            <a:endParaRPr lang="en-US" sz="3000" dirty="0"/>
          </a:p>
        </p:txBody>
      </p:sp>
      <p:sp>
        <p:nvSpPr>
          <p:cNvPr id="3" name="Shape 1"/>
          <p:cNvSpPr/>
          <p:nvPr/>
        </p:nvSpPr>
        <p:spPr>
          <a:xfrm>
            <a:off x="548640" y="1417320"/>
            <a:ext cx="5394960" cy="2103120"/>
          </a:xfrm>
          <a:prstGeom prst="roundRect">
            <a:avLst>
              <a:gd name="adj" fmla="val 3478"/>
            </a:avLst>
          </a:prstGeom>
          <a:solidFill>
            <a:schemeClr val="bg2"/>
          </a:solidFill>
          <a:ln/>
        </p:spPr>
      </p:sp>
      <p:sp>
        <p:nvSpPr>
          <p:cNvPr id="4" name="Shape 2"/>
          <p:cNvSpPr/>
          <p:nvPr/>
        </p:nvSpPr>
        <p:spPr>
          <a:xfrm>
            <a:off x="822960" y="1691640"/>
            <a:ext cx="420624" cy="420624"/>
          </a:xfrm>
          <a:prstGeom prst="ellipse">
            <a:avLst/>
          </a:prstGeom>
          <a:solidFill>
            <a:schemeClr val="accent1"/>
          </a:solidFill>
          <a:ln/>
        </p:spPr>
      </p:sp>
      <p:sp>
        <p:nvSpPr>
          <p:cNvPr id="5" name="Text 3"/>
          <p:cNvSpPr txBox="1"/>
          <p:nvPr/>
        </p:nvSpPr>
        <p:spPr>
          <a:xfrm>
            <a:off x="822960" y="169164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17320" y="1691640"/>
            <a:ext cx="4251960" cy="420624"/>
          </a:xfrm>
          <a:prstGeom prst="rect">
            <a:avLst/>
          </a:prstGeom>
          <a:noFill/>
          <a:ln/>
        </p:spPr>
        <p:txBody>
          <a:bodyPr wrap="square" lIns="0" tIns="0" rIns="0" bIns="0" rtlCol="0" anchor="ctr"/>
          <a:lstStyle/>
          <a:p>
            <a:pPr indent="0" marL="0">
              <a:buNone/>
            </a:pPr>
            <a:r>
              <a:rPr lang="en-US" sz="1800" b="1" dirty="0">
                <a:solidFill>
                  <a:schemeClr val="tx1"/>
                </a:solidFill>
              </a:rPr>
              <a:t>Contact at impact is everything</a:t>
            </a:r>
            <a:endParaRPr lang="en-US" sz="1800" dirty="0"/>
          </a:p>
        </p:txBody>
      </p:sp>
      <p:sp>
        <p:nvSpPr>
          <p:cNvPr id="7" name="Text 5"/>
          <p:cNvSpPr txBox="1"/>
          <p:nvPr/>
        </p:nvSpPr>
        <p:spPr>
          <a:xfrm>
            <a:off x="1417320" y="2240280"/>
            <a:ext cx="4251960" cy="1188720"/>
          </a:xfrm>
          <a:prstGeom prst="rect">
            <a:avLst/>
          </a:prstGeom>
          <a:noFill/>
          <a:ln/>
        </p:spPr>
        <p:txBody>
          <a:bodyPr wrap="square" lIns="0" tIns="0" rIns="0" bIns="0" rtlCol="0" anchor="t"/>
          <a:lstStyle/>
          <a:p>
            <a:pPr indent="0" marL="0">
              <a:buNone/>
            </a:pPr>
            <a:r>
              <a:rPr lang="en-US" sz="1400" dirty="0">
                <a:solidFill>
                  <a:schemeClr val="tx2"/>
                </a:solidFill>
              </a:rPr>
              <a:t>The lip must be pressed on the floor when it meets the ball. Hovering is fine only if it sets down before impact (95–98%); never setting down gives 3–13%.</a:t>
            </a:r>
            <a:endParaRPr lang="en-US" sz="1400" dirty="0"/>
          </a:p>
        </p:txBody>
      </p:sp>
      <p:sp>
        <p:nvSpPr>
          <p:cNvPr id="8" name="Shape 6"/>
          <p:cNvSpPr/>
          <p:nvPr/>
        </p:nvSpPr>
        <p:spPr>
          <a:xfrm>
            <a:off x="6172200" y="1417320"/>
            <a:ext cx="5394960" cy="2103120"/>
          </a:xfrm>
          <a:prstGeom prst="roundRect">
            <a:avLst>
              <a:gd name="adj" fmla="val 3478"/>
            </a:avLst>
          </a:prstGeom>
          <a:solidFill>
            <a:schemeClr val="bg2"/>
          </a:solidFill>
          <a:ln/>
        </p:spPr>
      </p:sp>
      <p:sp>
        <p:nvSpPr>
          <p:cNvPr id="9" name="Shape 7"/>
          <p:cNvSpPr/>
          <p:nvPr/>
        </p:nvSpPr>
        <p:spPr>
          <a:xfrm>
            <a:off x="6446520" y="1691640"/>
            <a:ext cx="420624" cy="420624"/>
          </a:xfrm>
          <a:prstGeom prst="ellipse">
            <a:avLst/>
          </a:prstGeom>
          <a:solidFill>
            <a:schemeClr val="accent1"/>
          </a:solidFill>
          <a:ln/>
        </p:spPr>
      </p:sp>
      <p:sp>
        <p:nvSpPr>
          <p:cNvPr id="10" name="Text 8"/>
          <p:cNvSpPr txBox="1"/>
          <p:nvPr/>
        </p:nvSpPr>
        <p:spPr>
          <a:xfrm>
            <a:off x="6446520" y="169164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7040880" y="1691640"/>
            <a:ext cx="4251960" cy="420624"/>
          </a:xfrm>
          <a:prstGeom prst="rect">
            <a:avLst/>
          </a:prstGeom>
          <a:noFill/>
          <a:ln/>
        </p:spPr>
        <p:txBody>
          <a:bodyPr wrap="square" lIns="0" tIns="0" rIns="0" bIns="0" rtlCol="0" anchor="ctr"/>
          <a:lstStyle/>
          <a:p>
            <a:pPr indent="0" marL="0">
              <a:buNone/>
            </a:pPr>
            <a:r>
              <a:rPr lang="en-US" sz="1800" b="1" dirty="0">
                <a:solidFill>
                  <a:schemeClr val="tx1"/>
                </a:solidFill>
              </a:rPr>
              <a:t>Sim artifacts look like physics</a:t>
            </a:r>
            <a:endParaRPr lang="en-US" sz="1800" dirty="0"/>
          </a:p>
        </p:txBody>
      </p:sp>
      <p:sp>
        <p:nvSpPr>
          <p:cNvPr id="12" name="Text 10"/>
          <p:cNvSpPr txBox="1"/>
          <p:nvPr/>
        </p:nvSpPr>
        <p:spPr>
          <a:xfrm>
            <a:off x="7040880" y="2240280"/>
            <a:ext cx="4251960" cy="1188720"/>
          </a:xfrm>
          <a:prstGeom prst="rect">
            <a:avLst/>
          </a:prstGeom>
          <a:noFill/>
          <a:ln/>
        </p:spPr>
        <p:txBody>
          <a:bodyPr wrap="square" lIns="0" tIns="0" rIns="0" bIns="0" rtlCol="0" anchor="t"/>
          <a:lstStyle/>
          <a:p>
            <a:pPr indent="0" marL="0">
              <a:buNone/>
            </a:pPr>
            <a:r>
              <a:rPr lang="en-US" sz="1400" dirty="0">
                <a:solidFill>
                  <a:schemeClr val="tx2"/>
                </a:solidFill>
              </a:rPr>
              <a:t>Dropped contacts, the base-velocity jitter and mesh-ball penetration each produced convincing but wrong results. Each needed a dedicated check.</a:t>
            </a:r>
            <a:endParaRPr lang="en-US" sz="1400" dirty="0"/>
          </a:p>
        </p:txBody>
      </p:sp>
      <p:sp>
        <p:nvSpPr>
          <p:cNvPr id="13" name="Shape 11"/>
          <p:cNvSpPr/>
          <p:nvPr/>
        </p:nvSpPr>
        <p:spPr>
          <a:xfrm>
            <a:off x="548640" y="3749040"/>
            <a:ext cx="5394960" cy="2103120"/>
          </a:xfrm>
          <a:prstGeom prst="roundRect">
            <a:avLst>
              <a:gd name="adj" fmla="val 3478"/>
            </a:avLst>
          </a:prstGeom>
          <a:solidFill>
            <a:schemeClr val="bg2"/>
          </a:solidFill>
          <a:ln/>
        </p:spPr>
      </p:sp>
      <p:sp>
        <p:nvSpPr>
          <p:cNvPr id="14" name="Shape 12"/>
          <p:cNvSpPr/>
          <p:nvPr/>
        </p:nvSpPr>
        <p:spPr>
          <a:xfrm>
            <a:off x="822960" y="4023360"/>
            <a:ext cx="420624" cy="420624"/>
          </a:xfrm>
          <a:prstGeom prst="ellipse">
            <a:avLst/>
          </a:prstGeom>
          <a:solidFill>
            <a:schemeClr val="accent1"/>
          </a:solidFill>
          <a:ln/>
        </p:spPr>
      </p:sp>
      <p:sp>
        <p:nvSpPr>
          <p:cNvPr id="15" name="Text 13"/>
          <p:cNvSpPr txBox="1"/>
          <p:nvPr/>
        </p:nvSpPr>
        <p:spPr>
          <a:xfrm>
            <a:off x="822960" y="4023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1417320" y="4023360"/>
            <a:ext cx="4251960" cy="420624"/>
          </a:xfrm>
          <a:prstGeom prst="rect">
            <a:avLst/>
          </a:prstGeom>
          <a:noFill/>
          <a:ln/>
        </p:spPr>
        <p:txBody>
          <a:bodyPr wrap="square" lIns="0" tIns="0" rIns="0" bIns="0" rtlCol="0" anchor="ctr"/>
          <a:lstStyle/>
          <a:p>
            <a:pPr indent="0" marL="0">
              <a:buNone/>
            </a:pPr>
            <a:r>
              <a:rPr lang="en-US" sz="1800" b="1" dirty="0">
                <a:solidFill>
                  <a:schemeClr val="tx1"/>
                </a:solidFill>
              </a:rPr>
              <a:t>Ground the model, then search</a:t>
            </a:r>
            <a:endParaRPr lang="en-US" sz="1800" dirty="0"/>
          </a:p>
        </p:txBody>
      </p:sp>
      <p:sp>
        <p:nvSpPr>
          <p:cNvPr id="17" name="Text 15"/>
          <p:cNvSpPr txBox="1"/>
          <p:nvPr/>
        </p:nvSpPr>
        <p:spPr>
          <a:xfrm>
            <a:off x="1417320" y="4572000"/>
            <a:ext cx="4251960" cy="1188720"/>
          </a:xfrm>
          <a:prstGeom prst="rect">
            <a:avLst/>
          </a:prstGeom>
          <a:noFill/>
          <a:ln/>
        </p:spPr>
        <p:txBody>
          <a:bodyPr wrap="square" lIns="0" tIns="0" rIns="0" bIns="0" rtlCol="0" anchor="t"/>
          <a:lstStyle/>
          <a:p>
            <a:pPr indent="0" marL="0">
              <a:buNone/>
            </a:pPr>
            <a:r>
              <a:rPr lang="en-US" sz="1400" dirty="0">
                <a:solidFill>
                  <a:schemeClr val="tx2"/>
                </a:solidFill>
              </a:rPr>
              <a:t>The best trajectory changed with each fidelity step (soft PD → MIT motors → real base). Searching under realistic noise gave the robust winner.</a:t>
            </a:r>
            <a:endParaRPr lang="en-US" sz="1400" dirty="0"/>
          </a:p>
        </p:txBody>
      </p:sp>
      <p:sp>
        <p:nvSpPr>
          <p:cNvPr id="18" name="Shape 16"/>
          <p:cNvSpPr/>
          <p:nvPr/>
        </p:nvSpPr>
        <p:spPr>
          <a:xfrm>
            <a:off x="6172200" y="3749040"/>
            <a:ext cx="5394960" cy="2103120"/>
          </a:xfrm>
          <a:prstGeom prst="roundRect">
            <a:avLst>
              <a:gd name="adj" fmla="val 3478"/>
            </a:avLst>
          </a:prstGeom>
          <a:solidFill>
            <a:schemeClr val="bg2"/>
          </a:solidFill>
          <a:ln/>
        </p:spPr>
      </p:sp>
      <p:sp>
        <p:nvSpPr>
          <p:cNvPr id="19" name="Shape 17"/>
          <p:cNvSpPr/>
          <p:nvPr/>
        </p:nvSpPr>
        <p:spPr>
          <a:xfrm>
            <a:off x="6446520" y="4023360"/>
            <a:ext cx="420624" cy="420624"/>
          </a:xfrm>
          <a:prstGeom prst="ellipse">
            <a:avLst/>
          </a:prstGeom>
          <a:solidFill>
            <a:schemeClr val="accent1"/>
          </a:solidFill>
          <a:ln/>
        </p:spPr>
      </p:sp>
      <p:sp>
        <p:nvSpPr>
          <p:cNvPr id="20" name="Text 18"/>
          <p:cNvSpPr txBox="1"/>
          <p:nvPr/>
        </p:nvSpPr>
        <p:spPr>
          <a:xfrm>
            <a:off x="6446520" y="4023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040880" y="4023360"/>
            <a:ext cx="4251960" cy="420624"/>
          </a:xfrm>
          <a:prstGeom prst="rect">
            <a:avLst/>
          </a:prstGeom>
          <a:noFill/>
          <a:ln/>
        </p:spPr>
        <p:txBody>
          <a:bodyPr wrap="square" lIns="0" tIns="0" rIns="0" bIns="0" rtlCol="0" anchor="ctr"/>
          <a:lstStyle/>
          <a:p>
            <a:pPr indent="0" marL="0">
              <a:buNone/>
            </a:pPr>
            <a:r>
              <a:rPr lang="en-US" sz="1800" b="1" dirty="0">
                <a:solidFill>
                  <a:schemeClr val="tx1"/>
                </a:solidFill>
              </a:rPr>
              <a:t>Structure beats raw RL here</a:t>
            </a:r>
            <a:endParaRPr lang="en-US" sz="1800" dirty="0"/>
          </a:p>
        </p:txBody>
      </p:sp>
      <p:sp>
        <p:nvSpPr>
          <p:cNvPr id="22" name="Text 20"/>
          <p:cNvSpPr txBox="1"/>
          <p:nvPr/>
        </p:nvSpPr>
        <p:spPr>
          <a:xfrm>
            <a:off x="7040880" y="4572000"/>
            <a:ext cx="4251960" cy="1188720"/>
          </a:xfrm>
          <a:prstGeom prst="rect">
            <a:avLst/>
          </a:prstGeom>
          <a:noFill/>
          <a:ln/>
        </p:spPr>
        <p:txBody>
          <a:bodyPr wrap="square" lIns="0" tIns="0" rIns="0" bIns="0" rtlCol="0" anchor="t"/>
          <a:lstStyle/>
          <a:p>
            <a:pPr indent="0" marL="0">
              <a:buNone/>
            </a:pPr>
            <a:r>
              <a:rPr lang="en-US" sz="1400" dirty="0">
                <a:solidFill>
                  <a:schemeClr val="tx2"/>
                </a:solidFill>
              </a:rPr>
              <a:t>A 5-parameter motion was more reliable than PPO from scratch. RL is better used for residual corrections.</a:t>
            </a:r>
            <a:endParaRPr lang="en-US" sz="14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Possible next directions</a:t>
            </a:r>
            <a:endParaRPr lang="en-US" sz="3000" dirty="0"/>
          </a:p>
        </p:txBody>
      </p:sp>
      <p:sp>
        <p:nvSpPr>
          <p:cNvPr id="3" name="Shape 1"/>
          <p:cNvSpPr/>
          <p:nvPr/>
        </p:nvSpPr>
        <p:spPr>
          <a:xfrm>
            <a:off x="548640" y="1417320"/>
            <a:ext cx="5394960" cy="2103120"/>
          </a:xfrm>
          <a:prstGeom prst="roundRect">
            <a:avLst>
              <a:gd name="adj" fmla="val 3478"/>
            </a:avLst>
          </a:prstGeom>
          <a:solidFill>
            <a:schemeClr val="tx2"/>
          </a:solidFill>
          <a:ln/>
        </p:spPr>
      </p:sp>
      <p:sp>
        <p:nvSpPr>
          <p:cNvPr id="4" name="Shape 2"/>
          <p:cNvSpPr/>
          <p:nvPr/>
        </p:nvSpPr>
        <p:spPr>
          <a:xfrm>
            <a:off x="822960" y="1691640"/>
            <a:ext cx="420624" cy="420624"/>
          </a:xfrm>
          <a:prstGeom prst="ellipse">
            <a:avLst/>
          </a:prstGeom>
          <a:solidFill>
            <a:schemeClr val="accent1"/>
          </a:solidFill>
          <a:ln/>
        </p:spPr>
      </p:sp>
      <p:sp>
        <p:nvSpPr>
          <p:cNvPr id="5" name="Text 3"/>
          <p:cNvSpPr txBox="1"/>
          <p:nvPr/>
        </p:nvSpPr>
        <p:spPr>
          <a:xfrm>
            <a:off x="822960" y="169164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417320" y="169164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Closed-loop approach</a:t>
            </a:r>
            <a:endParaRPr lang="en-US" sz="1800" dirty="0"/>
          </a:p>
        </p:txBody>
      </p:sp>
      <p:sp>
        <p:nvSpPr>
          <p:cNvPr id="7" name="Text 5"/>
          <p:cNvSpPr txBox="1"/>
          <p:nvPr/>
        </p:nvSpPr>
        <p:spPr>
          <a:xfrm>
            <a:off x="1417320" y="2240280"/>
            <a:ext cx="4251960" cy="1188720"/>
          </a:xfrm>
          <a:prstGeom prst="rect">
            <a:avLst/>
          </a:prstGeom>
          <a:noFill/>
          <a:ln/>
        </p:spPr>
        <p:txBody>
          <a:bodyPr wrap="square" lIns="0" tIns="0" rIns="0" bIns="0" rtlCol="0" anchor="t"/>
          <a:lstStyle/>
          <a:p>
            <a:pPr indent="0" marL="0">
              <a:buNone/>
            </a:pPr>
            <a:r>
              <a:rPr lang="en-US" sz="1400" dirty="0">
                <a:solidFill>
                  <a:srgbClr val="DDE1E4"/>
                </a:solidFill>
              </a:rPr>
              <a:t>Perception of the ball (camera / tags) + an approach controller that lines up within ±2 cm, ±1° before the scoop starts.</a:t>
            </a:r>
            <a:endParaRPr lang="en-US" sz="1400" dirty="0"/>
          </a:p>
        </p:txBody>
      </p:sp>
      <p:sp>
        <p:nvSpPr>
          <p:cNvPr id="8" name="Shape 6"/>
          <p:cNvSpPr/>
          <p:nvPr/>
        </p:nvSpPr>
        <p:spPr>
          <a:xfrm>
            <a:off x="6172200" y="1417320"/>
            <a:ext cx="5394960" cy="2103120"/>
          </a:xfrm>
          <a:prstGeom prst="roundRect">
            <a:avLst>
              <a:gd name="adj" fmla="val 3478"/>
            </a:avLst>
          </a:prstGeom>
          <a:solidFill>
            <a:schemeClr val="tx2"/>
          </a:solidFill>
          <a:ln/>
        </p:spPr>
      </p:sp>
      <p:sp>
        <p:nvSpPr>
          <p:cNvPr id="9" name="Shape 7"/>
          <p:cNvSpPr/>
          <p:nvPr/>
        </p:nvSpPr>
        <p:spPr>
          <a:xfrm>
            <a:off x="6446520" y="1691640"/>
            <a:ext cx="420624" cy="420624"/>
          </a:xfrm>
          <a:prstGeom prst="ellipse">
            <a:avLst/>
          </a:prstGeom>
          <a:solidFill>
            <a:schemeClr val="accent1"/>
          </a:solidFill>
          <a:ln/>
        </p:spPr>
      </p:sp>
      <p:sp>
        <p:nvSpPr>
          <p:cNvPr id="10" name="Text 8"/>
          <p:cNvSpPr txBox="1"/>
          <p:nvPr/>
        </p:nvSpPr>
        <p:spPr>
          <a:xfrm>
            <a:off x="6446520" y="169164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7040880" y="169164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Residual RL</a:t>
            </a:r>
            <a:endParaRPr lang="en-US" sz="1800" dirty="0"/>
          </a:p>
        </p:txBody>
      </p:sp>
      <p:sp>
        <p:nvSpPr>
          <p:cNvPr id="12" name="Text 10"/>
          <p:cNvSpPr txBox="1"/>
          <p:nvPr/>
        </p:nvSpPr>
        <p:spPr>
          <a:xfrm>
            <a:off x="7040880" y="2240280"/>
            <a:ext cx="4251960" cy="1188720"/>
          </a:xfrm>
          <a:prstGeom prst="rect">
            <a:avLst/>
          </a:prstGeom>
          <a:noFill/>
          <a:ln/>
        </p:spPr>
        <p:txBody>
          <a:bodyPr wrap="square" lIns="0" tIns="0" rIns="0" bIns="0" rtlCol="0" anchor="t"/>
          <a:lstStyle/>
          <a:p>
            <a:pPr indent="0" marL="0">
              <a:buNone/>
            </a:pPr>
            <a:r>
              <a:rPr lang="en-US" sz="1400" dirty="0">
                <a:solidFill>
                  <a:srgbClr val="DDE1E4"/>
                </a:solidFill>
              </a:rPr>
              <a:t>PPO adds small corrections on top of the open-loop trajectory, trained with alignment error, tilt and full domain randomization.</a:t>
            </a:r>
            <a:endParaRPr lang="en-US" sz="1400" dirty="0"/>
          </a:p>
        </p:txBody>
      </p:sp>
      <p:sp>
        <p:nvSpPr>
          <p:cNvPr id="13" name="Shape 11"/>
          <p:cNvSpPr/>
          <p:nvPr/>
        </p:nvSpPr>
        <p:spPr>
          <a:xfrm>
            <a:off x="548640" y="3749040"/>
            <a:ext cx="5394960" cy="2103120"/>
          </a:xfrm>
          <a:prstGeom prst="roundRect">
            <a:avLst>
              <a:gd name="adj" fmla="val 3478"/>
            </a:avLst>
          </a:prstGeom>
          <a:solidFill>
            <a:schemeClr val="tx2"/>
          </a:solidFill>
          <a:ln/>
        </p:spPr>
      </p:sp>
      <p:sp>
        <p:nvSpPr>
          <p:cNvPr id="14" name="Shape 12"/>
          <p:cNvSpPr/>
          <p:nvPr/>
        </p:nvSpPr>
        <p:spPr>
          <a:xfrm>
            <a:off x="822960" y="4023360"/>
            <a:ext cx="420624" cy="420624"/>
          </a:xfrm>
          <a:prstGeom prst="ellipse">
            <a:avLst/>
          </a:prstGeom>
          <a:solidFill>
            <a:schemeClr val="accent1"/>
          </a:solidFill>
          <a:ln/>
        </p:spPr>
      </p:sp>
      <p:sp>
        <p:nvSpPr>
          <p:cNvPr id="15" name="Text 13"/>
          <p:cNvSpPr txBox="1"/>
          <p:nvPr/>
        </p:nvSpPr>
        <p:spPr>
          <a:xfrm>
            <a:off x="822960" y="4023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1417320" y="402336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Real-robot transfer</a:t>
            </a:r>
            <a:endParaRPr lang="en-US" sz="1800" dirty="0"/>
          </a:p>
        </p:txBody>
      </p:sp>
      <p:sp>
        <p:nvSpPr>
          <p:cNvPr id="17" name="Text 15"/>
          <p:cNvSpPr txBox="1"/>
          <p:nvPr/>
        </p:nvSpPr>
        <p:spPr>
          <a:xfrm>
            <a:off x="1417320" y="4572000"/>
            <a:ext cx="4251960" cy="1188720"/>
          </a:xfrm>
          <a:prstGeom prst="rect">
            <a:avLst/>
          </a:prstGeom>
          <a:noFill/>
          <a:ln/>
        </p:spPr>
        <p:txBody>
          <a:bodyPr wrap="square" lIns="0" tIns="0" rIns="0" bIns="0" rtlCol="0" anchor="t"/>
          <a:lstStyle/>
          <a:p>
            <a:pPr indent="0" marL="0">
              <a:buNone/>
            </a:pPr>
            <a:r>
              <a:rPr lang="en-US" sz="1400" dirty="0">
                <a:solidFill>
                  <a:srgbClr val="DDE1E4"/>
                </a:solidFill>
              </a:rPr>
              <a:t>System ID of the MIT motors and wheel speed tracking, measure the floor, run the trajectory on hardware and compare with sim.</a:t>
            </a:r>
            <a:endParaRPr lang="en-US" sz="1400" dirty="0"/>
          </a:p>
        </p:txBody>
      </p:sp>
      <p:sp>
        <p:nvSpPr>
          <p:cNvPr id="18" name="Shape 16"/>
          <p:cNvSpPr/>
          <p:nvPr/>
        </p:nvSpPr>
        <p:spPr>
          <a:xfrm>
            <a:off x="6172200" y="3749040"/>
            <a:ext cx="5394960" cy="2103120"/>
          </a:xfrm>
          <a:prstGeom prst="roundRect">
            <a:avLst>
              <a:gd name="adj" fmla="val 3478"/>
            </a:avLst>
          </a:prstGeom>
          <a:solidFill>
            <a:schemeClr val="tx2"/>
          </a:solidFill>
          <a:ln/>
        </p:spPr>
      </p:sp>
      <p:sp>
        <p:nvSpPr>
          <p:cNvPr id="19" name="Shape 17"/>
          <p:cNvSpPr/>
          <p:nvPr/>
        </p:nvSpPr>
        <p:spPr>
          <a:xfrm>
            <a:off x="6446520" y="4023360"/>
            <a:ext cx="420624" cy="420624"/>
          </a:xfrm>
          <a:prstGeom prst="ellipse">
            <a:avLst/>
          </a:prstGeom>
          <a:solidFill>
            <a:schemeClr val="accent1"/>
          </a:solidFill>
          <a:ln/>
        </p:spPr>
      </p:sp>
      <p:sp>
        <p:nvSpPr>
          <p:cNvPr id="20" name="Text 18"/>
          <p:cNvSpPr txBox="1"/>
          <p:nvPr/>
        </p:nvSpPr>
        <p:spPr>
          <a:xfrm>
            <a:off x="6446520" y="4023360"/>
            <a:ext cx="420624" cy="420624"/>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040880" y="4023360"/>
            <a:ext cx="4251960" cy="420624"/>
          </a:xfrm>
          <a:prstGeom prst="rect">
            <a:avLst/>
          </a:prstGeom>
          <a:noFill/>
          <a:ln/>
        </p:spPr>
        <p:txBody>
          <a:bodyPr wrap="square" lIns="0" tIns="0" rIns="0" bIns="0" rtlCol="0" anchor="ctr"/>
          <a:lstStyle/>
          <a:p>
            <a:pPr indent="0" marL="0">
              <a:buNone/>
            </a:pPr>
            <a:r>
              <a:rPr lang="en-US" sz="1800" b="1" dirty="0">
                <a:solidFill>
                  <a:schemeClr val="bg1"/>
                </a:solidFill>
              </a:rPr>
              <a:t>Widen the tolerance</a:t>
            </a:r>
            <a:endParaRPr lang="en-US" sz="1800" dirty="0"/>
          </a:p>
        </p:txBody>
      </p:sp>
      <p:sp>
        <p:nvSpPr>
          <p:cNvPr id="22" name="Text 20"/>
          <p:cNvSpPr txBox="1"/>
          <p:nvPr/>
        </p:nvSpPr>
        <p:spPr>
          <a:xfrm>
            <a:off x="7040880" y="4572000"/>
            <a:ext cx="4251960" cy="1188720"/>
          </a:xfrm>
          <a:prstGeom prst="rect">
            <a:avLst/>
          </a:prstGeom>
          <a:noFill/>
          <a:ln/>
        </p:spPr>
        <p:txBody>
          <a:bodyPr wrap="square" lIns="0" tIns="0" rIns="0" bIns="0" rtlCol="0" anchor="t"/>
          <a:lstStyle/>
          <a:p>
            <a:pPr indent="0" marL="0">
              <a:buNone/>
            </a:pPr>
            <a:r>
              <a:rPr lang="en-US" sz="1400" dirty="0">
                <a:solidFill>
                  <a:srgbClr val="DDE1E4"/>
                </a:solidFill>
              </a:rPr>
              <a:t>Test the curved-lip hypothesis; try lip / pocket geometry, a slower end of lift or a cradle motion against side ejection.</a:t>
            </a:r>
            <a:endParaRPr lang="en-US" sz="1400" dirty="0"/>
          </a:p>
        </p:txBody>
      </p:sp>
      <p:sp>
        <p:nvSpPr>
          <p:cNvPr id="23" name="Text 21"/>
          <p:cNvSpPr txBox="1"/>
          <p:nvPr/>
        </p:nvSpPr>
        <p:spPr>
          <a:xfrm>
            <a:off x="548640" y="6172200"/>
            <a:ext cx="10545775" cy="320040"/>
          </a:xfrm>
          <a:prstGeom prst="rect">
            <a:avLst/>
          </a:prstGeom>
          <a:noFill/>
          <a:ln/>
        </p:spPr>
        <p:txBody>
          <a:bodyPr wrap="square" lIns="0" tIns="0" rIns="0" bIns="0" rtlCol="0" anchor="ctr"/>
          <a:lstStyle/>
          <a:p>
            <a:pPr indent="0" marL="0">
              <a:buNone/>
            </a:pPr>
            <a:r>
              <a:rPr lang="en-US" sz="1100" i="1" dirty="0">
                <a:solidFill>
                  <a:schemeClr val="accent6"/>
                </a:solidFill>
              </a:rPr>
              <a:t>Code, scripts, notes and result summaries: github.com/emmmum/IsaacLab, branch yifan/robomaster-lacrosse-scoop</a:t>
            </a:r>
            <a:endParaRPr lang="en-US" sz="11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Lacrosse Scoop">
  <a:themeElements>
    <a:clrScheme name="Lacrosse Scoop">
      <a:dk1>
        <a:srgbClr val="1E2226"/>
      </a:dk1>
      <a:lt1>
        <a:srgbClr val="FFFFFF"/>
      </a:lt1>
      <a:dk2>
        <a:srgbClr val="3A4149"/>
      </a:dk2>
      <a:lt2>
        <a:srgbClr val="F1F3F4"/>
      </a:lt2>
      <a:accent1>
        <a:srgbClr val="E6B800"/>
      </a:accent1>
      <a:accent2>
        <a:srgbClr val="1B9E77"/>
      </a:accent2>
      <a:accent3>
        <a:srgbClr val="D64545"/>
      </a:accent3>
      <a:accent4>
        <a:srgbClr val="2F6FD6"/>
      </a:accent4>
      <a:accent5>
        <a:srgbClr val="E8743B"/>
      </a:accent5>
      <a:accent6>
        <a:srgbClr val="8A939C"/>
      </a:accent6>
      <a:hlink>
        <a:srgbClr val="2F6FD6"/>
      </a:hlink>
      <a:folHlink>
        <a:srgbClr val="6B4FA0"/>
      </a:folHlink>
    </a:clrScheme>
    <a:fontScheme name="Lacrosse Sco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RoboMaster Lacrosse Scoop - Progress Report</dc:title>
  <dc:subject>PptxGenJS Presentation</dc:subject>
  <dc:creator>Yifan</dc:creator>
  <cp:lastModifiedBy>Yifan</cp:lastModifiedBy>
  <cp:revision>1</cp:revision>
  <dcterms:created xsi:type="dcterms:W3CDTF">2026-10-20T15:29:43Z</dcterms:created>
  <dcterms:modified xsi:type="dcterms:W3CDTF">2026-10-20T15:29:43Z</dcterms:modified>
</cp:coreProperties>
</file>